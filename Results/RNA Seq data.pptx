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5.xml" ContentType="application/vnd.openxmlformats-officedocument.drawingml.chartshapes+xml"/>
  <Override PartName="/ppt/notesSlides/notesSlide2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6.xml" ContentType="application/vnd.openxmlformats-officedocument.drawingml.chartshapes+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447" r:id="rId3"/>
    <p:sldId id="462" r:id="rId4"/>
    <p:sldId id="448" r:id="rId5"/>
    <p:sldId id="426" r:id="rId6"/>
    <p:sldId id="450" r:id="rId7"/>
    <p:sldId id="446" r:id="rId8"/>
    <p:sldId id="463" r:id="rId9"/>
    <p:sldId id="430" r:id="rId10"/>
    <p:sldId id="433" r:id="rId11"/>
    <p:sldId id="354" r:id="rId12"/>
    <p:sldId id="454" r:id="rId13"/>
    <p:sldId id="437" r:id="rId14"/>
    <p:sldId id="452" r:id="rId15"/>
    <p:sldId id="439" r:id="rId16"/>
    <p:sldId id="453" r:id="rId17"/>
    <p:sldId id="469" r:id="rId18"/>
    <p:sldId id="467" r:id="rId19"/>
    <p:sldId id="300" r:id="rId20"/>
    <p:sldId id="456" r:id="rId21"/>
    <p:sldId id="301" r:id="rId22"/>
    <p:sldId id="458" r:id="rId23"/>
    <p:sldId id="459" r:id="rId24"/>
    <p:sldId id="455" r:id="rId25"/>
    <p:sldId id="457" r:id="rId26"/>
    <p:sldId id="356" r:id="rId27"/>
    <p:sldId id="441" r:id="rId28"/>
    <p:sldId id="442" r:id="rId29"/>
    <p:sldId id="468" r:id="rId30"/>
    <p:sldId id="451" r:id="rId31"/>
    <p:sldId id="464" r:id="rId32"/>
    <p:sldId id="449" r:id="rId33"/>
    <p:sldId id="422" r:id="rId34"/>
    <p:sldId id="465" r:id="rId35"/>
    <p:sldId id="466" r:id="rId36"/>
    <p:sldId id="262" r:id="rId37"/>
    <p:sldId id="261" r:id="rId38"/>
    <p:sldId id="264" r:id="rId39"/>
    <p:sldId id="265" r:id="rId40"/>
    <p:sldId id="266" r:id="rId41"/>
    <p:sldId id="267" r:id="rId42"/>
    <p:sldId id="268" r:id="rId43"/>
    <p:sldId id="269" r:id="rId44"/>
    <p:sldId id="263" r:id="rId45"/>
    <p:sldId id="460" r:id="rId46"/>
    <p:sldId id="46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2"/>
    <p:restoredTop sz="96291"/>
  </p:normalViewPr>
  <p:slideViewPr>
    <p:cSldViewPr snapToGrid="0">
      <p:cViewPr varScale="1">
        <p:scale>
          <a:sx n="117" d="100"/>
          <a:sy n="117" d="100"/>
        </p:scale>
        <p:origin x="18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2%20stemness%20table.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2%20stemness%20table.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11%20stemness%20table.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24%20stemness%20table.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11%20stemness%20table.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3" Type="http://schemas.openxmlformats.org/officeDocument/2006/relationships/oleObject" Target="file:////Users/olahassan/Desktop/Thesis%20data/Data/RNA%20Seq%20data/RNAseq2/GB24%20stemness%20table.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70" baseline="0">
                <a:solidFill>
                  <a:schemeClr val="dk1">
                    <a:lumMod val="50000"/>
                    <a:lumOff val="50000"/>
                  </a:schemeClr>
                </a:solidFill>
                <a:latin typeface="+mn-lt"/>
                <a:ea typeface="+mn-ea"/>
                <a:cs typeface="+mn-cs"/>
              </a:defRPr>
            </a:pPr>
            <a:r>
              <a:rPr lang="en-US">
                <a:solidFill>
                  <a:srgbClr val="FF8AD8"/>
                </a:solidFill>
              </a:rPr>
              <a:t>Patient 1 (GB2)</a:t>
            </a:r>
          </a:p>
        </c:rich>
      </c:tx>
      <c:layout>
        <c:manualLayout>
          <c:xMode val="edge"/>
          <c:yMode val="edge"/>
          <c:x val="1.0323891615548844E-5"/>
          <c:y val="2.4734982332155476E-2"/>
        </c:manualLayout>
      </c:layout>
      <c:overlay val="0"/>
      <c:spPr>
        <a:noFill/>
        <a:ln>
          <a:noFill/>
        </a:ln>
        <a:effectLst/>
      </c:spPr>
      <c:txPr>
        <a:bodyPr rot="0" spcFirstLastPara="1" vertOverflow="ellipsis" vert="horz" wrap="square" anchor="ctr" anchorCtr="1"/>
        <a:lstStyle/>
        <a:p>
          <a:pPr>
            <a:defRPr sz="1600" b="0" i="0" u="none" strike="noStrike" kern="1200" spc="70" baseline="0">
              <a:solidFill>
                <a:schemeClr val="dk1">
                  <a:lumMod val="50000"/>
                  <a:lumOff val="50000"/>
                </a:schemeClr>
              </a:solidFill>
              <a:latin typeface="+mn-lt"/>
              <a:ea typeface="+mn-ea"/>
              <a:cs typeface="+mn-cs"/>
            </a:defRPr>
          </a:pPr>
          <a:endParaRPr lang="en-US"/>
        </a:p>
      </c:txPr>
    </c:title>
    <c:autoTitleDeleted val="0"/>
    <c:plotArea>
      <c:layout>
        <c:manualLayout>
          <c:layoutTarget val="inner"/>
          <c:xMode val="edge"/>
          <c:yMode val="edge"/>
          <c:x val="0.2963302662089195"/>
          <c:y val="0.17908711499401797"/>
          <c:w val="0.45312527141183312"/>
          <c:h val="0.76935227177874854"/>
        </c:manualLayout>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Sheet2!$A$21:$A$27</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Sheet2!$B$21:$B$27</c:f>
              <c:numCache>
                <c:formatCode>General</c:formatCode>
                <c:ptCount val="7"/>
                <c:pt idx="0">
                  <c:v>16</c:v>
                </c:pt>
                <c:pt idx="1">
                  <c:v>0.16435181183910005</c:v>
                </c:pt>
                <c:pt idx="2">
                  <c:v>0.43134447209273835</c:v>
                </c:pt>
                <c:pt idx="3">
                  <c:v>0.22848960667774787</c:v>
                </c:pt>
                <c:pt idx="4">
                  <c:v>9.3965287202970454E-2</c:v>
                </c:pt>
                <c:pt idx="5">
                  <c:v>0.82249079260070701</c:v>
                </c:pt>
                <c:pt idx="6">
                  <c:v>5.7698334340904172</c:v>
                </c:pt>
              </c:numCache>
            </c:numRef>
          </c:val>
          <c:extLst>
            <c:ext xmlns:c16="http://schemas.microsoft.com/office/drawing/2014/chart" uri="{C3380CC4-5D6E-409C-BE32-E72D297353CC}">
              <c16:uniqueId val="{00000000-E051-454C-9F86-1DB17E341CE8}"/>
            </c:ext>
          </c:extLst>
        </c:ser>
        <c:dLbls>
          <c:showLegendKey val="0"/>
          <c:showVal val="0"/>
          <c:showCatName val="0"/>
          <c:showSerName val="0"/>
          <c:showPercent val="0"/>
          <c:showBubbleSize val="0"/>
        </c:dLbls>
        <c:axId val="29710863"/>
        <c:axId val="1366234463"/>
      </c:radarChart>
      <c:catAx>
        <c:axId val="2971086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dk1">
                    <a:lumMod val="50000"/>
                    <a:lumOff val="50000"/>
                  </a:schemeClr>
                </a:solidFill>
                <a:latin typeface="+mn-lt"/>
                <a:ea typeface="+mn-ea"/>
                <a:cs typeface="+mn-cs"/>
              </a:defRPr>
            </a:pPr>
            <a:endParaRPr lang="en-US"/>
          </a:p>
        </c:txPr>
        <c:crossAx val="1366234463"/>
        <c:crosses val="autoZero"/>
        <c:auto val="1"/>
        <c:lblAlgn val="ctr"/>
        <c:lblOffset val="100"/>
        <c:noMultiLvlLbl val="0"/>
      </c:catAx>
      <c:valAx>
        <c:axId val="1366234463"/>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2971086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70" baseline="0">
                <a:solidFill>
                  <a:schemeClr val="dk1">
                    <a:lumMod val="50000"/>
                    <a:lumOff val="50000"/>
                  </a:schemeClr>
                </a:solidFill>
                <a:latin typeface="+mn-lt"/>
                <a:ea typeface="+mn-ea"/>
                <a:cs typeface="+mn-cs"/>
              </a:defRPr>
            </a:pPr>
            <a:r>
              <a:rPr lang="en-US" sz="2400" b="1" dirty="0">
                <a:solidFill>
                  <a:schemeClr val="tx1"/>
                </a:solidFill>
              </a:rPr>
              <a:t>A. GSC1</a:t>
            </a:r>
          </a:p>
        </c:rich>
      </c:tx>
      <c:layout>
        <c:manualLayout>
          <c:xMode val="edge"/>
          <c:yMode val="edge"/>
          <c:x val="2.1926502450865217E-2"/>
          <c:y val="2.7489309447917058E-2"/>
        </c:manualLayout>
      </c:layout>
      <c:overlay val="0"/>
      <c:spPr>
        <a:noFill/>
        <a:ln>
          <a:noFill/>
        </a:ln>
        <a:effectLst/>
      </c:spPr>
      <c:txPr>
        <a:bodyPr rot="0" spcFirstLastPara="1" vertOverflow="ellipsis" vert="horz" wrap="square" anchor="ctr" anchorCtr="1"/>
        <a:lstStyle/>
        <a:p>
          <a:pPr>
            <a:defRPr sz="2400" b="0" i="0" u="none" strike="noStrike" kern="1200" spc="70" baseline="0">
              <a:solidFill>
                <a:schemeClr val="dk1">
                  <a:lumMod val="50000"/>
                  <a:lumOff val="50000"/>
                </a:schemeClr>
              </a:solidFill>
              <a:latin typeface="+mn-lt"/>
              <a:ea typeface="+mn-ea"/>
              <a:cs typeface="+mn-cs"/>
            </a:defRPr>
          </a:pPr>
          <a:endParaRPr lang="en-US"/>
        </a:p>
      </c:txPr>
    </c:title>
    <c:autoTitleDeleted val="0"/>
    <c:plotArea>
      <c:layout>
        <c:manualLayout>
          <c:layoutTarget val="inner"/>
          <c:xMode val="edge"/>
          <c:yMode val="edge"/>
          <c:x val="0.2963302662089195"/>
          <c:y val="0.17908711499401797"/>
          <c:w val="0.45312527141183312"/>
          <c:h val="0.76935227177874854"/>
        </c:manualLayout>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Sheet2!$A$21:$A$27</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Sheet2!$B$21:$B$27</c:f>
              <c:numCache>
                <c:formatCode>General</c:formatCode>
                <c:ptCount val="7"/>
                <c:pt idx="0">
                  <c:v>16</c:v>
                </c:pt>
                <c:pt idx="1">
                  <c:v>0.16435181183910005</c:v>
                </c:pt>
                <c:pt idx="2">
                  <c:v>0.43134447209273835</c:v>
                </c:pt>
                <c:pt idx="3">
                  <c:v>0.22848960667774787</c:v>
                </c:pt>
                <c:pt idx="4">
                  <c:v>9.3965287202970454E-2</c:v>
                </c:pt>
                <c:pt idx="5">
                  <c:v>0.82249079260070701</c:v>
                </c:pt>
                <c:pt idx="6">
                  <c:v>5.7698334340904172</c:v>
                </c:pt>
              </c:numCache>
            </c:numRef>
          </c:val>
          <c:extLst>
            <c:ext xmlns:c16="http://schemas.microsoft.com/office/drawing/2014/chart" uri="{C3380CC4-5D6E-409C-BE32-E72D297353CC}">
              <c16:uniqueId val="{00000000-E051-454C-9F86-1DB17E341CE8}"/>
            </c:ext>
          </c:extLst>
        </c:ser>
        <c:dLbls>
          <c:showLegendKey val="0"/>
          <c:showVal val="0"/>
          <c:showCatName val="0"/>
          <c:showSerName val="0"/>
          <c:showPercent val="0"/>
          <c:showBubbleSize val="0"/>
        </c:dLbls>
        <c:axId val="29710863"/>
        <c:axId val="1366234463"/>
      </c:radarChart>
      <c:catAx>
        <c:axId val="2971086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dk1">
                    <a:lumMod val="50000"/>
                    <a:lumOff val="50000"/>
                  </a:schemeClr>
                </a:solidFill>
                <a:latin typeface="+mn-lt"/>
                <a:ea typeface="+mn-ea"/>
                <a:cs typeface="+mn-cs"/>
              </a:defRPr>
            </a:pPr>
            <a:endParaRPr lang="en-US"/>
          </a:p>
        </c:txPr>
        <c:crossAx val="1366234463"/>
        <c:crosses val="autoZero"/>
        <c:auto val="1"/>
        <c:lblAlgn val="ctr"/>
        <c:lblOffset val="100"/>
        <c:noMultiLvlLbl val="0"/>
      </c:catAx>
      <c:valAx>
        <c:axId val="1366234463"/>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2971086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70" baseline="0">
                <a:solidFill>
                  <a:srgbClr val="FF0000"/>
                </a:solidFill>
                <a:latin typeface="+mn-lt"/>
                <a:ea typeface="+mn-ea"/>
                <a:cs typeface="+mn-cs"/>
              </a:defRPr>
            </a:pPr>
            <a:r>
              <a:rPr lang="en-US" sz="2400" b="1" i="0" u="none" strike="noStrike" kern="1200" spc="70" baseline="0" dirty="0">
                <a:solidFill>
                  <a:schemeClr val="tx1"/>
                </a:solidFill>
              </a:rPr>
              <a:t>B. GSC2</a:t>
            </a:r>
          </a:p>
        </c:rich>
      </c:tx>
      <c:layout>
        <c:manualLayout>
          <c:xMode val="edge"/>
          <c:yMode val="edge"/>
          <c:x val="1.3920864779445822E-2"/>
          <c:y val="2.6969755345790793E-2"/>
        </c:manualLayout>
      </c:layout>
      <c:overlay val="0"/>
      <c:spPr>
        <a:noFill/>
        <a:ln>
          <a:noFill/>
        </a:ln>
        <a:effectLst/>
      </c:spPr>
      <c:txPr>
        <a:bodyPr rot="0" spcFirstLastPara="1" vertOverflow="ellipsis" vert="horz" wrap="square" anchor="ctr" anchorCtr="1"/>
        <a:lstStyle/>
        <a:p>
          <a:pPr>
            <a:defRPr sz="1600" b="0" i="0" u="none" strike="noStrike" kern="1200" spc="70" baseline="0">
              <a:solidFill>
                <a:srgbClr val="FF0000"/>
              </a:solidFill>
              <a:latin typeface="+mn-lt"/>
              <a:ea typeface="+mn-ea"/>
              <a:cs typeface="+mn-cs"/>
            </a:defRPr>
          </a:pPr>
          <a:endParaRPr lang="en-US"/>
        </a:p>
      </c:txPr>
    </c:title>
    <c:autoTitleDeleted val="0"/>
    <c:plotArea>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Sheet2!$A$22:$A$28</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Sheet2!$B$22:$B$28</c:f>
              <c:numCache>
                <c:formatCode>General</c:formatCode>
                <c:ptCount val="7"/>
                <c:pt idx="0">
                  <c:v>16</c:v>
                </c:pt>
                <c:pt idx="1">
                  <c:v>0.17351462345034177</c:v>
                </c:pt>
                <c:pt idx="2">
                  <c:v>0.71824133577740512</c:v>
                </c:pt>
                <c:pt idx="3">
                  <c:v>8.0911928710057914</c:v>
                </c:pt>
                <c:pt idx="4">
                  <c:v>1.9130471142470957E-3</c:v>
                </c:pt>
                <c:pt idx="5">
                  <c:v>0.82115903588566885</c:v>
                </c:pt>
                <c:pt idx="6">
                  <c:v>10.959767540204773</c:v>
                </c:pt>
              </c:numCache>
            </c:numRef>
          </c:val>
          <c:extLst>
            <c:ext xmlns:c16="http://schemas.microsoft.com/office/drawing/2014/chart" uri="{C3380CC4-5D6E-409C-BE32-E72D297353CC}">
              <c16:uniqueId val="{00000000-FE75-244D-826B-C4764709FA1E}"/>
            </c:ext>
          </c:extLst>
        </c:ser>
        <c:dLbls>
          <c:showLegendKey val="0"/>
          <c:showVal val="0"/>
          <c:showCatName val="0"/>
          <c:showSerName val="0"/>
          <c:showPercent val="0"/>
          <c:showBubbleSize val="0"/>
        </c:dLbls>
        <c:axId val="1997067104"/>
        <c:axId val="1685966624"/>
      </c:radarChart>
      <c:catAx>
        <c:axId val="1997067104"/>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dk1">
                    <a:lumMod val="50000"/>
                    <a:lumOff val="50000"/>
                  </a:schemeClr>
                </a:solidFill>
                <a:latin typeface="+mn-lt"/>
                <a:ea typeface="+mn-ea"/>
                <a:cs typeface="+mn-cs"/>
              </a:defRPr>
            </a:pPr>
            <a:endParaRPr lang="en-US"/>
          </a:p>
        </c:txPr>
        <c:crossAx val="1685966624"/>
        <c:crosses val="autoZero"/>
        <c:auto val="1"/>
        <c:lblAlgn val="ctr"/>
        <c:lblOffset val="100"/>
        <c:noMultiLvlLbl val="0"/>
      </c:catAx>
      <c:valAx>
        <c:axId val="1685966624"/>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997067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70" baseline="0">
                <a:solidFill>
                  <a:schemeClr val="accent5">
                    <a:lumMod val="75000"/>
                  </a:schemeClr>
                </a:solidFill>
                <a:latin typeface="+mn-lt"/>
                <a:ea typeface="+mn-ea"/>
                <a:cs typeface="+mn-cs"/>
              </a:defRPr>
            </a:pPr>
            <a:r>
              <a:rPr lang="en-US" sz="2400" b="1" i="0" u="none" strike="noStrike" kern="1200" spc="70" baseline="0" dirty="0">
                <a:solidFill>
                  <a:schemeClr val="tx1"/>
                </a:solidFill>
              </a:rPr>
              <a:t>C. GSC3</a:t>
            </a:r>
          </a:p>
        </c:rich>
      </c:tx>
      <c:layout>
        <c:manualLayout>
          <c:xMode val="edge"/>
          <c:yMode val="edge"/>
          <c:x val="1.119119725418938E-2"/>
          <c:y val="2.4865312888520515E-2"/>
        </c:manualLayout>
      </c:layout>
      <c:overlay val="0"/>
      <c:spPr>
        <a:noFill/>
        <a:ln>
          <a:noFill/>
        </a:ln>
        <a:effectLst/>
      </c:spPr>
      <c:txPr>
        <a:bodyPr rot="0" spcFirstLastPara="1" vertOverflow="ellipsis" vert="horz" wrap="square" anchor="ctr" anchorCtr="1"/>
        <a:lstStyle/>
        <a:p>
          <a:pPr>
            <a:defRPr sz="1600" b="0" i="0" u="none" strike="noStrike" kern="1200" spc="70" baseline="0">
              <a:solidFill>
                <a:schemeClr val="accent5">
                  <a:lumMod val="75000"/>
                </a:schemeClr>
              </a:solidFill>
              <a:latin typeface="+mn-lt"/>
              <a:ea typeface="+mn-ea"/>
              <a:cs typeface="+mn-cs"/>
            </a:defRPr>
          </a:pPr>
          <a:endParaRPr lang="en-US"/>
        </a:p>
      </c:txPr>
    </c:title>
    <c:autoTitleDeleted val="0"/>
    <c:plotArea>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Sheet2!$A$21:$A$27</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Sheet2!$B$21:$B$27</c:f>
              <c:numCache>
                <c:formatCode>General</c:formatCode>
                <c:ptCount val="7"/>
                <c:pt idx="0">
                  <c:v>16</c:v>
                </c:pt>
                <c:pt idx="1">
                  <c:v>1.4796410392881674</c:v>
                </c:pt>
                <c:pt idx="2">
                  <c:v>3.4516272511896413</c:v>
                </c:pt>
                <c:pt idx="3">
                  <c:v>2.9295079216069708</c:v>
                </c:pt>
                <c:pt idx="4">
                  <c:v>0.3551187121971161</c:v>
                </c:pt>
                <c:pt idx="5">
                  <c:v>1.6341431559966384</c:v>
                </c:pt>
                <c:pt idx="6">
                  <c:v>15.9527243726889</c:v>
                </c:pt>
              </c:numCache>
            </c:numRef>
          </c:val>
          <c:extLst>
            <c:ext xmlns:c16="http://schemas.microsoft.com/office/drawing/2014/chart" uri="{C3380CC4-5D6E-409C-BE32-E72D297353CC}">
              <c16:uniqueId val="{00000000-CF64-9E40-AAC8-7CCFAFB2AC4C}"/>
            </c:ext>
          </c:extLst>
        </c:ser>
        <c:dLbls>
          <c:showLegendKey val="0"/>
          <c:showVal val="0"/>
          <c:showCatName val="0"/>
          <c:showSerName val="0"/>
          <c:showPercent val="0"/>
          <c:showBubbleSize val="0"/>
        </c:dLbls>
        <c:axId val="1386122943"/>
        <c:axId val="96307615"/>
      </c:radarChart>
      <c:catAx>
        <c:axId val="138612294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dk1">
                    <a:lumMod val="50000"/>
                    <a:lumOff val="50000"/>
                  </a:schemeClr>
                </a:solidFill>
                <a:latin typeface="+mn-lt"/>
                <a:ea typeface="+mn-ea"/>
                <a:cs typeface="+mn-cs"/>
              </a:defRPr>
            </a:pPr>
            <a:endParaRPr lang="en-US"/>
          </a:p>
        </c:txPr>
        <c:crossAx val="96307615"/>
        <c:crosses val="autoZero"/>
        <c:auto val="1"/>
        <c:lblAlgn val="ctr"/>
        <c:lblOffset val="100"/>
        <c:noMultiLvlLbl val="0"/>
      </c:catAx>
      <c:valAx>
        <c:axId val="96307615"/>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3861229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70" baseline="0">
                <a:solidFill>
                  <a:srgbClr val="FF0000"/>
                </a:solidFill>
                <a:latin typeface="+mn-lt"/>
                <a:ea typeface="+mn-ea"/>
                <a:cs typeface="+mn-cs"/>
              </a:defRPr>
            </a:pPr>
            <a:r>
              <a:rPr lang="en-US" dirty="0">
                <a:solidFill>
                  <a:srgbClr val="FF8AD8"/>
                </a:solidFill>
              </a:rPr>
              <a:t>Patient 2 (GB11) </a:t>
            </a:r>
          </a:p>
        </c:rich>
      </c:tx>
      <c:layout>
        <c:manualLayout>
          <c:xMode val="edge"/>
          <c:yMode val="edge"/>
          <c:x val="1.3920864779445822E-2"/>
          <c:y val="2.6969755345790793E-2"/>
        </c:manualLayout>
      </c:layout>
      <c:overlay val="0"/>
      <c:spPr>
        <a:noFill/>
        <a:ln>
          <a:noFill/>
        </a:ln>
        <a:effectLst/>
      </c:spPr>
      <c:txPr>
        <a:bodyPr rot="0" spcFirstLastPara="1" vertOverflow="ellipsis" vert="horz" wrap="square" anchor="ctr" anchorCtr="1"/>
        <a:lstStyle/>
        <a:p>
          <a:pPr>
            <a:defRPr sz="1600" b="0" i="0" u="none" strike="noStrike" kern="1200" spc="70" baseline="0">
              <a:solidFill>
                <a:srgbClr val="FF0000"/>
              </a:solidFill>
              <a:latin typeface="+mn-lt"/>
              <a:ea typeface="+mn-ea"/>
              <a:cs typeface="+mn-cs"/>
            </a:defRPr>
          </a:pPr>
          <a:endParaRPr lang="en-US"/>
        </a:p>
      </c:txPr>
    </c:title>
    <c:autoTitleDeleted val="0"/>
    <c:plotArea>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Sheet2!$A$22:$A$28</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Sheet2!$B$22:$B$28</c:f>
              <c:numCache>
                <c:formatCode>General</c:formatCode>
                <c:ptCount val="7"/>
                <c:pt idx="0">
                  <c:v>16</c:v>
                </c:pt>
                <c:pt idx="1">
                  <c:v>0.17351462345034177</c:v>
                </c:pt>
                <c:pt idx="2">
                  <c:v>0.71824133577740512</c:v>
                </c:pt>
                <c:pt idx="3">
                  <c:v>8.0911928710057914</c:v>
                </c:pt>
                <c:pt idx="4">
                  <c:v>1.9130471142470957E-3</c:v>
                </c:pt>
                <c:pt idx="5">
                  <c:v>0.82115903588566885</c:v>
                </c:pt>
                <c:pt idx="6">
                  <c:v>10.959767540204773</c:v>
                </c:pt>
              </c:numCache>
            </c:numRef>
          </c:val>
          <c:extLst>
            <c:ext xmlns:c16="http://schemas.microsoft.com/office/drawing/2014/chart" uri="{C3380CC4-5D6E-409C-BE32-E72D297353CC}">
              <c16:uniqueId val="{00000000-AA3D-A64C-ADC5-09C7C1948495}"/>
            </c:ext>
          </c:extLst>
        </c:ser>
        <c:dLbls>
          <c:showLegendKey val="0"/>
          <c:showVal val="0"/>
          <c:showCatName val="0"/>
          <c:showSerName val="0"/>
          <c:showPercent val="0"/>
          <c:showBubbleSize val="0"/>
        </c:dLbls>
        <c:axId val="1997067104"/>
        <c:axId val="1685966624"/>
      </c:radarChart>
      <c:catAx>
        <c:axId val="1997067104"/>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dk1">
                    <a:lumMod val="50000"/>
                    <a:lumOff val="50000"/>
                  </a:schemeClr>
                </a:solidFill>
                <a:latin typeface="+mn-lt"/>
                <a:ea typeface="+mn-ea"/>
                <a:cs typeface="+mn-cs"/>
              </a:defRPr>
            </a:pPr>
            <a:endParaRPr lang="en-US"/>
          </a:p>
        </c:txPr>
        <c:crossAx val="1685966624"/>
        <c:crosses val="autoZero"/>
        <c:auto val="1"/>
        <c:lblAlgn val="ctr"/>
        <c:lblOffset val="100"/>
        <c:noMultiLvlLbl val="0"/>
      </c:catAx>
      <c:valAx>
        <c:axId val="1685966624"/>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997067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70" baseline="0">
                <a:solidFill>
                  <a:schemeClr val="accent5">
                    <a:lumMod val="75000"/>
                  </a:schemeClr>
                </a:solidFill>
                <a:latin typeface="+mn-lt"/>
                <a:ea typeface="+mn-ea"/>
                <a:cs typeface="+mn-cs"/>
              </a:defRPr>
            </a:pPr>
            <a:r>
              <a:rPr lang="en-US" dirty="0">
                <a:solidFill>
                  <a:srgbClr val="FF8AD8"/>
                </a:solidFill>
              </a:rPr>
              <a:t>Patient 3 (GB24)</a:t>
            </a:r>
          </a:p>
        </c:rich>
      </c:tx>
      <c:layout>
        <c:manualLayout>
          <c:xMode val="edge"/>
          <c:yMode val="edge"/>
          <c:x val="1.119119725418938E-2"/>
          <c:y val="2.4865312888520515E-2"/>
        </c:manualLayout>
      </c:layout>
      <c:overlay val="0"/>
      <c:spPr>
        <a:noFill/>
        <a:ln>
          <a:noFill/>
        </a:ln>
        <a:effectLst/>
      </c:spPr>
      <c:txPr>
        <a:bodyPr rot="0" spcFirstLastPara="1" vertOverflow="ellipsis" vert="horz" wrap="square" anchor="ctr" anchorCtr="1"/>
        <a:lstStyle/>
        <a:p>
          <a:pPr>
            <a:defRPr sz="1600" b="0" i="0" u="none" strike="noStrike" kern="1200" spc="70" baseline="0">
              <a:solidFill>
                <a:schemeClr val="accent5">
                  <a:lumMod val="75000"/>
                </a:schemeClr>
              </a:solidFill>
              <a:latin typeface="+mn-lt"/>
              <a:ea typeface="+mn-ea"/>
              <a:cs typeface="+mn-cs"/>
            </a:defRPr>
          </a:pPr>
          <a:endParaRPr lang="en-US"/>
        </a:p>
      </c:txPr>
    </c:title>
    <c:autoTitleDeleted val="0"/>
    <c:plotArea>
      <c:layout/>
      <c:radarChart>
        <c:radarStyle val="filled"/>
        <c:varyColors val="0"/>
        <c:ser>
          <c:idx val="0"/>
          <c:order val="0"/>
          <c:spPr>
            <a:solidFill>
              <a:schemeClr val="accent1">
                <a:alpha val="10196"/>
              </a:schemeClr>
            </a:solidFill>
            <a:ln w="50800">
              <a:solidFill>
                <a:schemeClr val="accent1">
                  <a:alpha val="30000"/>
                </a:schemeClr>
              </a:solidFill>
            </a:ln>
            <a:effectLst/>
          </c:spPr>
          <c:cat>
            <c:strRef>
              <c:f>Sheet2!$A$21:$A$27</c:f>
              <c:strCache>
                <c:ptCount val="7"/>
                <c:pt idx="0">
                  <c:v>Embryonic Stem cells</c:v>
                </c:pt>
                <c:pt idx="1">
                  <c:v>Neural Stem cells</c:v>
                </c:pt>
                <c:pt idx="2">
                  <c:v>Hematopoietic Stem cells</c:v>
                </c:pt>
                <c:pt idx="3">
                  <c:v>Mammary Stem cells</c:v>
                </c:pt>
                <c:pt idx="4">
                  <c:v>Induced pluripotent Stem cells</c:v>
                </c:pt>
                <c:pt idx="5">
                  <c:v>Mesenchymal Stem cells</c:v>
                </c:pt>
                <c:pt idx="6">
                  <c:v>Embryonal carcinoma</c:v>
                </c:pt>
              </c:strCache>
            </c:strRef>
          </c:cat>
          <c:val>
            <c:numRef>
              <c:f>Sheet2!$B$21:$B$27</c:f>
              <c:numCache>
                <c:formatCode>General</c:formatCode>
                <c:ptCount val="7"/>
                <c:pt idx="0">
                  <c:v>16</c:v>
                </c:pt>
                <c:pt idx="1">
                  <c:v>1.4796410392881674</c:v>
                </c:pt>
                <c:pt idx="2">
                  <c:v>3.4516272511896413</c:v>
                </c:pt>
                <c:pt idx="3">
                  <c:v>2.9295079216069708</c:v>
                </c:pt>
                <c:pt idx="4">
                  <c:v>0.3551187121971161</c:v>
                </c:pt>
                <c:pt idx="5">
                  <c:v>1.6341431559966384</c:v>
                </c:pt>
                <c:pt idx="6">
                  <c:v>15.9527243726889</c:v>
                </c:pt>
              </c:numCache>
            </c:numRef>
          </c:val>
          <c:extLst>
            <c:ext xmlns:c16="http://schemas.microsoft.com/office/drawing/2014/chart" uri="{C3380CC4-5D6E-409C-BE32-E72D297353CC}">
              <c16:uniqueId val="{00000000-15BF-DE47-955B-16D4D5786268}"/>
            </c:ext>
          </c:extLst>
        </c:ser>
        <c:dLbls>
          <c:showLegendKey val="0"/>
          <c:showVal val="0"/>
          <c:showCatName val="0"/>
          <c:showSerName val="0"/>
          <c:showPercent val="0"/>
          <c:showBubbleSize val="0"/>
        </c:dLbls>
        <c:axId val="1386122943"/>
        <c:axId val="96307615"/>
      </c:radarChart>
      <c:catAx>
        <c:axId val="138612294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lumMod val="50000"/>
                    <a:lumOff val="50000"/>
                  </a:schemeClr>
                </a:solidFill>
                <a:latin typeface="+mn-lt"/>
                <a:ea typeface="+mn-ea"/>
                <a:cs typeface="+mn-cs"/>
              </a:defRPr>
            </a:pPr>
            <a:endParaRPr lang="en-US"/>
          </a:p>
        </c:txPr>
        <c:crossAx val="96307615"/>
        <c:crosses val="autoZero"/>
        <c:auto val="1"/>
        <c:lblAlgn val="ctr"/>
        <c:lblOffset val="100"/>
        <c:noMultiLvlLbl val="0"/>
      </c:catAx>
      <c:valAx>
        <c:axId val="96307615"/>
        <c:scaling>
          <c:orientation val="minMax"/>
        </c:scaling>
        <c:delete val="1"/>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crossAx val="13861229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900"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900"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1600"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900"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9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0.74415</cdr:x>
      <cdr:y>0.01451</cdr:y>
    </cdr:from>
    <cdr:to>
      <cdr:x>0.97934</cdr:x>
      <cdr:y>0.20678</cdr:y>
    </cdr:to>
    <cdr:sp macro="" textlink="">
      <cdr:nvSpPr>
        <cdr:cNvPr id="2" name="TextBox 2">
          <a:extLst xmlns:a="http://schemas.openxmlformats.org/drawingml/2006/main">
            <a:ext uri="{FF2B5EF4-FFF2-40B4-BE49-F238E27FC236}">
              <a16:creationId xmlns:a16="http://schemas.microsoft.com/office/drawing/2014/main" id="{6635CA6F-F595-269A-9F7A-5B8C17B13E1A}"/>
            </a:ext>
          </a:extLst>
        </cdr:cNvPr>
        <cdr:cNvSpPr txBox="1"/>
      </cdr:nvSpPr>
      <cdr:spPr>
        <a:xfrm xmlns:a="http://schemas.openxmlformats.org/drawingml/2006/main">
          <a:off x="4299607" y="50800"/>
          <a:ext cx="1358900" cy="673100"/>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100">
              <a:solidFill>
                <a:schemeClr val="accent5">
                  <a:lumMod val="75000"/>
                </a:schemeClr>
              </a:solidFill>
            </a:rPr>
            <a:t>653 stemness</a:t>
          </a:r>
          <a:r>
            <a:rPr lang="en-US" sz="1100" baseline="0">
              <a:solidFill>
                <a:schemeClr val="accent5">
                  <a:lumMod val="75000"/>
                </a:schemeClr>
              </a:solidFill>
            </a:rPr>
            <a:t> genes</a:t>
          </a:r>
        </a:p>
        <a:p xmlns:a="http://schemas.openxmlformats.org/drawingml/2006/main">
          <a:r>
            <a:rPr lang="en-US" sz="1100" baseline="0">
              <a:solidFill>
                <a:schemeClr val="accent5">
                  <a:lumMod val="75000"/>
                </a:schemeClr>
              </a:solidFill>
            </a:rPr>
            <a:t>ESC Padj: 9E-16</a:t>
          </a:r>
        </a:p>
        <a:p xmlns:a="http://schemas.openxmlformats.org/drawingml/2006/main">
          <a:r>
            <a:rPr lang="en-US" sz="1100" baseline="0">
              <a:solidFill>
                <a:schemeClr val="accent5">
                  <a:lumMod val="75000"/>
                </a:schemeClr>
              </a:solidFill>
            </a:rPr>
            <a:t>EC Padj: 1.5E-5</a:t>
          </a:r>
          <a:endParaRPr lang="en-US" sz="1100">
            <a:solidFill>
              <a:schemeClr val="accent5">
                <a:lumMod val="75000"/>
              </a:schemeClr>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0.72741</cdr:x>
      <cdr:y>0.01451</cdr:y>
    </cdr:from>
    <cdr:to>
      <cdr:x>0.97934</cdr:x>
      <cdr:y>0.20678</cdr:y>
    </cdr:to>
    <cdr:sp macro="" textlink="">
      <cdr:nvSpPr>
        <cdr:cNvPr id="2" name="TextBox 2">
          <a:extLst xmlns:a="http://schemas.openxmlformats.org/drawingml/2006/main">
            <a:ext uri="{FF2B5EF4-FFF2-40B4-BE49-F238E27FC236}">
              <a16:creationId xmlns:a16="http://schemas.microsoft.com/office/drawing/2014/main" id="{6635CA6F-F595-269A-9F7A-5B8C17B13E1A}"/>
            </a:ext>
          </a:extLst>
        </cdr:cNvPr>
        <cdr:cNvSpPr txBox="1"/>
      </cdr:nvSpPr>
      <cdr:spPr>
        <a:xfrm xmlns:a="http://schemas.openxmlformats.org/drawingml/2006/main">
          <a:off x="5479734" y="66903"/>
          <a:ext cx="1897888" cy="886528"/>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600" dirty="0">
              <a:solidFill>
                <a:schemeClr val="accent5">
                  <a:lumMod val="75000"/>
                </a:schemeClr>
              </a:solidFill>
            </a:rPr>
            <a:t>653 stemness</a:t>
          </a:r>
          <a:r>
            <a:rPr lang="en-US" sz="1600" baseline="0" dirty="0">
              <a:solidFill>
                <a:schemeClr val="accent5">
                  <a:lumMod val="75000"/>
                </a:schemeClr>
              </a:solidFill>
            </a:rPr>
            <a:t> genes</a:t>
          </a:r>
        </a:p>
        <a:p xmlns:a="http://schemas.openxmlformats.org/drawingml/2006/main">
          <a:r>
            <a:rPr lang="en-US" sz="1600" baseline="0" dirty="0">
              <a:solidFill>
                <a:schemeClr val="accent5">
                  <a:lumMod val="75000"/>
                </a:schemeClr>
              </a:solidFill>
            </a:rPr>
            <a:t>ESC </a:t>
          </a:r>
          <a:r>
            <a:rPr lang="en-US" sz="1600" baseline="0" dirty="0" err="1">
              <a:solidFill>
                <a:schemeClr val="accent5">
                  <a:lumMod val="75000"/>
                </a:schemeClr>
              </a:solidFill>
            </a:rPr>
            <a:t>Padj</a:t>
          </a:r>
          <a:r>
            <a:rPr lang="en-US" sz="1600" baseline="0" dirty="0">
              <a:solidFill>
                <a:schemeClr val="accent5">
                  <a:lumMod val="75000"/>
                </a:schemeClr>
              </a:solidFill>
            </a:rPr>
            <a:t>: 9E-16</a:t>
          </a:r>
        </a:p>
        <a:p xmlns:a="http://schemas.openxmlformats.org/drawingml/2006/main">
          <a:r>
            <a:rPr lang="en-US" sz="1600" baseline="0" dirty="0">
              <a:solidFill>
                <a:schemeClr val="accent5">
                  <a:lumMod val="75000"/>
                </a:schemeClr>
              </a:solidFill>
            </a:rPr>
            <a:t>EC </a:t>
          </a:r>
          <a:r>
            <a:rPr lang="en-US" sz="1600" baseline="0" dirty="0" err="1">
              <a:solidFill>
                <a:schemeClr val="accent5">
                  <a:lumMod val="75000"/>
                </a:schemeClr>
              </a:solidFill>
            </a:rPr>
            <a:t>Padj</a:t>
          </a:r>
          <a:r>
            <a:rPr lang="en-US" sz="1600" baseline="0" dirty="0">
              <a:solidFill>
                <a:schemeClr val="accent5">
                  <a:lumMod val="75000"/>
                </a:schemeClr>
              </a:solidFill>
            </a:rPr>
            <a:t>: 1.5E-5</a:t>
          </a:r>
          <a:endParaRPr lang="en-US" sz="1600" dirty="0">
            <a:solidFill>
              <a:schemeClr val="accent5">
                <a:lumMod val="75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0.71505</cdr:x>
      <cdr:y>0.01541</cdr:y>
    </cdr:from>
    <cdr:to>
      <cdr:x>0.98389</cdr:x>
      <cdr:y>0.21961</cdr:y>
    </cdr:to>
    <cdr:sp macro="" textlink="">
      <cdr:nvSpPr>
        <cdr:cNvPr id="2" name="TextBox 2">
          <a:extLst xmlns:a="http://schemas.openxmlformats.org/drawingml/2006/main">
            <a:ext uri="{FF2B5EF4-FFF2-40B4-BE49-F238E27FC236}">
              <a16:creationId xmlns:a16="http://schemas.microsoft.com/office/drawing/2014/main" id="{8AB2C1A2-D7B6-C88C-16BD-EAA0437145D1}"/>
            </a:ext>
          </a:extLst>
        </cdr:cNvPr>
        <cdr:cNvSpPr txBox="1"/>
      </cdr:nvSpPr>
      <cdr:spPr>
        <a:xfrm xmlns:a="http://schemas.openxmlformats.org/drawingml/2006/main">
          <a:off x="5067300" y="68400"/>
          <a:ext cx="1905135" cy="906372"/>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600" dirty="0">
              <a:solidFill>
                <a:schemeClr val="accent5">
                  <a:lumMod val="75000"/>
                </a:schemeClr>
              </a:solidFill>
            </a:rPr>
            <a:t>740 stemness</a:t>
          </a:r>
          <a:r>
            <a:rPr lang="en-US" sz="1600" baseline="0" dirty="0">
              <a:solidFill>
                <a:schemeClr val="accent5">
                  <a:lumMod val="75000"/>
                </a:schemeClr>
              </a:solidFill>
            </a:rPr>
            <a:t> genes</a:t>
          </a:r>
        </a:p>
        <a:p xmlns:a="http://schemas.openxmlformats.org/drawingml/2006/main">
          <a:r>
            <a:rPr lang="en-US" sz="1600" baseline="0" dirty="0">
              <a:solidFill>
                <a:schemeClr val="accent5">
                  <a:lumMod val="75000"/>
                </a:schemeClr>
              </a:solidFill>
            </a:rPr>
            <a:t>ESC </a:t>
          </a:r>
          <a:r>
            <a:rPr lang="en-US" sz="1600" baseline="0" dirty="0" err="1">
              <a:solidFill>
                <a:schemeClr val="accent5">
                  <a:lumMod val="75000"/>
                </a:schemeClr>
              </a:solidFill>
            </a:rPr>
            <a:t>Padj</a:t>
          </a:r>
          <a:r>
            <a:rPr lang="en-US" sz="1600" baseline="0" dirty="0">
              <a:solidFill>
                <a:schemeClr val="accent5">
                  <a:lumMod val="75000"/>
                </a:schemeClr>
              </a:solidFill>
            </a:rPr>
            <a:t>: 9E-16</a:t>
          </a:r>
        </a:p>
        <a:p xmlns:a="http://schemas.openxmlformats.org/drawingml/2006/main">
          <a:r>
            <a:rPr lang="en-US" sz="1600" baseline="0" dirty="0">
              <a:solidFill>
                <a:schemeClr val="accent5">
                  <a:lumMod val="75000"/>
                </a:schemeClr>
              </a:solidFill>
            </a:rPr>
            <a:t>EC </a:t>
          </a:r>
          <a:r>
            <a:rPr lang="en-US" sz="1600" baseline="0" dirty="0" err="1">
              <a:solidFill>
                <a:schemeClr val="accent5">
                  <a:lumMod val="75000"/>
                </a:schemeClr>
              </a:solidFill>
            </a:rPr>
            <a:t>Padj</a:t>
          </a:r>
          <a:r>
            <a:rPr lang="en-US" sz="1600" baseline="0" dirty="0">
              <a:solidFill>
                <a:schemeClr val="accent5">
                  <a:lumMod val="75000"/>
                </a:schemeClr>
              </a:solidFill>
            </a:rPr>
            <a:t>: 9E-11</a:t>
          </a:r>
          <a:endParaRPr lang="en-US" sz="1600" dirty="0">
            <a:solidFill>
              <a:schemeClr val="accent5">
                <a:lumMod val="75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0.72547</cdr:x>
      <cdr:y>0.02572</cdr:y>
    </cdr:from>
    <cdr:to>
      <cdr:x>0.97915</cdr:x>
      <cdr:y>0.24537</cdr:y>
    </cdr:to>
    <cdr:sp macro="" textlink="">
      <cdr:nvSpPr>
        <cdr:cNvPr id="2" name="TextBox 2"/>
        <cdr:cNvSpPr txBox="1"/>
      </cdr:nvSpPr>
      <cdr:spPr>
        <a:xfrm xmlns:a="http://schemas.openxmlformats.org/drawingml/2006/main">
          <a:off x="5615257" y="116243"/>
          <a:ext cx="1963474" cy="992720"/>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600" dirty="0">
              <a:solidFill>
                <a:schemeClr val="accent5">
                  <a:lumMod val="75000"/>
                </a:schemeClr>
              </a:solidFill>
            </a:rPr>
            <a:t>394 stemness</a:t>
          </a:r>
          <a:r>
            <a:rPr lang="en-US" sz="1600" baseline="0" dirty="0">
              <a:solidFill>
                <a:schemeClr val="accent5">
                  <a:lumMod val="75000"/>
                </a:schemeClr>
              </a:solidFill>
            </a:rPr>
            <a:t> genes</a:t>
          </a:r>
        </a:p>
        <a:p xmlns:a="http://schemas.openxmlformats.org/drawingml/2006/main">
          <a:r>
            <a:rPr lang="en-US" sz="1600" baseline="0" dirty="0">
              <a:solidFill>
                <a:schemeClr val="accent5">
                  <a:lumMod val="75000"/>
                </a:schemeClr>
              </a:solidFill>
            </a:rPr>
            <a:t>ESC </a:t>
          </a:r>
          <a:r>
            <a:rPr lang="en-US" sz="1600" baseline="0" dirty="0" err="1">
              <a:solidFill>
                <a:schemeClr val="accent5">
                  <a:lumMod val="75000"/>
                </a:schemeClr>
              </a:solidFill>
            </a:rPr>
            <a:t>Padj</a:t>
          </a:r>
          <a:r>
            <a:rPr lang="en-US" sz="1600" baseline="0" dirty="0">
              <a:solidFill>
                <a:schemeClr val="accent5">
                  <a:lumMod val="75000"/>
                </a:schemeClr>
              </a:solidFill>
            </a:rPr>
            <a:t>: 9E-16</a:t>
          </a:r>
        </a:p>
        <a:p xmlns:a="http://schemas.openxmlformats.org/drawingml/2006/main">
          <a:r>
            <a:rPr lang="en-US" sz="1600" baseline="0" dirty="0">
              <a:solidFill>
                <a:schemeClr val="accent5">
                  <a:lumMod val="75000"/>
                </a:schemeClr>
              </a:solidFill>
            </a:rPr>
            <a:t>EC </a:t>
          </a:r>
          <a:r>
            <a:rPr lang="en-US" sz="1600" baseline="0" dirty="0" err="1">
              <a:solidFill>
                <a:schemeClr val="accent5">
                  <a:lumMod val="75000"/>
                </a:schemeClr>
              </a:solidFill>
            </a:rPr>
            <a:t>Padj</a:t>
          </a:r>
          <a:r>
            <a:rPr lang="en-US" sz="1600" baseline="0" dirty="0">
              <a:solidFill>
                <a:schemeClr val="accent5">
                  <a:lumMod val="75000"/>
                </a:schemeClr>
              </a:solidFill>
            </a:rPr>
            <a:t>: 1E-15</a:t>
          </a:r>
          <a:endParaRPr lang="en-US" sz="1600" dirty="0">
            <a:solidFill>
              <a:schemeClr val="accent5">
                <a:lumMod val="75000"/>
              </a:schemeClr>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0.75249</cdr:x>
      <cdr:y>0.01541</cdr:y>
    </cdr:from>
    <cdr:to>
      <cdr:x>0.98389</cdr:x>
      <cdr:y>0.21961</cdr:y>
    </cdr:to>
    <cdr:sp macro="" textlink="">
      <cdr:nvSpPr>
        <cdr:cNvPr id="2" name="TextBox 2">
          <a:extLst xmlns:a="http://schemas.openxmlformats.org/drawingml/2006/main">
            <a:ext uri="{FF2B5EF4-FFF2-40B4-BE49-F238E27FC236}">
              <a16:creationId xmlns:a16="http://schemas.microsoft.com/office/drawing/2014/main" id="{8AB2C1A2-D7B6-C88C-16BD-EAA0437145D1}"/>
            </a:ext>
          </a:extLst>
        </cdr:cNvPr>
        <cdr:cNvSpPr txBox="1"/>
      </cdr:nvSpPr>
      <cdr:spPr>
        <a:xfrm xmlns:a="http://schemas.openxmlformats.org/drawingml/2006/main">
          <a:off x="4418965" y="50800"/>
          <a:ext cx="1358900" cy="673100"/>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100">
              <a:solidFill>
                <a:schemeClr val="accent5">
                  <a:lumMod val="75000"/>
                </a:schemeClr>
              </a:solidFill>
            </a:rPr>
            <a:t>740 stemness</a:t>
          </a:r>
          <a:r>
            <a:rPr lang="en-US" sz="1100" baseline="0">
              <a:solidFill>
                <a:schemeClr val="accent5">
                  <a:lumMod val="75000"/>
                </a:schemeClr>
              </a:solidFill>
            </a:rPr>
            <a:t> genes</a:t>
          </a:r>
        </a:p>
        <a:p xmlns:a="http://schemas.openxmlformats.org/drawingml/2006/main">
          <a:r>
            <a:rPr lang="en-US" sz="1100" baseline="0">
              <a:solidFill>
                <a:schemeClr val="accent5">
                  <a:lumMod val="75000"/>
                </a:schemeClr>
              </a:solidFill>
            </a:rPr>
            <a:t>ESC Padj: 9E-16</a:t>
          </a:r>
        </a:p>
        <a:p xmlns:a="http://schemas.openxmlformats.org/drawingml/2006/main">
          <a:r>
            <a:rPr lang="en-US" sz="1100" baseline="0">
              <a:solidFill>
                <a:schemeClr val="accent5">
                  <a:lumMod val="75000"/>
                </a:schemeClr>
              </a:solidFill>
            </a:rPr>
            <a:t>EC Padj: 9E-11</a:t>
          </a:r>
          <a:endParaRPr lang="en-US" sz="1100">
            <a:solidFill>
              <a:schemeClr val="accent5">
                <a:lumMod val="75000"/>
              </a:schemeClr>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0.75052</cdr:x>
      <cdr:y>0.02572</cdr:y>
    </cdr:from>
    <cdr:to>
      <cdr:x>0.97915</cdr:x>
      <cdr:y>0.24537</cdr:y>
    </cdr:to>
    <cdr:sp macro="" textlink="">
      <cdr:nvSpPr>
        <cdr:cNvPr id="2" name="TextBox 2"/>
        <cdr:cNvSpPr txBox="1"/>
      </cdr:nvSpPr>
      <cdr:spPr>
        <a:xfrm xmlns:a="http://schemas.openxmlformats.org/drawingml/2006/main">
          <a:off x="4460766" y="78828"/>
          <a:ext cx="1358900" cy="673100"/>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100">
              <a:solidFill>
                <a:schemeClr val="accent5">
                  <a:lumMod val="75000"/>
                </a:schemeClr>
              </a:solidFill>
            </a:rPr>
            <a:t>394 stemness</a:t>
          </a:r>
          <a:r>
            <a:rPr lang="en-US" sz="1100" baseline="0">
              <a:solidFill>
                <a:schemeClr val="accent5">
                  <a:lumMod val="75000"/>
                </a:schemeClr>
              </a:solidFill>
            </a:rPr>
            <a:t> genes</a:t>
          </a:r>
        </a:p>
        <a:p xmlns:a="http://schemas.openxmlformats.org/drawingml/2006/main">
          <a:r>
            <a:rPr lang="en-US" sz="1100" baseline="0">
              <a:solidFill>
                <a:schemeClr val="accent5">
                  <a:lumMod val="75000"/>
                </a:schemeClr>
              </a:solidFill>
            </a:rPr>
            <a:t>ESC Padj: 9E-16</a:t>
          </a:r>
        </a:p>
        <a:p xmlns:a="http://schemas.openxmlformats.org/drawingml/2006/main">
          <a:r>
            <a:rPr lang="en-US" sz="1100" baseline="0">
              <a:solidFill>
                <a:schemeClr val="accent5">
                  <a:lumMod val="75000"/>
                </a:schemeClr>
              </a:solidFill>
            </a:rPr>
            <a:t>EC Padj: 1E-15</a:t>
          </a:r>
          <a:endParaRPr lang="en-US" sz="1100">
            <a:solidFill>
              <a:schemeClr val="accent5">
                <a:lumMod val="75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B3DE39-5F18-7249-B36E-3C671470658B}" type="datetimeFigureOut">
              <a:rPr lang="en-US" smtClean="0"/>
              <a:t>3/11/24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7BB8AA-8BC1-AF4E-B4F3-3D0CD05FCCEA}" type="slidenum">
              <a:rPr lang="en-US" smtClean="0"/>
              <a:t>‹#›</a:t>
            </a:fld>
            <a:endParaRPr lang="en-US"/>
          </a:p>
        </p:txBody>
      </p:sp>
    </p:spTree>
    <p:extLst>
      <p:ext uri="{BB962C8B-B14F-4D97-AF65-F5344CB8AC3E}">
        <p14:creationId xmlns:p14="http://schemas.microsoft.com/office/powerpoint/2010/main" val="1566985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Knowing the heterogeneity for the GBM tumors, we wanted to know if we can see the same significant results from our 1ry GSCs from patients</a:t>
            </a:r>
          </a:p>
          <a:p>
            <a:r>
              <a:rPr lang="en-US" sz="1200" b="0" i="0" kern="1200" dirty="0">
                <a:solidFill>
                  <a:schemeClr val="tx1"/>
                </a:solidFill>
                <a:effectLst/>
                <a:latin typeface="+mn-lt"/>
                <a:ea typeface="+mn-ea"/>
                <a:cs typeface="+mn-cs"/>
              </a:rPr>
              <a:t>So, We knocked down HDAC-7 in our primary  GSCs from patients, and we did </a:t>
            </a:r>
            <a:r>
              <a:rPr lang="en-US" sz="1200" b="0" i="0" kern="1200" dirty="0" err="1">
                <a:solidFill>
                  <a:schemeClr val="tx1"/>
                </a:solidFill>
                <a:effectLst/>
                <a:latin typeface="+mn-lt"/>
                <a:ea typeface="+mn-ea"/>
                <a:cs typeface="+mn-cs"/>
              </a:rPr>
              <a:t>RNAseq</a:t>
            </a:r>
            <a:r>
              <a:rPr lang="en-US" sz="1200" b="0" i="0" kern="1200" dirty="0">
                <a:solidFill>
                  <a:schemeClr val="tx1"/>
                </a:solidFill>
                <a:effectLst/>
                <a:latin typeface="+mn-lt"/>
                <a:ea typeface="+mn-ea"/>
                <a:cs typeface="+mn-cs"/>
              </a:rPr>
              <a:t>, and we found 6270 genes differentially expressed between siRNA KDAC7 KD vs non targeting siRNA control with the volcano plot showing up to 3-fold change in those differential gene expression</a:t>
            </a:r>
          </a:p>
          <a:p>
            <a:endParaRPr lang="en-US" sz="1200" b="1"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ECE0664-E81C-184F-9FE1-FCE9711AC74B}" type="slidenum">
              <a:rPr lang="en-US" smtClean="0"/>
              <a:t>2</a:t>
            </a:fld>
            <a:endParaRPr lang="en-US"/>
          </a:p>
        </p:txBody>
      </p:sp>
    </p:spTree>
    <p:extLst>
      <p:ext uri="{BB962C8B-B14F-4D97-AF65-F5344CB8AC3E}">
        <p14:creationId xmlns:p14="http://schemas.microsoft.com/office/powerpoint/2010/main" val="1568599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Knowing the heterogeneity for the GBM tumors, we wanted to know if we can see the same significant results from our 1ry GSCs from patients</a:t>
            </a:r>
          </a:p>
          <a:p>
            <a:r>
              <a:rPr lang="en-US" sz="1200" b="0" i="0" kern="1200" dirty="0">
                <a:solidFill>
                  <a:schemeClr val="tx1"/>
                </a:solidFill>
                <a:effectLst/>
                <a:latin typeface="+mn-lt"/>
                <a:ea typeface="+mn-ea"/>
                <a:cs typeface="+mn-cs"/>
              </a:rPr>
              <a:t>So, We knocked down HDAC-7 in our primary  GSCs from patients, and we did </a:t>
            </a:r>
            <a:r>
              <a:rPr lang="en-US" sz="1200" b="0" i="0" kern="1200" dirty="0" err="1">
                <a:solidFill>
                  <a:schemeClr val="tx1"/>
                </a:solidFill>
                <a:effectLst/>
                <a:latin typeface="+mn-lt"/>
                <a:ea typeface="+mn-ea"/>
                <a:cs typeface="+mn-cs"/>
              </a:rPr>
              <a:t>RNAseq</a:t>
            </a:r>
            <a:r>
              <a:rPr lang="en-US" sz="1200" b="0" i="0" kern="1200" dirty="0">
                <a:solidFill>
                  <a:schemeClr val="tx1"/>
                </a:solidFill>
                <a:effectLst/>
                <a:latin typeface="+mn-lt"/>
                <a:ea typeface="+mn-ea"/>
                <a:cs typeface="+mn-cs"/>
              </a:rPr>
              <a:t>, and we found 6270 genes differentially expressed between siRNA KDAC7 KD vs non targeting siRNA control with the volcano plot showing up to 3-fold change in those differential gene expression</a:t>
            </a:r>
          </a:p>
          <a:p>
            <a:endParaRPr lang="en-US" sz="1200" b="1"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ECE0664-E81C-184F-9FE1-FCE9711AC74B}" type="slidenum">
              <a:rPr lang="en-US" smtClean="0"/>
              <a:t>3</a:t>
            </a:fld>
            <a:endParaRPr lang="en-US"/>
          </a:p>
        </p:txBody>
      </p:sp>
    </p:spTree>
    <p:extLst>
      <p:ext uri="{BB962C8B-B14F-4D97-AF65-F5344CB8AC3E}">
        <p14:creationId xmlns:p14="http://schemas.microsoft.com/office/powerpoint/2010/main" val="975470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Knowing the heterogeneity for the GBM tumors, we wanted to know if we can see the same significant results from our 1ry GSCs from patients</a:t>
            </a:r>
          </a:p>
          <a:p>
            <a:r>
              <a:rPr lang="en-US" sz="1200" b="0" i="0" kern="1200" dirty="0">
                <a:solidFill>
                  <a:schemeClr val="tx1"/>
                </a:solidFill>
                <a:effectLst/>
                <a:latin typeface="+mn-lt"/>
                <a:ea typeface="+mn-ea"/>
                <a:cs typeface="+mn-cs"/>
              </a:rPr>
              <a:t>So, We knocked down HDAC-7 in our primary  GSCs from patients, and we did </a:t>
            </a:r>
            <a:r>
              <a:rPr lang="en-US" sz="1200" b="0" i="0" kern="1200" dirty="0" err="1">
                <a:solidFill>
                  <a:schemeClr val="tx1"/>
                </a:solidFill>
                <a:effectLst/>
                <a:latin typeface="+mn-lt"/>
                <a:ea typeface="+mn-ea"/>
                <a:cs typeface="+mn-cs"/>
              </a:rPr>
              <a:t>RNAseq</a:t>
            </a:r>
            <a:r>
              <a:rPr lang="en-US" sz="1200" b="0" i="0" kern="1200" dirty="0">
                <a:solidFill>
                  <a:schemeClr val="tx1"/>
                </a:solidFill>
                <a:effectLst/>
                <a:latin typeface="+mn-lt"/>
                <a:ea typeface="+mn-ea"/>
                <a:cs typeface="+mn-cs"/>
              </a:rPr>
              <a:t>, and we found 6270 genes differentially expressed between siRNA KDAC7 KD vs non targeting siRNA control with the volcano plot showing up to 3-fold change in those differential gene expression</a:t>
            </a:r>
          </a:p>
          <a:p>
            <a:endParaRPr lang="en-US" sz="1200" b="1"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ECE0664-E81C-184F-9FE1-FCE9711AC74B}" type="slidenum">
              <a:rPr lang="en-US" smtClean="0"/>
              <a:t>4</a:t>
            </a:fld>
            <a:endParaRPr lang="en-US"/>
          </a:p>
        </p:txBody>
      </p:sp>
    </p:spTree>
    <p:extLst>
      <p:ext uri="{BB962C8B-B14F-4D97-AF65-F5344CB8AC3E}">
        <p14:creationId xmlns:p14="http://schemas.microsoft.com/office/powerpoint/2010/main" val="2407139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Knowing the heterogeneity for the GBM tumors, we wanted to know if we can see the same significant results from our 1ry GSCs from patients</a:t>
            </a:r>
          </a:p>
          <a:p>
            <a:r>
              <a:rPr lang="en-US" sz="1200" b="0" i="0" kern="1200" dirty="0">
                <a:solidFill>
                  <a:schemeClr val="tx1"/>
                </a:solidFill>
                <a:effectLst/>
                <a:latin typeface="+mn-lt"/>
                <a:ea typeface="+mn-ea"/>
                <a:cs typeface="+mn-cs"/>
              </a:rPr>
              <a:t>So, We knocked down HDAC-7 in our primary  GSCs from patients, and we did </a:t>
            </a:r>
            <a:r>
              <a:rPr lang="en-US" sz="1200" b="0" i="0" kern="1200" dirty="0" err="1">
                <a:solidFill>
                  <a:schemeClr val="tx1"/>
                </a:solidFill>
                <a:effectLst/>
                <a:latin typeface="+mn-lt"/>
                <a:ea typeface="+mn-ea"/>
                <a:cs typeface="+mn-cs"/>
              </a:rPr>
              <a:t>RNAseq</a:t>
            </a:r>
            <a:r>
              <a:rPr lang="en-US" sz="1200" b="0" i="0" kern="1200" dirty="0">
                <a:solidFill>
                  <a:schemeClr val="tx1"/>
                </a:solidFill>
                <a:effectLst/>
                <a:latin typeface="+mn-lt"/>
                <a:ea typeface="+mn-ea"/>
                <a:cs typeface="+mn-cs"/>
              </a:rPr>
              <a:t>, and we found 6270 genes differentially expressed between siRNA KDAC7 KD vs non targeting siRNA control with the volcano plot showing up to 3-fold change in those differential gene expression</a:t>
            </a:r>
          </a:p>
          <a:p>
            <a:endParaRPr lang="en-US" sz="1200" b="1"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ECE0664-E81C-184F-9FE1-FCE9711AC74B}" type="slidenum">
              <a:rPr lang="en-US" smtClean="0"/>
              <a:t>5</a:t>
            </a:fld>
            <a:endParaRPr lang="en-US"/>
          </a:p>
        </p:txBody>
      </p:sp>
    </p:spTree>
    <p:extLst>
      <p:ext uri="{BB962C8B-B14F-4D97-AF65-F5344CB8AC3E}">
        <p14:creationId xmlns:p14="http://schemas.microsoft.com/office/powerpoint/2010/main" val="175799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D592BF-E253-A241-B4E4-A5B1C48E8115}" type="slidenum">
              <a:rPr lang="en-US" smtClean="0"/>
              <a:t>12</a:t>
            </a:fld>
            <a:endParaRPr lang="en-US"/>
          </a:p>
        </p:txBody>
      </p:sp>
    </p:spTree>
    <p:extLst>
      <p:ext uri="{BB962C8B-B14F-4D97-AF65-F5344CB8AC3E}">
        <p14:creationId xmlns:p14="http://schemas.microsoft.com/office/powerpoint/2010/main" val="614772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D592BF-E253-A241-B4E4-A5B1C48E8115}" type="slidenum">
              <a:rPr lang="en-US" smtClean="0"/>
              <a:t>14</a:t>
            </a:fld>
            <a:endParaRPr lang="en-US"/>
          </a:p>
        </p:txBody>
      </p:sp>
    </p:spTree>
    <p:extLst>
      <p:ext uri="{BB962C8B-B14F-4D97-AF65-F5344CB8AC3E}">
        <p14:creationId xmlns:p14="http://schemas.microsoft.com/office/powerpoint/2010/main" val="2491518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D592BF-E253-A241-B4E4-A5B1C48E8115}" type="slidenum">
              <a:rPr lang="en-US" smtClean="0"/>
              <a:t>16</a:t>
            </a:fld>
            <a:endParaRPr lang="en-US"/>
          </a:p>
        </p:txBody>
      </p:sp>
    </p:spTree>
    <p:extLst>
      <p:ext uri="{BB962C8B-B14F-4D97-AF65-F5344CB8AC3E}">
        <p14:creationId xmlns:p14="http://schemas.microsoft.com/office/powerpoint/2010/main" val="1188587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D592BF-E253-A241-B4E4-A5B1C48E8115}" type="slidenum">
              <a:rPr lang="en-US" smtClean="0"/>
              <a:t>18</a:t>
            </a:fld>
            <a:endParaRPr lang="en-US"/>
          </a:p>
        </p:txBody>
      </p:sp>
    </p:spTree>
    <p:extLst>
      <p:ext uri="{BB962C8B-B14F-4D97-AF65-F5344CB8AC3E}">
        <p14:creationId xmlns:p14="http://schemas.microsoft.com/office/powerpoint/2010/main" val="1229353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to confirm, we made gene enrichment through Gene ontology that confirmed the same  enrichment towards cell cycle processes and cell division with even more powerful p values</a:t>
            </a:r>
          </a:p>
          <a:p>
            <a:endParaRPr lang="en-US" dirty="0"/>
          </a:p>
          <a:p>
            <a:r>
              <a:rPr lang="en-US" dirty="0"/>
              <a:t>There is also a tool to look into the protein domain enrichment and we did for the downregulated genes, and we saw enrichment towards important protein domains like the histone fold protein domain that can promote Chromatin Accessibility for Cell Type-Specific Master Transcription Factors</a:t>
            </a:r>
          </a:p>
          <a:p>
            <a:r>
              <a:rPr lang="en-US" dirty="0"/>
              <a:t>Also,  it is well established that the Zn finger domains have roles in tumorigenesis, cancer progression and metastasis.</a:t>
            </a:r>
          </a:p>
          <a:p>
            <a:endParaRPr lang="en-US" dirty="0"/>
          </a:p>
        </p:txBody>
      </p:sp>
      <p:sp>
        <p:nvSpPr>
          <p:cNvPr id="4" name="Slide Number Placeholder 3"/>
          <p:cNvSpPr>
            <a:spLocks noGrp="1"/>
          </p:cNvSpPr>
          <p:nvPr>
            <p:ph type="sldNum" sz="quarter" idx="5"/>
          </p:nvPr>
        </p:nvSpPr>
        <p:spPr/>
        <p:txBody>
          <a:bodyPr/>
          <a:lstStyle/>
          <a:p>
            <a:fld id="{EECE0664-E81C-184F-9FE1-FCE9711AC74B}" type="slidenum">
              <a:rPr lang="en-US" smtClean="0"/>
              <a:t>19</a:t>
            </a:fld>
            <a:endParaRPr lang="en-US"/>
          </a:p>
        </p:txBody>
      </p:sp>
    </p:spTree>
    <p:extLst>
      <p:ext uri="{BB962C8B-B14F-4D97-AF65-F5344CB8AC3E}">
        <p14:creationId xmlns:p14="http://schemas.microsoft.com/office/powerpoint/2010/main" val="4226701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20</a:t>
            </a:fld>
            <a:endParaRPr lang="en-US"/>
          </a:p>
        </p:txBody>
      </p:sp>
    </p:spTree>
    <p:extLst>
      <p:ext uri="{BB962C8B-B14F-4D97-AF65-F5344CB8AC3E}">
        <p14:creationId xmlns:p14="http://schemas.microsoft.com/office/powerpoint/2010/main" val="3636219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21</a:t>
            </a:fld>
            <a:endParaRPr lang="en-US"/>
          </a:p>
        </p:txBody>
      </p:sp>
    </p:spTree>
    <p:extLst>
      <p:ext uri="{BB962C8B-B14F-4D97-AF65-F5344CB8AC3E}">
        <p14:creationId xmlns:p14="http://schemas.microsoft.com/office/powerpoint/2010/main" val="3475205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22</a:t>
            </a:fld>
            <a:endParaRPr lang="en-US"/>
          </a:p>
        </p:txBody>
      </p:sp>
    </p:spTree>
    <p:extLst>
      <p:ext uri="{BB962C8B-B14F-4D97-AF65-F5344CB8AC3E}">
        <p14:creationId xmlns:p14="http://schemas.microsoft.com/office/powerpoint/2010/main" val="3167901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23</a:t>
            </a:fld>
            <a:endParaRPr lang="en-US"/>
          </a:p>
        </p:txBody>
      </p:sp>
    </p:spTree>
    <p:extLst>
      <p:ext uri="{BB962C8B-B14F-4D97-AF65-F5344CB8AC3E}">
        <p14:creationId xmlns:p14="http://schemas.microsoft.com/office/powerpoint/2010/main" val="2876022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24</a:t>
            </a:fld>
            <a:endParaRPr lang="en-US"/>
          </a:p>
        </p:txBody>
      </p:sp>
    </p:spTree>
    <p:extLst>
      <p:ext uri="{BB962C8B-B14F-4D97-AF65-F5344CB8AC3E}">
        <p14:creationId xmlns:p14="http://schemas.microsoft.com/office/powerpoint/2010/main" val="3171168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through the </a:t>
            </a:r>
            <a:r>
              <a:rPr lang="en-US" dirty="0" err="1"/>
              <a:t>IntAct</a:t>
            </a:r>
            <a:r>
              <a:rPr lang="en-US" dirty="0"/>
              <a:t> and </a:t>
            </a:r>
            <a:r>
              <a:rPr lang="en-US" dirty="0" err="1"/>
              <a:t>BioGRID</a:t>
            </a:r>
            <a:r>
              <a:rPr lang="en-US" dirty="0"/>
              <a:t> data bases that makes correlation analysis for the genetic, molecular and chemical interactions for the input genes, we saw that  the genes  that were downregulated by the knock down are interactors with crucial genes and oncogenes known to be implicated in cancers, for example MYC, tp53, and several growth factors , with high number of interactions. </a:t>
            </a:r>
          </a:p>
        </p:txBody>
      </p:sp>
      <p:sp>
        <p:nvSpPr>
          <p:cNvPr id="4" name="Slide Number Placeholder 3"/>
          <p:cNvSpPr>
            <a:spLocks noGrp="1"/>
          </p:cNvSpPr>
          <p:nvPr>
            <p:ph type="sldNum" sz="quarter" idx="5"/>
          </p:nvPr>
        </p:nvSpPr>
        <p:spPr/>
        <p:txBody>
          <a:bodyPr/>
          <a:lstStyle/>
          <a:p>
            <a:fld id="{EECE0664-E81C-184F-9FE1-FCE9711AC74B}" type="slidenum">
              <a:rPr lang="en-US" smtClean="0"/>
              <a:t>25</a:t>
            </a:fld>
            <a:endParaRPr lang="en-US"/>
          </a:p>
        </p:txBody>
      </p:sp>
    </p:spTree>
    <p:extLst>
      <p:ext uri="{BB962C8B-B14F-4D97-AF65-F5344CB8AC3E}">
        <p14:creationId xmlns:p14="http://schemas.microsoft.com/office/powerpoint/2010/main" val="1727143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FOXM1 is highly expressed in various types of human malignancies, such as glioblastoma, lung cancer,</a:t>
            </a:r>
            <a:r>
              <a:rPr lang="en-US" baseline="30000" dirty="0"/>
              <a:t> </a:t>
            </a:r>
            <a:r>
              <a:rPr lang="en-US" dirty="0"/>
              <a:t> ,</a:t>
            </a:r>
            <a:r>
              <a:rPr lang="en-US" baseline="30000" dirty="0"/>
              <a:t> </a:t>
            </a:r>
            <a:r>
              <a:rPr lang="en-US" dirty="0"/>
              <a:t> prostate cancer,</a:t>
            </a:r>
            <a:r>
              <a:rPr lang="en-US" baseline="30000" dirty="0"/>
              <a:t> </a:t>
            </a:r>
            <a:r>
              <a:rPr lang="en-US" dirty="0"/>
              <a:t> basal cell carcinomas,</a:t>
            </a:r>
            <a:r>
              <a:rPr lang="en-US" baseline="30000" dirty="0"/>
              <a:t> </a:t>
            </a:r>
            <a:r>
              <a:rPr lang="en-US" dirty="0"/>
              <a:t>hepatocellular carcinoma,</a:t>
            </a:r>
            <a:r>
              <a:rPr lang="en-US" baseline="30000" dirty="0"/>
              <a:t> </a:t>
            </a:r>
            <a:r>
              <a:rPr lang="en-US" dirty="0"/>
              <a:t> pancreatic cancer,</a:t>
            </a:r>
            <a:r>
              <a:rPr lang="en-US" baseline="30000" dirty="0"/>
              <a:t> </a:t>
            </a:r>
            <a:r>
              <a:rPr lang="en-US" dirty="0"/>
              <a:t> gastric  cancer</a:t>
            </a:r>
            <a:r>
              <a:rPr lang="en-US" baseline="30000" dirty="0"/>
              <a:t> </a:t>
            </a:r>
            <a:r>
              <a:rPr lang="en-US" dirty="0"/>
              <a:t>and squamous cell carcinoma</a:t>
            </a:r>
          </a:p>
          <a:p>
            <a:endParaRPr lang="en-US" dirty="0"/>
          </a:p>
        </p:txBody>
      </p:sp>
      <p:sp>
        <p:nvSpPr>
          <p:cNvPr id="4" name="Slide Number Placeholder 3"/>
          <p:cNvSpPr>
            <a:spLocks noGrp="1"/>
          </p:cNvSpPr>
          <p:nvPr>
            <p:ph type="sldNum" sz="quarter" idx="5"/>
          </p:nvPr>
        </p:nvSpPr>
        <p:spPr/>
        <p:txBody>
          <a:bodyPr/>
          <a:lstStyle/>
          <a:p>
            <a:fld id="{91D592BF-E253-A241-B4E4-A5B1C48E8115}" type="slidenum">
              <a:rPr lang="en-US" smtClean="0"/>
              <a:t>26</a:t>
            </a:fld>
            <a:endParaRPr lang="en-US"/>
          </a:p>
        </p:txBody>
      </p:sp>
    </p:spTree>
    <p:extLst>
      <p:ext uri="{BB962C8B-B14F-4D97-AF65-F5344CB8AC3E}">
        <p14:creationId xmlns:p14="http://schemas.microsoft.com/office/powerpoint/2010/main" val="1687110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maayanlab.cloud</a:t>
            </a:r>
            <a:r>
              <a:rPr lang="en-US" dirty="0"/>
              <a:t>/chea3/#top</a:t>
            </a:r>
          </a:p>
        </p:txBody>
      </p:sp>
      <p:sp>
        <p:nvSpPr>
          <p:cNvPr id="4" name="Slide Number Placeholder 3"/>
          <p:cNvSpPr>
            <a:spLocks noGrp="1"/>
          </p:cNvSpPr>
          <p:nvPr>
            <p:ph type="sldNum" sz="quarter" idx="5"/>
          </p:nvPr>
        </p:nvSpPr>
        <p:spPr/>
        <p:txBody>
          <a:bodyPr/>
          <a:lstStyle/>
          <a:p>
            <a:fld id="{91D592BF-E253-A241-B4E4-A5B1C48E8115}" type="slidenum">
              <a:rPr lang="en-US" smtClean="0"/>
              <a:t>27</a:t>
            </a:fld>
            <a:endParaRPr lang="en-US"/>
          </a:p>
        </p:txBody>
      </p:sp>
    </p:spTree>
    <p:extLst>
      <p:ext uri="{BB962C8B-B14F-4D97-AF65-F5344CB8AC3E}">
        <p14:creationId xmlns:p14="http://schemas.microsoft.com/office/powerpoint/2010/main" val="285548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maayanlab.cloud</a:t>
            </a:r>
            <a:r>
              <a:rPr lang="en-US" dirty="0"/>
              <a:t>/chea3/#top</a:t>
            </a:r>
          </a:p>
        </p:txBody>
      </p:sp>
      <p:sp>
        <p:nvSpPr>
          <p:cNvPr id="4" name="Slide Number Placeholder 3"/>
          <p:cNvSpPr>
            <a:spLocks noGrp="1"/>
          </p:cNvSpPr>
          <p:nvPr>
            <p:ph type="sldNum" sz="quarter" idx="5"/>
          </p:nvPr>
        </p:nvSpPr>
        <p:spPr/>
        <p:txBody>
          <a:bodyPr/>
          <a:lstStyle/>
          <a:p>
            <a:fld id="{91D592BF-E253-A241-B4E4-A5B1C48E8115}" type="slidenum">
              <a:rPr lang="en-US" smtClean="0"/>
              <a:t>28</a:t>
            </a:fld>
            <a:endParaRPr lang="en-US"/>
          </a:p>
        </p:txBody>
      </p:sp>
    </p:spTree>
    <p:extLst>
      <p:ext uri="{BB962C8B-B14F-4D97-AF65-F5344CB8AC3E}">
        <p14:creationId xmlns:p14="http://schemas.microsoft.com/office/powerpoint/2010/main" val="1759295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kern="1200" dirty="0">
                <a:solidFill>
                  <a:schemeClr val="tx1"/>
                </a:solidFill>
                <a:effectLst/>
                <a:latin typeface="+mn-lt"/>
                <a:ea typeface="+mn-ea"/>
                <a:cs typeface="+mn-cs"/>
              </a:rPr>
              <a:t>Additionally, we checked whether the genes that were downregulated by the HDAC-7 knockdown have role in stemness. We found 653 genes that were downregulated from KD that have a significant role in regulating stemness, with those genes closer to the embryonic stem cells’ and embryonal carcinoma’s phenotype </a:t>
            </a: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b="0" i="0" u="none" strike="noStrike" kern="1200" dirty="0">
                <a:solidFill>
                  <a:schemeClr val="tx1"/>
                </a:solidFill>
                <a:effectLst/>
                <a:latin typeface="+mn-lt"/>
                <a:ea typeface="+mn-ea"/>
                <a:cs typeface="+mn-cs"/>
              </a:rPr>
              <a:t>The checkerboard table shows the occurrence of each individual gene from our data and its occurrence across different </a:t>
            </a:r>
            <a:r>
              <a:rPr lang="en-US" sz="1200" b="0" i="1" u="none" strike="noStrike" kern="1200" dirty="0">
                <a:solidFill>
                  <a:schemeClr val="tx1"/>
                </a:solidFill>
                <a:effectLst/>
                <a:latin typeface="+mn-lt"/>
                <a:ea typeface="+mn-ea"/>
                <a:cs typeface="+mn-cs"/>
              </a:rPr>
              <a:t>stemness signature data bases.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dirty="0">
                <a:solidFill>
                  <a:schemeClr val="tx1"/>
                </a:solidFill>
                <a:effectLst/>
                <a:latin typeface="+mn-lt"/>
                <a:ea typeface="+mn-ea"/>
                <a:cs typeface="+mn-cs"/>
              </a:rPr>
              <a:t> These databases were constructed from TF target genes, expression profiles, RNAi screens or  from literature or computationally predicted  </a:t>
            </a:r>
            <a:r>
              <a:rPr lang="en-US" sz="1200" b="0" i="0" u="none" strike="noStrike" kern="1200" dirty="0">
                <a:solidFill>
                  <a:schemeClr val="tx1"/>
                </a:solidFill>
                <a:effectLst/>
                <a:latin typeface="+mn-lt"/>
                <a:ea typeface="+mn-ea"/>
                <a:cs typeface="+mn-cs"/>
              </a:rPr>
              <a:t>. (those are the top genes)</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ECE0664-E81C-184F-9FE1-FCE9711AC74B}" type="slidenum">
              <a:rPr lang="en-US" smtClean="0"/>
              <a:t>30</a:t>
            </a:fld>
            <a:endParaRPr lang="en-US"/>
          </a:p>
        </p:txBody>
      </p:sp>
    </p:spTree>
    <p:extLst>
      <p:ext uri="{BB962C8B-B14F-4D97-AF65-F5344CB8AC3E}">
        <p14:creationId xmlns:p14="http://schemas.microsoft.com/office/powerpoint/2010/main" val="3004553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kern="1200" dirty="0">
                <a:solidFill>
                  <a:schemeClr val="tx1"/>
                </a:solidFill>
                <a:effectLst/>
                <a:latin typeface="+mn-lt"/>
                <a:ea typeface="+mn-ea"/>
                <a:cs typeface="+mn-cs"/>
              </a:rPr>
              <a:t>Additionally, we checked whether the genes that were downregulated by the HDAC-7 knockdown have role in stemness. We found 653 genes that were downregulated from KD that have a significant role in regulating stemness, with those genes closer to the embryonic stem cells’ and embryonal carcinoma’s phenotype </a:t>
            </a: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b="0" i="0" u="none" strike="noStrike" kern="1200" dirty="0">
                <a:solidFill>
                  <a:schemeClr val="tx1"/>
                </a:solidFill>
                <a:effectLst/>
                <a:latin typeface="+mn-lt"/>
                <a:ea typeface="+mn-ea"/>
                <a:cs typeface="+mn-cs"/>
              </a:rPr>
              <a:t>The checkerboard table shows the occurrence of each individual gene from our data and its occurrence across different </a:t>
            </a:r>
            <a:r>
              <a:rPr lang="en-US" sz="1200" b="0" i="1" u="none" strike="noStrike" kern="1200" dirty="0">
                <a:solidFill>
                  <a:schemeClr val="tx1"/>
                </a:solidFill>
                <a:effectLst/>
                <a:latin typeface="+mn-lt"/>
                <a:ea typeface="+mn-ea"/>
                <a:cs typeface="+mn-cs"/>
              </a:rPr>
              <a:t>stemness signature data bases.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dirty="0">
                <a:solidFill>
                  <a:schemeClr val="tx1"/>
                </a:solidFill>
                <a:effectLst/>
                <a:latin typeface="+mn-lt"/>
                <a:ea typeface="+mn-ea"/>
                <a:cs typeface="+mn-cs"/>
              </a:rPr>
              <a:t> These databases were constructed from TF target genes, expression profiles, RNAi screens or  from literature or computationally predicted  </a:t>
            </a:r>
            <a:r>
              <a:rPr lang="en-US" sz="1200" b="0" i="0" u="none" strike="noStrike" kern="1200" dirty="0">
                <a:solidFill>
                  <a:schemeClr val="tx1"/>
                </a:solidFill>
                <a:effectLst/>
                <a:latin typeface="+mn-lt"/>
                <a:ea typeface="+mn-ea"/>
                <a:cs typeface="+mn-cs"/>
              </a:rPr>
              <a:t>. (those are the top genes)</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ECE0664-E81C-184F-9FE1-FCE9711AC74B}" type="slidenum">
              <a:rPr lang="en-US" smtClean="0"/>
              <a:t>31</a:t>
            </a:fld>
            <a:endParaRPr lang="en-US"/>
          </a:p>
        </p:txBody>
      </p:sp>
    </p:spTree>
    <p:extLst>
      <p:ext uri="{BB962C8B-B14F-4D97-AF65-F5344CB8AC3E}">
        <p14:creationId xmlns:p14="http://schemas.microsoft.com/office/powerpoint/2010/main" val="514718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kern="1200" dirty="0">
                <a:solidFill>
                  <a:schemeClr val="tx1"/>
                </a:solidFill>
                <a:effectLst/>
                <a:latin typeface="+mn-lt"/>
                <a:ea typeface="+mn-ea"/>
                <a:cs typeface="+mn-cs"/>
              </a:rPr>
              <a:t>Additionally, we checked whether the genes that were downregulated by the HDAC-7 knockdown have role in stemness. We found 653 genes that were downregulated from KD that have a significant role in regulating stemness, with those genes closer to the embryonic stem cells’ and embryonal carcinoma’s phenotype </a:t>
            </a: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b="0" i="0" u="none" strike="noStrike" kern="1200" dirty="0">
                <a:solidFill>
                  <a:schemeClr val="tx1"/>
                </a:solidFill>
                <a:effectLst/>
                <a:latin typeface="+mn-lt"/>
                <a:ea typeface="+mn-ea"/>
                <a:cs typeface="+mn-cs"/>
              </a:rPr>
              <a:t>The checkerboard table shows the occurrence of each individual gene from our data and its occurrence across different </a:t>
            </a:r>
            <a:r>
              <a:rPr lang="en-US" sz="1200" b="0" i="1" u="none" strike="noStrike" kern="1200" dirty="0">
                <a:solidFill>
                  <a:schemeClr val="tx1"/>
                </a:solidFill>
                <a:effectLst/>
                <a:latin typeface="+mn-lt"/>
                <a:ea typeface="+mn-ea"/>
                <a:cs typeface="+mn-cs"/>
              </a:rPr>
              <a:t>stemness signature data bases.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dirty="0">
                <a:solidFill>
                  <a:schemeClr val="tx1"/>
                </a:solidFill>
                <a:effectLst/>
                <a:latin typeface="+mn-lt"/>
                <a:ea typeface="+mn-ea"/>
                <a:cs typeface="+mn-cs"/>
              </a:rPr>
              <a:t> These databases were constructed from TF target genes, expression profiles, RNAi screens or  from literature or computationally predicted  </a:t>
            </a:r>
            <a:r>
              <a:rPr lang="en-US" sz="1200" b="0" i="0" u="none" strike="noStrike" kern="1200" dirty="0">
                <a:solidFill>
                  <a:schemeClr val="tx1"/>
                </a:solidFill>
                <a:effectLst/>
                <a:latin typeface="+mn-lt"/>
                <a:ea typeface="+mn-ea"/>
                <a:cs typeface="+mn-cs"/>
              </a:rPr>
              <a:t>. (those are the top genes)</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ECE0664-E81C-184F-9FE1-FCE9711AC74B}" type="slidenum">
              <a:rPr lang="en-US" smtClean="0"/>
              <a:t>32</a:t>
            </a:fld>
            <a:endParaRPr lang="en-US"/>
          </a:p>
        </p:txBody>
      </p:sp>
    </p:spTree>
    <p:extLst>
      <p:ext uri="{BB962C8B-B14F-4D97-AF65-F5344CB8AC3E}">
        <p14:creationId xmlns:p14="http://schemas.microsoft.com/office/powerpoint/2010/main" val="3621909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kern="1200" dirty="0">
                <a:solidFill>
                  <a:schemeClr val="tx1"/>
                </a:solidFill>
                <a:effectLst/>
                <a:latin typeface="+mn-lt"/>
                <a:ea typeface="+mn-ea"/>
                <a:cs typeface="+mn-cs"/>
              </a:rPr>
              <a:t>Additionally, we checked whether the genes that were downregulated by the HDAC-7 knockdown have role in stemness. We found 653 genes that were downregulated from KD that have a significant role in regulating stemness, with those genes closer to the embryonic stem cells’ and embryonal carcinoma’s phenotype </a:t>
            </a: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endParaRPr lang="en-US"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b="0" i="0" u="none" strike="noStrike" kern="1200" dirty="0">
                <a:solidFill>
                  <a:schemeClr val="tx1"/>
                </a:solidFill>
                <a:effectLst/>
                <a:latin typeface="+mn-lt"/>
                <a:ea typeface="+mn-ea"/>
                <a:cs typeface="+mn-cs"/>
              </a:rPr>
              <a:t>The checkerboard table shows the occurrence of each individual gene from our data and its occurrence across different </a:t>
            </a:r>
            <a:r>
              <a:rPr lang="en-US" sz="1200" b="0" i="1" u="none" strike="noStrike" kern="1200" dirty="0">
                <a:solidFill>
                  <a:schemeClr val="tx1"/>
                </a:solidFill>
                <a:effectLst/>
                <a:latin typeface="+mn-lt"/>
                <a:ea typeface="+mn-ea"/>
                <a:cs typeface="+mn-cs"/>
              </a:rPr>
              <a:t>stemness signature data bases.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dirty="0">
                <a:solidFill>
                  <a:schemeClr val="tx1"/>
                </a:solidFill>
                <a:effectLst/>
                <a:latin typeface="+mn-lt"/>
                <a:ea typeface="+mn-ea"/>
                <a:cs typeface="+mn-cs"/>
              </a:rPr>
              <a:t> These databases were constructed from TF target genes, expression profiles, RNAi screens or  from literature or computationally predicted  </a:t>
            </a:r>
            <a:r>
              <a:rPr lang="en-US" sz="1200" b="0" i="0" u="none" strike="noStrike" kern="1200" dirty="0">
                <a:solidFill>
                  <a:schemeClr val="tx1"/>
                </a:solidFill>
                <a:effectLst/>
                <a:latin typeface="+mn-lt"/>
                <a:ea typeface="+mn-ea"/>
                <a:cs typeface="+mn-cs"/>
              </a:rPr>
              <a:t>. (those are the top genes)</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ECE0664-E81C-184F-9FE1-FCE9711AC74B}" type="slidenum">
              <a:rPr lang="en-US" smtClean="0"/>
              <a:t>33</a:t>
            </a:fld>
            <a:endParaRPr lang="en-US"/>
          </a:p>
        </p:txBody>
      </p:sp>
    </p:spTree>
    <p:extLst>
      <p:ext uri="{BB962C8B-B14F-4D97-AF65-F5344CB8AC3E}">
        <p14:creationId xmlns:p14="http://schemas.microsoft.com/office/powerpoint/2010/main" val="1361485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www.nature.com</a:t>
            </a:r>
            <a:r>
              <a:rPr lang="en-US" dirty="0"/>
              <a:t>/articles/s41419-022-04862-1</a:t>
            </a:r>
          </a:p>
        </p:txBody>
      </p:sp>
      <p:sp>
        <p:nvSpPr>
          <p:cNvPr id="4" name="Slide Number Placeholder 3"/>
          <p:cNvSpPr>
            <a:spLocks noGrp="1"/>
          </p:cNvSpPr>
          <p:nvPr>
            <p:ph type="sldNum" sz="quarter" idx="5"/>
          </p:nvPr>
        </p:nvSpPr>
        <p:spPr/>
        <p:txBody>
          <a:bodyPr/>
          <a:lstStyle/>
          <a:p>
            <a:fld id="{09FCBFC3-4AE7-4245-895B-D169145F761A}" type="slidenum">
              <a:rPr lang="en-US" smtClean="0"/>
              <a:t>44</a:t>
            </a:fld>
            <a:endParaRPr lang="en-US"/>
          </a:p>
        </p:txBody>
      </p:sp>
    </p:spTree>
    <p:extLst>
      <p:ext uri="{BB962C8B-B14F-4D97-AF65-F5344CB8AC3E}">
        <p14:creationId xmlns:p14="http://schemas.microsoft.com/office/powerpoint/2010/main" val="1166243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www.nature.com</a:t>
            </a:r>
            <a:r>
              <a:rPr lang="en-US" dirty="0"/>
              <a:t>/articles/s41419-022-04862-1</a:t>
            </a:r>
          </a:p>
        </p:txBody>
      </p:sp>
      <p:sp>
        <p:nvSpPr>
          <p:cNvPr id="4" name="Slide Number Placeholder 3"/>
          <p:cNvSpPr>
            <a:spLocks noGrp="1"/>
          </p:cNvSpPr>
          <p:nvPr>
            <p:ph type="sldNum" sz="quarter" idx="5"/>
          </p:nvPr>
        </p:nvSpPr>
        <p:spPr/>
        <p:txBody>
          <a:bodyPr/>
          <a:lstStyle/>
          <a:p>
            <a:fld id="{09FCBFC3-4AE7-4245-895B-D169145F761A}" type="slidenum">
              <a:rPr lang="en-US" smtClean="0"/>
              <a:t>45</a:t>
            </a:fld>
            <a:endParaRPr lang="en-US"/>
          </a:p>
        </p:txBody>
      </p:sp>
    </p:spTree>
    <p:extLst>
      <p:ext uri="{BB962C8B-B14F-4D97-AF65-F5344CB8AC3E}">
        <p14:creationId xmlns:p14="http://schemas.microsoft.com/office/powerpoint/2010/main" val="3387229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59748-99BF-A208-B4A4-BC8700B6EF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77F3F4-01C0-F766-87B8-562557FCDD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A8B27E-09C7-D822-5457-2D068FF52DC1}"/>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1CC74D7E-788C-F661-0269-583C6723FE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9564F0-C5DC-8D34-3AE1-D46A8653E174}"/>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234481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44B4-4A18-8C65-3DF5-37531AF0F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D4BBB8-CBED-7CD4-5A0A-678B47642B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0D345-BCBF-4925-3313-73DFF94E8916}"/>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B230A5C8-5EC9-4F84-1181-F25D596F9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A2D34-8B2B-C240-314A-B06F112AE713}"/>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1624960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4088-C60D-2195-9541-D92637FAA4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EDF534-3131-EBC5-97BC-8F636B29B9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E39750-06C2-1A36-00AC-9E1B6C98A679}"/>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5E0927DB-683B-EF32-0FD5-C6784288FE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9FA81-7F01-7624-5300-3CC977F4449A}"/>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2373086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831FF-CA1D-D47F-59FD-8FF0B40ED4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E4843-D9AA-CA95-44C1-A0D0B9B5B0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6AE5CC-052A-66BF-075B-464379D896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7E213-DA32-CDEC-F6FE-F76E516E563D}"/>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6" name="Footer Placeholder 5">
            <a:extLst>
              <a:ext uri="{FF2B5EF4-FFF2-40B4-BE49-F238E27FC236}">
                <a16:creationId xmlns:a16="http://schemas.microsoft.com/office/drawing/2014/main" id="{79477FEC-E0F5-B453-63D1-9AA6A8B75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6541E-7538-2E52-54CD-68DDB0580A10}"/>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1797552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3B813-35B9-1104-4100-C2A2F43C1F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E5F11B-F018-F16F-7939-E7ABD2FD96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976387-2389-3F52-AD36-71753CFEA3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AAB99F-BFBB-975E-12F9-F0488E60A7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8EDD0A-D854-CA02-027E-4388C47E2B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51EA77-96D9-727B-4587-9F104ABA98D1}"/>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8" name="Footer Placeholder 7">
            <a:extLst>
              <a:ext uri="{FF2B5EF4-FFF2-40B4-BE49-F238E27FC236}">
                <a16:creationId xmlns:a16="http://schemas.microsoft.com/office/drawing/2014/main" id="{40EF4963-0368-2715-61F9-E1590EE6E6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3E84A0-DE85-4128-C930-7FB60A5C7FB2}"/>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4231975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E04E-6EA5-A8EE-1CAD-D5B2ACBC9B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7B916A-3D5A-9DE9-DD4D-509487086560}"/>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4" name="Footer Placeholder 3">
            <a:extLst>
              <a:ext uri="{FF2B5EF4-FFF2-40B4-BE49-F238E27FC236}">
                <a16:creationId xmlns:a16="http://schemas.microsoft.com/office/drawing/2014/main" id="{222DA953-3D22-DFD8-7EFE-F1F50A4E54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D6CC66-5F91-7F46-11E6-3B61ECF337C9}"/>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4060138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0C36E4-47E0-155B-1A5A-BC50460157D6}"/>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3" name="Footer Placeholder 2">
            <a:extLst>
              <a:ext uri="{FF2B5EF4-FFF2-40B4-BE49-F238E27FC236}">
                <a16:creationId xmlns:a16="http://schemas.microsoft.com/office/drawing/2014/main" id="{169B645E-60DD-D15A-50AE-1B5508BAFC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2826DA-D9B9-8600-DE54-5A113BD27649}"/>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1646525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978A1-752E-F390-123E-893D380D06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721B62-B1DF-DF2D-A985-5A77FC0871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01F2A0-CE28-3D39-7692-100CF9006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3FBE7B-EB2D-8B23-659A-7535B909D48A}"/>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6" name="Footer Placeholder 5">
            <a:extLst>
              <a:ext uri="{FF2B5EF4-FFF2-40B4-BE49-F238E27FC236}">
                <a16:creationId xmlns:a16="http://schemas.microsoft.com/office/drawing/2014/main" id="{3FBE9752-2667-35D2-744E-DFC35A0D59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69463C-3EEA-B79F-AC56-5E2F4459DAAE}"/>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2702491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AB5D-C804-B165-31E4-46BCCB50A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DADAA6-B826-4DB4-1FA3-4991EA4F21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B24B69-CF64-D14D-3797-9A90CC5F6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C39253-D7C2-D817-FD46-63D72FE71B42}"/>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6" name="Footer Placeholder 5">
            <a:extLst>
              <a:ext uri="{FF2B5EF4-FFF2-40B4-BE49-F238E27FC236}">
                <a16:creationId xmlns:a16="http://schemas.microsoft.com/office/drawing/2014/main" id="{248FD382-6505-4D32-5633-912A06CEE5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012346-B289-041D-AB85-32BBDF9F9DB2}"/>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1872553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13760-C819-E6C9-FD00-8247A4D7D9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615514-7219-4C5C-E420-5719E6BCF2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8EA20A-A1BB-EFD0-9D3B-8968D2D6C373}"/>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31AD0CB0-FFF8-0DAB-D356-79590C9EF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46A86-B04B-662D-796C-37AF204893CE}"/>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81586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4E32B9-F685-4632-A2EE-C7DDE9C35D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C06D0-3AA1-8148-130D-77973EFFC2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078410-7A5C-7248-1016-E95692F5A104}"/>
              </a:ext>
            </a:extLst>
          </p:cNvPr>
          <p:cNvSpPr>
            <a:spLocks noGrp="1"/>
          </p:cNvSpPr>
          <p:nvPr>
            <p:ph type="dt" sz="half" idx="10"/>
          </p:nvPr>
        </p:nvSpPr>
        <p:spPr/>
        <p:txBody>
          <a:body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A6070C72-9C39-5550-4E66-6B3379305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7377E-D2E8-F47E-AD54-A3C5AF50AC68}"/>
              </a:ext>
            </a:extLst>
          </p:cNvPr>
          <p:cNvSpPr>
            <a:spLocks noGrp="1"/>
          </p:cNvSpPr>
          <p:nvPr>
            <p:ph type="sldNum" sz="quarter" idx="12"/>
          </p:nvPr>
        </p:nvSpPr>
        <p:spPr/>
        <p:txBody>
          <a:bodyPr/>
          <a:lstStyle/>
          <a:p>
            <a:fld id="{D242DD3F-1895-2040-9529-2E0F87A114BE}" type="slidenum">
              <a:rPr lang="en-US" smtClean="0"/>
              <a:t>‹#›</a:t>
            </a:fld>
            <a:endParaRPr lang="en-US"/>
          </a:p>
        </p:txBody>
      </p:sp>
    </p:spTree>
    <p:extLst>
      <p:ext uri="{BB962C8B-B14F-4D97-AF65-F5344CB8AC3E}">
        <p14:creationId xmlns:p14="http://schemas.microsoft.com/office/powerpoint/2010/main" val="175924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AEC588-DDFE-F6DC-9351-98484BEA58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B4C891-F94B-5197-01B0-54AF95FB66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ED22DA-4B99-AC29-D40E-31DEB51485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830A40-1873-EF4F-A1A5-86F610C32B67}" type="datetimeFigureOut">
              <a:rPr lang="en-US" smtClean="0"/>
              <a:t>3/11/24</a:t>
            </a:fld>
            <a:endParaRPr lang="en-US"/>
          </a:p>
        </p:txBody>
      </p:sp>
      <p:sp>
        <p:nvSpPr>
          <p:cNvPr id="5" name="Footer Placeholder 4">
            <a:extLst>
              <a:ext uri="{FF2B5EF4-FFF2-40B4-BE49-F238E27FC236}">
                <a16:creationId xmlns:a16="http://schemas.microsoft.com/office/drawing/2014/main" id="{68573EA8-23DC-5695-DDE5-7F02449B82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EADB11-9F57-6099-0A76-E315CC5E30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2DD3F-1895-2040-9529-2E0F87A114BE}" type="slidenum">
              <a:rPr lang="en-US" smtClean="0"/>
              <a:t>‹#›</a:t>
            </a:fld>
            <a:endParaRPr lang="en-US"/>
          </a:p>
        </p:txBody>
      </p:sp>
    </p:spTree>
    <p:extLst>
      <p:ext uri="{BB962C8B-B14F-4D97-AF65-F5344CB8AC3E}">
        <p14:creationId xmlns:p14="http://schemas.microsoft.com/office/powerpoint/2010/main" val="1202008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image" Target="../media/image42.png"/><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4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846A-E2E6-763B-1F68-46341FC2FB42}"/>
              </a:ext>
            </a:extLst>
          </p:cNvPr>
          <p:cNvSpPr>
            <a:spLocks noGrp="1"/>
          </p:cNvSpPr>
          <p:nvPr>
            <p:ph type="ctrTitle"/>
          </p:nvPr>
        </p:nvSpPr>
        <p:spPr/>
        <p:txBody>
          <a:bodyPr/>
          <a:lstStyle/>
          <a:p>
            <a:r>
              <a:rPr lang="en-US" dirty="0" err="1"/>
              <a:t>RNASeq</a:t>
            </a:r>
            <a:r>
              <a:rPr lang="en-US" dirty="0"/>
              <a:t> plots</a:t>
            </a:r>
          </a:p>
        </p:txBody>
      </p:sp>
      <p:sp>
        <p:nvSpPr>
          <p:cNvPr id="3" name="Subtitle 2">
            <a:extLst>
              <a:ext uri="{FF2B5EF4-FFF2-40B4-BE49-F238E27FC236}">
                <a16:creationId xmlns:a16="http://schemas.microsoft.com/office/drawing/2014/main" id="{795D32F4-9CA8-5CD6-58F2-4556E7EF86E7}"/>
              </a:ext>
            </a:extLst>
          </p:cNvPr>
          <p:cNvSpPr>
            <a:spLocks noGrp="1"/>
          </p:cNvSpPr>
          <p:nvPr>
            <p:ph type="subTitle" idx="1"/>
          </p:nvPr>
        </p:nvSpPr>
        <p:spPr/>
        <p:txBody>
          <a:bodyPr/>
          <a:lstStyle/>
          <a:p>
            <a:r>
              <a:rPr lang="en-US" dirty="0"/>
              <a:t>8-23-2023</a:t>
            </a:r>
          </a:p>
        </p:txBody>
      </p:sp>
    </p:spTree>
    <p:extLst>
      <p:ext uri="{BB962C8B-B14F-4D97-AF65-F5344CB8AC3E}">
        <p14:creationId xmlns:p14="http://schemas.microsoft.com/office/powerpoint/2010/main" val="830650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A60B756-CC1B-A745-AAE3-2FB1145B80D3}"/>
              </a:ext>
            </a:extLst>
          </p:cNvPr>
          <p:cNvSpPr txBox="1"/>
          <p:nvPr/>
        </p:nvSpPr>
        <p:spPr>
          <a:xfrm>
            <a:off x="678180" y="707909"/>
            <a:ext cx="1151382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Transcriptomic analysis for HDAC-7 siRNA knock down of our 1ry GSCs show </a:t>
            </a:r>
            <a:r>
              <a:rPr lang="en-US" dirty="0">
                <a:solidFill>
                  <a:srgbClr val="FF0000"/>
                </a:solidFill>
              </a:rPr>
              <a:t>4963</a:t>
            </a:r>
            <a:r>
              <a:rPr lang="en-US" dirty="0"/>
              <a:t> genes differentially expressed between the HDAC-7 knock down and the siRNA negative control</a:t>
            </a:r>
          </a:p>
        </p:txBody>
      </p:sp>
      <p:cxnSp>
        <p:nvCxnSpPr>
          <p:cNvPr id="6" name="Straight Arrow Connector 5">
            <a:extLst>
              <a:ext uri="{FF2B5EF4-FFF2-40B4-BE49-F238E27FC236}">
                <a16:creationId xmlns:a16="http://schemas.microsoft.com/office/drawing/2014/main" id="{EDCB66BD-98C5-9444-9B92-7B4F3D6B64C0}"/>
              </a:ext>
            </a:extLst>
          </p:cNvPr>
          <p:cNvCxnSpPr>
            <a:cxnSpLocks/>
          </p:cNvCxnSpPr>
          <p:nvPr/>
        </p:nvCxnSpPr>
        <p:spPr>
          <a:xfrm>
            <a:off x="1499954" y="3044036"/>
            <a:ext cx="10398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B2CC505-90CC-B648-B3FB-AAA83A8540E2}"/>
              </a:ext>
            </a:extLst>
          </p:cNvPr>
          <p:cNvSpPr txBox="1"/>
          <p:nvPr/>
        </p:nvSpPr>
        <p:spPr>
          <a:xfrm>
            <a:off x="101825" y="1917769"/>
            <a:ext cx="1369436" cy="1938992"/>
          </a:xfrm>
          <a:prstGeom prst="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2400" dirty="0"/>
              <a:t>KD HDAC-7 in our 1ry GSCs by siRNA</a:t>
            </a:r>
          </a:p>
        </p:txBody>
      </p:sp>
      <p:sp>
        <p:nvSpPr>
          <p:cNvPr id="13" name="TextBox 12">
            <a:extLst>
              <a:ext uri="{FF2B5EF4-FFF2-40B4-BE49-F238E27FC236}">
                <a16:creationId xmlns:a16="http://schemas.microsoft.com/office/drawing/2014/main" id="{D3425A25-EA5D-9443-AFBC-EF66564D27AA}"/>
              </a:ext>
            </a:extLst>
          </p:cNvPr>
          <p:cNvSpPr txBox="1"/>
          <p:nvPr/>
        </p:nvSpPr>
        <p:spPr>
          <a:xfrm>
            <a:off x="1558122" y="2509465"/>
            <a:ext cx="1066611" cy="369332"/>
          </a:xfrm>
          <a:prstGeom prst="rect">
            <a:avLst/>
          </a:prstGeom>
          <a:noFill/>
        </p:spPr>
        <p:txBody>
          <a:bodyPr wrap="square" rtlCol="0">
            <a:spAutoFit/>
          </a:bodyPr>
          <a:lstStyle/>
          <a:p>
            <a:r>
              <a:rPr lang="en-US" dirty="0" err="1"/>
              <a:t>RNASeq</a:t>
            </a:r>
            <a:endParaRPr lang="en-US" dirty="0"/>
          </a:p>
        </p:txBody>
      </p:sp>
      <p:sp>
        <p:nvSpPr>
          <p:cNvPr id="18" name="Title 1">
            <a:extLst>
              <a:ext uri="{FF2B5EF4-FFF2-40B4-BE49-F238E27FC236}">
                <a16:creationId xmlns:a16="http://schemas.microsoft.com/office/drawing/2014/main" id="{0DED71FF-F9C1-2A44-F3E0-A68A16605B9C}"/>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RNA Seq</a:t>
            </a:r>
          </a:p>
        </p:txBody>
      </p:sp>
      <p:sp>
        <p:nvSpPr>
          <p:cNvPr id="2" name="TextBox 1">
            <a:extLst>
              <a:ext uri="{FF2B5EF4-FFF2-40B4-BE49-F238E27FC236}">
                <a16:creationId xmlns:a16="http://schemas.microsoft.com/office/drawing/2014/main" id="{CE2738F9-E620-6510-4318-7C9F7DA99CC2}"/>
              </a:ext>
            </a:extLst>
          </p:cNvPr>
          <p:cNvSpPr txBox="1"/>
          <p:nvPr/>
        </p:nvSpPr>
        <p:spPr>
          <a:xfrm>
            <a:off x="2709673" y="146957"/>
            <a:ext cx="1862327" cy="369332"/>
          </a:xfrm>
          <a:prstGeom prst="rect">
            <a:avLst/>
          </a:prstGeom>
          <a:noFill/>
        </p:spPr>
        <p:txBody>
          <a:bodyPr wrap="square" rtlCol="0">
            <a:spAutoFit/>
          </a:bodyPr>
          <a:lstStyle/>
          <a:p>
            <a:r>
              <a:rPr lang="en-US" dirty="0"/>
              <a:t>GB2s FDR &lt;0.01</a:t>
            </a:r>
          </a:p>
        </p:txBody>
      </p:sp>
      <p:pic>
        <p:nvPicPr>
          <p:cNvPr id="4" name="Picture 3" descr="A screenshot of a computer&#10;&#10;Description automatically generated">
            <a:extLst>
              <a:ext uri="{FF2B5EF4-FFF2-40B4-BE49-F238E27FC236}">
                <a16:creationId xmlns:a16="http://schemas.microsoft.com/office/drawing/2014/main" id="{F01E2EB7-E6B9-C67C-4DDB-3036C2F11B1D}"/>
              </a:ext>
            </a:extLst>
          </p:cNvPr>
          <p:cNvPicPr>
            <a:picLocks noChangeAspect="1"/>
          </p:cNvPicPr>
          <p:nvPr/>
        </p:nvPicPr>
        <p:blipFill rotWithShape="1">
          <a:blip r:embed="rId3"/>
          <a:srcRect t="742" b="20250"/>
          <a:stretch/>
        </p:blipFill>
        <p:spPr>
          <a:xfrm>
            <a:off x="4448382" y="1123406"/>
            <a:ext cx="5840708" cy="5246387"/>
          </a:xfrm>
          <a:prstGeom prst="rect">
            <a:avLst/>
          </a:prstGeom>
        </p:spPr>
      </p:pic>
      <p:sp>
        <p:nvSpPr>
          <p:cNvPr id="5" name="TextBox 4">
            <a:extLst>
              <a:ext uri="{FF2B5EF4-FFF2-40B4-BE49-F238E27FC236}">
                <a16:creationId xmlns:a16="http://schemas.microsoft.com/office/drawing/2014/main" id="{2DB2E755-13D4-C7F0-8CF2-61DF737B2470}"/>
              </a:ext>
            </a:extLst>
          </p:cNvPr>
          <p:cNvSpPr txBox="1"/>
          <p:nvPr/>
        </p:nvSpPr>
        <p:spPr>
          <a:xfrm rot="16200000">
            <a:off x="4709239" y="6600624"/>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7" name="TextBox 6">
            <a:extLst>
              <a:ext uri="{FF2B5EF4-FFF2-40B4-BE49-F238E27FC236}">
                <a16:creationId xmlns:a16="http://schemas.microsoft.com/office/drawing/2014/main" id="{7E8C4D5D-DED5-88FE-AFFC-5CE8A86249BE}"/>
              </a:ext>
            </a:extLst>
          </p:cNvPr>
          <p:cNvSpPr txBox="1"/>
          <p:nvPr/>
        </p:nvSpPr>
        <p:spPr>
          <a:xfrm rot="16200000">
            <a:off x="5476028" y="6600623"/>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10" name="TextBox 9">
            <a:extLst>
              <a:ext uri="{FF2B5EF4-FFF2-40B4-BE49-F238E27FC236}">
                <a16:creationId xmlns:a16="http://schemas.microsoft.com/office/drawing/2014/main" id="{FF054085-2CE9-769C-A47B-7E07D54E1E00}"/>
              </a:ext>
            </a:extLst>
          </p:cNvPr>
          <p:cNvSpPr txBox="1"/>
          <p:nvPr/>
        </p:nvSpPr>
        <p:spPr>
          <a:xfrm rot="16200000">
            <a:off x="6527632" y="6214531"/>
            <a:ext cx="849779" cy="369332"/>
          </a:xfrm>
          <a:prstGeom prst="rect">
            <a:avLst/>
          </a:prstGeom>
          <a:noFill/>
        </p:spPr>
        <p:txBody>
          <a:bodyPr wrap="square" rtlCol="0">
            <a:spAutoFit/>
          </a:bodyPr>
          <a:lstStyle/>
          <a:p>
            <a:r>
              <a:rPr lang="en-US" dirty="0"/>
              <a:t>CT 1</a:t>
            </a:r>
          </a:p>
        </p:txBody>
      </p:sp>
      <p:sp>
        <p:nvSpPr>
          <p:cNvPr id="17" name="TextBox 16">
            <a:extLst>
              <a:ext uri="{FF2B5EF4-FFF2-40B4-BE49-F238E27FC236}">
                <a16:creationId xmlns:a16="http://schemas.microsoft.com/office/drawing/2014/main" id="{302C522B-FB33-641E-050E-3A208C145AA9}"/>
              </a:ext>
            </a:extLst>
          </p:cNvPr>
          <p:cNvSpPr txBox="1"/>
          <p:nvPr/>
        </p:nvSpPr>
        <p:spPr>
          <a:xfrm rot="16200000">
            <a:off x="7173672" y="6214531"/>
            <a:ext cx="849779" cy="369332"/>
          </a:xfrm>
          <a:prstGeom prst="rect">
            <a:avLst/>
          </a:prstGeom>
          <a:noFill/>
        </p:spPr>
        <p:txBody>
          <a:bodyPr wrap="square" rtlCol="0">
            <a:spAutoFit/>
          </a:bodyPr>
          <a:lstStyle/>
          <a:p>
            <a:r>
              <a:rPr lang="en-US" dirty="0"/>
              <a:t>CT 2</a:t>
            </a:r>
          </a:p>
        </p:txBody>
      </p:sp>
      <p:pic>
        <p:nvPicPr>
          <p:cNvPr id="3" name="Picture 2">
            <a:extLst>
              <a:ext uri="{FF2B5EF4-FFF2-40B4-BE49-F238E27FC236}">
                <a16:creationId xmlns:a16="http://schemas.microsoft.com/office/drawing/2014/main" id="{D2E3363F-48E9-F6FF-16D5-9EE7143ACC84}"/>
              </a:ext>
            </a:extLst>
          </p:cNvPr>
          <p:cNvPicPr>
            <a:picLocks noChangeAspect="1"/>
          </p:cNvPicPr>
          <p:nvPr/>
        </p:nvPicPr>
        <p:blipFill>
          <a:blip r:embed="rId4"/>
          <a:stretch>
            <a:fillRect/>
          </a:stretch>
        </p:blipFill>
        <p:spPr>
          <a:xfrm>
            <a:off x="8291092" y="4941803"/>
            <a:ext cx="1997998" cy="1427990"/>
          </a:xfrm>
          <a:prstGeom prst="rect">
            <a:avLst/>
          </a:prstGeom>
        </p:spPr>
      </p:pic>
    </p:spTree>
    <p:extLst>
      <p:ext uri="{BB962C8B-B14F-4D97-AF65-F5344CB8AC3E}">
        <p14:creationId xmlns:p14="http://schemas.microsoft.com/office/powerpoint/2010/main" val="1224241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F01E2EB7-E6B9-C67C-4DDB-3036C2F11B1D}"/>
              </a:ext>
            </a:extLst>
          </p:cNvPr>
          <p:cNvPicPr>
            <a:picLocks noChangeAspect="1"/>
          </p:cNvPicPr>
          <p:nvPr/>
        </p:nvPicPr>
        <p:blipFill rotWithShape="1">
          <a:blip r:embed="rId3"/>
          <a:srcRect t="742" b="20250"/>
          <a:stretch/>
        </p:blipFill>
        <p:spPr>
          <a:xfrm>
            <a:off x="255292" y="-1162594"/>
            <a:ext cx="5840708" cy="5246387"/>
          </a:xfrm>
          <a:prstGeom prst="rect">
            <a:avLst/>
          </a:prstGeom>
        </p:spPr>
      </p:pic>
      <p:sp>
        <p:nvSpPr>
          <p:cNvPr id="5" name="TextBox 4">
            <a:extLst>
              <a:ext uri="{FF2B5EF4-FFF2-40B4-BE49-F238E27FC236}">
                <a16:creationId xmlns:a16="http://schemas.microsoft.com/office/drawing/2014/main" id="{2DB2E755-13D4-C7F0-8CF2-61DF737B2470}"/>
              </a:ext>
            </a:extLst>
          </p:cNvPr>
          <p:cNvSpPr txBox="1"/>
          <p:nvPr/>
        </p:nvSpPr>
        <p:spPr>
          <a:xfrm rot="16200000">
            <a:off x="516149" y="4314624"/>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7" name="TextBox 6">
            <a:extLst>
              <a:ext uri="{FF2B5EF4-FFF2-40B4-BE49-F238E27FC236}">
                <a16:creationId xmlns:a16="http://schemas.microsoft.com/office/drawing/2014/main" id="{7E8C4D5D-DED5-88FE-AFFC-5CE8A86249BE}"/>
              </a:ext>
            </a:extLst>
          </p:cNvPr>
          <p:cNvSpPr txBox="1"/>
          <p:nvPr/>
        </p:nvSpPr>
        <p:spPr>
          <a:xfrm rot="16200000">
            <a:off x="1282938" y="4314623"/>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10" name="TextBox 9">
            <a:extLst>
              <a:ext uri="{FF2B5EF4-FFF2-40B4-BE49-F238E27FC236}">
                <a16:creationId xmlns:a16="http://schemas.microsoft.com/office/drawing/2014/main" id="{FF054085-2CE9-769C-A47B-7E07D54E1E00}"/>
              </a:ext>
            </a:extLst>
          </p:cNvPr>
          <p:cNvSpPr txBox="1"/>
          <p:nvPr/>
        </p:nvSpPr>
        <p:spPr>
          <a:xfrm rot="16200000">
            <a:off x="2334542" y="3928531"/>
            <a:ext cx="849779" cy="369332"/>
          </a:xfrm>
          <a:prstGeom prst="rect">
            <a:avLst/>
          </a:prstGeom>
          <a:noFill/>
        </p:spPr>
        <p:txBody>
          <a:bodyPr wrap="square" rtlCol="0">
            <a:spAutoFit/>
          </a:bodyPr>
          <a:lstStyle/>
          <a:p>
            <a:r>
              <a:rPr lang="en-US" dirty="0"/>
              <a:t>CT 1</a:t>
            </a:r>
          </a:p>
        </p:txBody>
      </p:sp>
      <p:sp>
        <p:nvSpPr>
          <p:cNvPr id="17" name="TextBox 16">
            <a:extLst>
              <a:ext uri="{FF2B5EF4-FFF2-40B4-BE49-F238E27FC236}">
                <a16:creationId xmlns:a16="http://schemas.microsoft.com/office/drawing/2014/main" id="{302C522B-FB33-641E-050E-3A208C145AA9}"/>
              </a:ext>
            </a:extLst>
          </p:cNvPr>
          <p:cNvSpPr txBox="1"/>
          <p:nvPr/>
        </p:nvSpPr>
        <p:spPr>
          <a:xfrm rot="16200000">
            <a:off x="2980582" y="3928531"/>
            <a:ext cx="849779" cy="369332"/>
          </a:xfrm>
          <a:prstGeom prst="rect">
            <a:avLst/>
          </a:prstGeom>
          <a:noFill/>
        </p:spPr>
        <p:txBody>
          <a:bodyPr wrap="square" rtlCol="0">
            <a:spAutoFit/>
          </a:bodyPr>
          <a:lstStyle/>
          <a:p>
            <a:r>
              <a:rPr lang="en-US" dirty="0"/>
              <a:t>CT 2</a:t>
            </a:r>
          </a:p>
        </p:txBody>
      </p:sp>
      <p:pic>
        <p:nvPicPr>
          <p:cNvPr id="3" name="Picture 2">
            <a:extLst>
              <a:ext uri="{FF2B5EF4-FFF2-40B4-BE49-F238E27FC236}">
                <a16:creationId xmlns:a16="http://schemas.microsoft.com/office/drawing/2014/main" id="{D2E3363F-48E9-F6FF-16D5-9EE7143ACC84}"/>
              </a:ext>
            </a:extLst>
          </p:cNvPr>
          <p:cNvPicPr>
            <a:picLocks noChangeAspect="1"/>
          </p:cNvPicPr>
          <p:nvPr/>
        </p:nvPicPr>
        <p:blipFill>
          <a:blip r:embed="rId4"/>
          <a:stretch>
            <a:fillRect/>
          </a:stretch>
        </p:blipFill>
        <p:spPr>
          <a:xfrm>
            <a:off x="4098002" y="2655803"/>
            <a:ext cx="1997998" cy="1882284"/>
          </a:xfrm>
          <a:prstGeom prst="rect">
            <a:avLst/>
          </a:prstGeom>
        </p:spPr>
      </p:pic>
      <p:pic>
        <p:nvPicPr>
          <p:cNvPr id="20" name="Picture 19" descr="A graph with a bar chart&#10;&#10;Description automatically generated">
            <a:extLst>
              <a:ext uri="{FF2B5EF4-FFF2-40B4-BE49-F238E27FC236}">
                <a16:creationId xmlns:a16="http://schemas.microsoft.com/office/drawing/2014/main" id="{6AE4B2D8-C260-F4C6-4615-157FA73DFA17}"/>
              </a:ext>
            </a:extLst>
          </p:cNvPr>
          <p:cNvPicPr>
            <a:picLocks noChangeAspect="1"/>
          </p:cNvPicPr>
          <p:nvPr/>
        </p:nvPicPr>
        <p:blipFill>
          <a:blip r:embed="rId5"/>
          <a:stretch>
            <a:fillRect/>
          </a:stretch>
        </p:blipFill>
        <p:spPr>
          <a:xfrm>
            <a:off x="11143847" y="2014869"/>
            <a:ext cx="2096305" cy="1582076"/>
          </a:xfrm>
          <a:prstGeom prst="rect">
            <a:avLst/>
          </a:prstGeom>
        </p:spPr>
      </p:pic>
      <p:sp>
        <p:nvSpPr>
          <p:cNvPr id="23" name="TextBox 22">
            <a:extLst>
              <a:ext uri="{FF2B5EF4-FFF2-40B4-BE49-F238E27FC236}">
                <a16:creationId xmlns:a16="http://schemas.microsoft.com/office/drawing/2014/main" id="{49FD2FF9-EB97-B91B-E5D6-7E1204D645A3}"/>
              </a:ext>
            </a:extLst>
          </p:cNvPr>
          <p:cNvSpPr txBox="1"/>
          <p:nvPr/>
        </p:nvSpPr>
        <p:spPr>
          <a:xfrm rot="16200000">
            <a:off x="3821288" y="9406239"/>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24" name="TextBox 23">
            <a:extLst>
              <a:ext uri="{FF2B5EF4-FFF2-40B4-BE49-F238E27FC236}">
                <a16:creationId xmlns:a16="http://schemas.microsoft.com/office/drawing/2014/main" id="{39021517-D98D-E68E-9B74-42EE7476EAAF}"/>
              </a:ext>
            </a:extLst>
          </p:cNvPr>
          <p:cNvSpPr txBox="1"/>
          <p:nvPr/>
        </p:nvSpPr>
        <p:spPr>
          <a:xfrm rot="16200000">
            <a:off x="4513105" y="9424366"/>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25" name="TextBox 24">
            <a:extLst>
              <a:ext uri="{FF2B5EF4-FFF2-40B4-BE49-F238E27FC236}">
                <a16:creationId xmlns:a16="http://schemas.microsoft.com/office/drawing/2014/main" id="{94EC2728-97E6-7EBE-766B-9DC08B89290F}"/>
              </a:ext>
            </a:extLst>
          </p:cNvPr>
          <p:cNvSpPr txBox="1"/>
          <p:nvPr/>
        </p:nvSpPr>
        <p:spPr>
          <a:xfrm rot="16200000">
            <a:off x="5469310" y="9147920"/>
            <a:ext cx="849779" cy="369332"/>
          </a:xfrm>
          <a:prstGeom prst="rect">
            <a:avLst/>
          </a:prstGeom>
          <a:noFill/>
        </p:spPr>
        <p:txBody>
          <a:bodyPr wrap="square" rtlCol="0">
            <a:spAutoFit/>
          </a:bodyPr>
          <a:lstStyle/>
          <a:p>
            <a:r>
              <a:rPr lang="en-US" dirty="0"/>
              <a:t>CT1</a:t>
            </a:r>
          </a:p>
        </p:txBody>
      </p:sp>
      <p:sp>
        <p:nvSpPr>
          <p:cNvPr id="26" name="TextBox 25">
            <a:extLst>
              <a:ext uri="{FF2B5EF4-FFF2-40B4-BE49-F238E27FC236}">
                <a16:creationId xmlns:a16="http://schemas.microsoft.com/office/drawing/2014/main" id="{BE3C7FC2-61C8-D01F-D584-66871451DD00}"/>
              </a:ext>
            </a:extLst>
          </p:cNvPr>
          <p:cNvSpPr txBox="1"/>
          <p:nvPr/>
        </p:nvSpPr>
        <p:spPr>
          <a:xfrm rot="16200000">
            <a:off x="6081187" y="9147921"/>
            <a:ext cx="849779" cy="369332"/>
          </a:xfrm>
          <a:prstGeom prst="rect">
            <a:avLst/>
          </a:prstGeom>
          <a:noFill/>
        </p:spPr>
        <p:txBody>
          <a:bodyPr wrap="square" rtlCol="0">
            <a:spAutoFit/>
          </a:bodyPr>
          <a:lstStyle/>
          <a:p>
            <a:r>
              <a:rPr lang="en-US" dirty="0"/>
              <a:t>CT2</a:t>
            </a:r>
          </a:p>
        </p:txBody>
      </p:sp>
      <p:pic>
        <p:nvPicPr>
          <p:cNvPr id="27" name="Picture 26">
            <a:extLst>
              <a:ext uri="{FF2B5EF4-FFF2-40B4-BE49-F238E27FC236}">
                <a16:creationId xmlns:a16="http://schemas.microsoft.com/office/drawing/2014/main" id="{D11E1540-619E-AC5E-7F68-1DADB402F73A}"/>
              </a:ext>
            </a:extLst>
          </p:cNvPr>
          <p:cNvPicPr>
            <a:picLocks noChangeAspect="1"/>
          </p:cNvPicPr>
          <p:nvPr/>
        </p:nvPicPr>
        <p:blipFill rotWithShape="1">
          <a:blip r:embed="rId6"/>
          <a:srcRect t="663" b="-1"/>
          <a:stretch/>
        </p:blipFill>
        <p:spPr>
          <a:xfrm>
            <a:off x="7930679" y="6452774"/>
            <a:ext cx="1907203" cy="1768336"/>
          </a:xfrm>
          <a:prstGeom prst="rect">
            <a:avLst/>
          </a:prstGeom>
        </p:spPr>
      </p:pic>
      <p:sp>
        <p:nvSpPr>
          <p:cNvPr id="28" name="TextBox 27">
            <a:extLst>
              <a:ext uri="{FF2B5EF4-FFF2-40B4-BE49-F238E27FC236}">
                <a16:creationId xmlns:a16="http://schemas.microsoft.com/office/drawing/2014/main" id="{856C0E1C-0057-7651-17B8-56488AD73BF9}"/>
              </a:ext>
            </a:extLst>
          </p:cNvPr>
          <p:cNvSpPr txBox="1"/>
          <p:nvPr/>
        </p:nvSpPr>
        <p:spPr>
          <a:xfrm>
            <a:off x="99610" y="-780628"/>
            <a:ext cx="1253438" cy="461665"/>
          </a:xfrm>
          <a:prstGeom prst="rect">
            <a:avLst/>
          </a:prstGeom>
          <a:noFill/>
        </p:spPr>
        <p:txBody>
          <a:bodyPr wrap="square" rtlCol="0">
            <a:spAutoFit/>
          </a:bodyPr>
          <a:lstStyle/>
          <a:p>
            <a:r>
              <a:rPr lang="en-US" sz="2400" b="1" dirty="0"/>
              <a:t>A. GSC1</a:t>
            </a:r>
          </a:p>
        </p:txBody>
      </p:sp>
      <p:sp>
        <p:nvSpPr>
          <p:cNvPr id="29" name="TextBox 28">
            <a:extLst>
              <a:ext uri="{FF2B5EF4-FFF2-40B4-BE49-F238E27FC236}">
                <a16:creationId xmlns:a16="http://schemas.microsoft.com/office/drawing/2014/main" id="{786166F2-E6C9-0C5A-5CA1-5E116A7656C2}"/>
              </a:ext>
            </a:extLst>
          </p:cNvPr>
          <p:cNvSpPr txBox="1"/>
          <p:nvPr/>
        </p:nvSpPr>
        <p:spPr>
          <a:xfrm>
            <a:off x="6192421" y="-780628"/>
            <a:ext cx="1168747" cy="461665"/>
          </a:xfrm>
          <a:prstGeom prst="rect">
            <a:avLst/>
          </a:prstGeom>
          <a:noFill/>
        </p:spPr>
        <p:txBody>
          <a:bodyPr wrap="square" rtlCol="0">
            <a:spAutoFit/>
          </a:bodyPr>
          <a:lstStyle/>
          <a:p>
            <a:r>
              <a:rPr lang="en-US" sz="2400" b="1" dirty="0"/>
              <a:t>B. GSC2</a:t>
            </a:r>
          </a:p>
        </p:txBody>
      </p:sp>
      <p:sp>
        <p:nvSpPr>
          <p:cNvPr id="30" name="TextBox 29">
            <a:extLst>
              <a:ext uri="{FF2B5EF4-FFF2-40B4-BE49-F238E27FC236}">
                <a16:creationId xmlns:a16="http://schemas.microsoft.com/office/drawing/2014/main" id="{336BBD65-913E-AA2A-B325-5AC33AE64B69}"/>
              </a:ext>
            </a:extLst>
          </p:cNvPr>
          <p:cNvSpPr txBox="1"/>
          <p:nvPr/>
        </p:nvSpPr>
        <p:spPr>
          <a:xfrm>
            <a:off x="1879938" y="5552914"/>
            <a:ext cx="1168747" cy="461665"/>
          </a:xfrm>
          <a:prstGeom prst="rect">
            <a:avLst/>
          </a:prstGeom>
          <a:noFill/>
        </p:spPr>
        <p:txBody>
          <a:bodyPr wrap="square" rtlCol="0">
            <a:spAutoFit/>
          </a:bodyPr>
          <a:lstStyle/>
          <a:p>
            <a:r>
              <a:rPr lang="en-US" sz="2400" b="1" dirty="0"/>
              <a:t>C. GSC3</a:t>
            </a:r>
          </a:p>
        </p:txBody>
      </p:sp>
      <p:sp>
        <p:nvSpPr>
          <p:cNvPr id="18" name="TextBox 17">
            <a:extLst>
              <a:ext uri="{FF2B5EF4-FFF2-40B4-BE49-F238E27FC236}">
                <a16:creationId xmlns:a16="http://schemas.microsoft.com/office/drawing/2014/main" id="{9EAD400C-0117-6541-348A-74772A21C147}"/>
              </a:ext>
            </a:extLst>
          </p:cNvPr>
          <p:cNvSpPr txBox="1"/>
          <p:nvPr/>
        </p:nvSpPr>
        <p:spPr>
          <a:xfrm rot="16200000">
            <a:off x="6697464" y="4417774"/>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21" name="TextBox 20">
            <a:extLst>
              <a:ext uri="{FF2B5EF4-FFF2-40B4-BE49-F238E27FC236}">
                <a16:creationId xmlns:a16="http://schemas.microsoft.com/office/drawing/2014/main" id="{4E2509A8-023F-34FC-23B7-FFF49C1D49AA}"/>
              </a:ext>
            </a:extLst>
          </p:cNvPr>
          <p:cNvSpPr txBox="1"/>
          <p:nvPr/>
        </p:nvSpPr>
        <p:spPr>
          <a:xfrm rot="16200000">
            <a:off x="7279586" y="4337515"/>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31" name="TextBox 30">
            <a:extLst>
              <a:ext uri="{FF2B5EF4-FFF2-40B4-BE49-F238E27FC236}">
                <a16:creationId xmlns:a16="http://schemas.microsoft.com/office/drawing/2014/main" id="{02147654-572D-907B-3911-0A7B6DC7D0C0}"/>
              </a:ext>
            </a:extLst>
          </p:cNvPr>
          <p:cNvSpPr txBox="1"/>
          <p:nvPr/>
        </p:nvSpPr>
        <p:spPr>
          <a:xfrm rot="16200000">
            <a:off x="8553516" y="4097731"/>
            <a:ext cx="849779" cy="369332"/>
          </a:xfrm>
          <a:prstGeom prst="rect">
            <a:avLst/>
          </a:prstGeom>
          <a:noFill/>
        </p:spPr>
        <p:txBody>
          <a:bodyPr wrap="square" rtlCol="0">
            <a:spAutoFit/>
          </a:bodyPr>
          <a:lstStyle/>
          <a:p>
            <a:r>
              <a:rPr lang="en-US" dirty="0"/>
              <a:t>CT 1</a:t>
            </a:r>
          </a:p>
        </p:txBody>
      </p:sp>
      <p:sp>
        <p:nvSpPr>
          <p:cNvPr id="32" name="TextBox 31">
            <a:extLst>
              <a:ext uri="{FF2B5EF4-FFF2-40B4-BE49-F238E27FC236}">
                <a16:creationId xmlns:a16="http://schemas.microsoft.com/office/drawing/2014/main" id="{4AA2A457-18A5-B8E8-123E-43248C2E6CA9}"/>
              </a:ext>
            </a:extLst>
          </p:cNvPr>
          <p:cNvSpPr txBox="1"/>
          <p:nvPr/>
        </p:nvSpPr>
        <p:spPr>
          <a:xfrm rot="16200000">
            <a:off x="9014890" y="4097730"/>
            <a:ext cx="849779" cy="369332"/>
          </a:xfrm>
          <a:prstGeom prst="rect">
            <a:avLst/>
          </a:prstGeom>
          <a:noFill/>
        </p:spPr>
        <p:txBody>
          <a:bodyPr wrap="square" rtlCol="0">
            <a:spAutoFit/>
          </a:bodyPr>
          <a:lstStyle/>
          <a:p>
            <a:r>
              <a:rPr lang="en-US" dirty="0"/>
              <a:t>CT 2</a:t>
            </a:r>
          </a:p>
        </p:txBody>
      </p:sp>
      <p:pic>
        <p:nvPicPr>
          <p:cNvPr id="33" name="Picture 32" descr="A screenshot of a computer&#10;&#10;Description automatically generated">
            <a:extLst>
              <a:ext uri="{FF2B5EF4-FFF2-40B4-BE49-F238E27FC236}">
                <a16:creationId xmlns:a16="http://schemas.microsoft.com/office/drawing/2014/main" id="{CCEF17E5-4DD7-7D1C-2CF9-A0F2963483C9}"/>
              </a:ext>
            </a:extLst>
          </p:cNvPr>
          <p:cNvPicPr>
            <a:picLocks noChangeAspect="1"/>
          </p:cNvPicPr>
          <p:nvPr/>
        </p:nvPicPr>
        <p:blipFill rotWithShape="1">
          <a:blip r:embed="rId7"/>
          <a:srcRect l="1014" t="1125"/>
          <a:stretch/>
        </p:blipFill>
        <p:spPr>
          <a:xfrm>
            <a:off x="6446439" y="-386809"/>
            <a:ext cx="5617347" cy="5547769"/>
          </a:xfrm>
          <a:prstGeom prst="rect">
            <a:avLst/>
          </a:prstGeom>
        </p:spPr>
      </p:pic>
      <p:pic>
        <p:nvPicPr>
          <p:cNvPr id="35" name="Picture 34" descr="A screenshot of a computer&#10;&#10;Description automatically generated">
            <a:extLst>
              <a:ext uri="{FF2B5EF4-FFF2-40B4-BE49-F238E27FC236}">
                <a16:creationId xmlns:a16="http://schemas.microsoft.com/office/drawing/2014/main" id="{B1959428-9063-D4AA-778C-5C60EE3500FB}"/>
              </a:ext>
            </a:extLst>
          </p:cNvPr>
          <p:cNvPicPr>
            <a:picLocks noChangeAspect="1"/>
          </p:cNvPicPr>
          <p:nvPr/>
        </p:nvPicPr>
        <p:blipFill rotWithShape="1">
          <a:blip r:embed="rId8"/>
          <a:srcRect t="1514" b="-1"/>
          <a:stretch/>
        </p:blipFill>
        <p:spPr>
          <a:xfrm>
            <a:off x="3506620" y="4792782"/>
            <a:ext cx="4248840" cy="3934412"/>
          </a:xfrm>
          <a:prstGeom prst="rect">
            <a:avLst/>
          </a:prstGeom>
        </p:spPr>
      </p:pic>
    </p:spTree>
    <p:extLst>
      <p:ext uri="{BB962C8B-B14F-4D97-AF65-F5344CB8AC3E}">
        <p14:creationId xmlns:p14="http://schemas.microsoft.com/office/powerpoint/2010/main" val="4276824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A60B756-CC1B-A745-AAE3-2FB1145B80D3}"/>
              </a:ext>
            </a:extLst>
          </p:cNvPr>
          <p:cNvSpPr txBox="1"/>
          <p:nvPr/>
        </p:nvSpPr>
        <p:spPr>
          <a:xfrm>
            <a:off x="594371" y="829916"/>
            <a:ext cx="1151382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Transcriptomic analysis for HDAC-7 siRNA knock down of our 1ry GSCs show </a:t>
            </a:r>
            <a:r>
              <a:rPr lang="en-US" dirty="0">
                <a:solidFill>
                  <a:srgbClr val="FF0000"/>
                </a:solidFill>
              </a:rPr>
              <a:t>1870</a:t>
            </a:r>
            <a:r>
              <a:rPr lang="en-US" dirty="0"/>
              <a:t> genes differentially expressed between the HDAC-7 knock down and the siRNA negative control</a:t>
            </a:r>
          </a:p>
        </p:txBody>
      </p:sp>
      <p:cxnSp>
        <p:nvCxnSpPr>
          <p:cNvPr id="6" name="Straight Arrow Connector 5">
            <a:extLst>
              <a:ext uri="{FF2B5EF4-FFF2-40B4-BE49-F238E27FC236}">
                <a16:creationId xmlns:a16="http://schemas.microsoft.com/office/drawing/2014/main" id="{EDCB66BD-98C5-9444-9B92-7B4F3D6B64C0}"/>
              </a:ext>
            </a:extLst>
          </p:cNvPr>
          <p:cNvCxnSpPr>
            <a:cxnSpLocks/>
          </p:cNvCxnSpPr>
          <p:nvPr/>
        </p:nvCxnSpPr>
        <p:spPr>
          <a:xfrm>
            <a:off x="1499954" y="3044036"/>
            <a:ext cx="10398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B2CC505-90CC-B648-B3FB-AAA83A8540E2}"/>
              </a:ext>
            </a:extLst>
          </p:cNvPr>
          <p:cNvSpPr txBox="1"/>
          <p:nvPr/>
        </p:nvSpPr>
        <p:spPr>
          <a:xfrm>
            <a:off x="101825" y="1917769"/>
            <a:ext cx="1369436" cy="1938992"/>
          </a:xfrm>
          <a:prstGeom prst="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2400" dirty="0"/>
              <a:t>KD HDAC-7 in our 1ry GSCs by siRNA</a:t>
            </a:r>
          </a:p>
        </p:txBody>
      </p:sp>
      <p:sp>
        <p:nvSpPr>
          <p:cNvPr id="13" name="TextBox 12">
            <a:extLst>
              <a:ext uri="{FF2B5EF4-FFF2-40B4-BE49-F238E27FC236}">
                <a16:creationId xmlns:a16="http://schemas.microsoft.com/office/drawing/2014/main" id="{D3425A25-EA5D-9443-AFBC-EF66564D27AA}"/>
              </a:ext>
            </a:extLst>
          </p:cNvPr>
          <p:cNvSpPr txBox="1"/>
          <p:nvPr/>
        </p:nvSpPr>
        <p:spPr>
          <a:xfrm>
            <a:off x="1558122" y="2509465"/>
            <a:ext cx="1066611" cy="369332"/>
          </a:xfrm>
          <a:prstGeom prst="rect">
            <a:avLst/>
          </a:prstGeom>
          <a:noFill/>
        </p:spPr>
        <p:txBody>
          <a:bodyPr wrap="square" rtlCol="0">
            <a:spAutoFit/>
          </a:bodyPr>
          <a:lstStyle/>
          <a:p>
            <a:r>
              <a:rPr lang="en-US" dirty="0" err="1"/>
              <a:t>RNASeq</a:t>
            </a:r>
            <a:endParaRPr lang="en-US" dirty="0"/>
          </a:p>
        </p:txBody>
      </p:sp>
      <p:sp>
        <p:nvSpPr>
          <p:cNvPr id="18" name="Title 1">
            <a:extLst>
              <a:ext uri="{FF2B5EF4-FFF2-40B4-BE49-F238E27FC236}">
                <a16:creationId xmlns:a16="http://schemas.microsoft.com/office/drawing/2014/main" id="{0DED71FF-F9C1-2A44-F3E0-A68A16605B9C}"/>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RNA Seq</a:t>
            </a:r>
          </a:p>
        </p:txBody>
      </p:sp>
      <p:sp>
        <p:nvSpPr>
          <p:cNvPr id="2" name="TextBox 1">
            <a:extLst>
              <a:ext uri="{FF2B5EF4-FFF2-40B4-BE49-F238E27FC236}">
                <a16:creationId xmlns:a16="http://schemas.microsoft.com/office/drawing/2014/main" id="{A8539E51-8C28-27A5-D7A9-E93D88650C10}"/>
              </a:ext>
            </a:extLst>
          </p:cNvPr>
          <p:cNvSpPr txBox="1"/>
          <p:nvPr/>
        </p:nvSpPr>
        <p:spPr>
          <a:xfrm>
            <a:off x="2709673" y="146957"/>
            <a:ext cx="1862327" cy="369332"/>
          </a:xfrm>
          <a:prstGeom prst="rect">
            <a:avLst/>
          </a:prstGeom>
          <a:noFill/>
        </p:spPr>
        <p:txBody>
          <a:bodyPr wrap="square" rtlCol="0">
            <a:spAutoFit/>
          </a:bodyPr>
          <a:lstStyle/>
          <a:p>
            <a:r>
              <a:rPr lang="en-US" dirty="0"/>
              <a:t>GB11 FDR &lt;0.05</a:t>
            </a:r>
          </a:p>
        </p:txBody>
      </p:sp>
      <p:pic>
        <p:nvPicPr>
          <p:cNvPr id="17" name="Picture 16" descr="A graph with a bar chart&#10;&#10;Description automatically generated">
            <a:extLst>
              <a:ext uri="{FF2B5EF4-FFF2-40B4-BE49-F238E27FC236}">
                <a16:creationId xmlns:a16="http://schemas.microsoft.com/office/drawing/2014/main" id="{80CA29AA-D97E-FF46-98D2-2FF54315C7F8}"/>
              </a:ext>
            </a:extLst>
          </p:cNvPr>
          <p:cNvPicPr>
            <a:picLocks noChangeAspect="1"/>
          </p:cNvPicPr>
          <p:nvPr/>
        </p:nvPicPr>
        <p:blipFill>
          <a:blip r:embed="rId3"/>
          <a:stretch>
            <a:fillRect/>
          </a:stretch>
        </p:blipFill>
        <p:spPr>
          <a:xfrm>
            <a:off x="251741" y="3979204"/>
            <a:ext cx="3679371" cy="2464707"/>
          </a:xfrm>
          <a:prstGeom prst="rect">
            <a:avLst/>
          </a:prstGeom>
        </p:spPr>
      </p:pic>
      <p:pic>
        <p:nvPicPr>
          <p:cNvPr id="19" name="Picture 18">
            <a:extLst>
              <a:ext uri="{FF2B5EF4-FFF2-40B4-BE49-F238E27FC236}">
                <a16:creationId xmlns:a16="http://schemas.microsoft.com/office/drawing/2014/main" id="{EED2AD4E-3E20-F2A0-A585-9DBB4E387346}"/>
              </a:ext>
            </a:extLst>
          </p:cNvPr>
          <p:cNvPicPr>
            <a:picLocks noChangeAspect="1"/>
          </p:cNvPicPr>
          <p:nvPr/>
        </p:nvPicPr>
        <p:blipFill rotWithShape="1">
          <a:blip r:embed="rId4"/>
          <a:srcRect b="18429"/>
          <a:stretch/>
        </p:blipFill>
        <p:spPr>
          <a:xfrm>
            <a:off x="3959805" y="1826153"/>
            <a:ext cx="7786915" cy="4078702"/>
          </a:xfrm>
          <a:prstGeom prst="rect">
            <a:avLst/>
          </a:prstGeom>
        </p:spPr>
      </p:pic>
      <p:sp>
        <p:nvSpPr>
          <p:cNvPr id="20" name="TextBox 19">
            <a:extLst>
              <a:ext uri="{FF2B5EF4-FFF2-40B4-BE49-F238E27FC236}">
                <a16:creationId xmlns:a16="http://schemas.microsoft.com/office/drawing/2014/main" id="{DB21A48D-BC32-FD0C-BC85-057472ABD1D2}"/>
              </a:ext>
            </a:extLst>
          </p:cNvPr>
          <p:cNvSpPr txBox="1"/>
          <p:nvPr/>
        </p:nvSpPr>
        <p:spPr>
          <a:xfrm>
            <a:off x="10569307" y="1826152"/>
            <a:ext cx="1622693" cy="646331"/>
          </a:xfrm>
          <a:prstGeom prst="rect">
            <a:avLst/>
          </a:prstGeom>
          <a:solidFill>
            <a:schemeClr val="bg1"/>
          </a:solidFill>
        </p:spPr>
        <p:txBody>
          <a:bodyPr wrap="square" rtlCol="0">
            <a:spAutoFit/>
          </a:bodyPr>
          <a:lstStyle/>
          <a:p>
            <a:r>
              <a:rPr lang="en-US" dirty="0"/>
              <a:t>Experimental design: GBM</a:t>
            </a:r>
          </a:p>
        </p:txBody>
      </p:sp>
      <p:sp>
        <p:nvSpPr>
          <p:cNvPr id="3" name="TextBox 2">
            <a:extLst>
              <a:ext uri="{FF2B5EF4-FFF2-40B4-BE49-F238E27FC236}">
                <a16:creationId xmlns:a16="http://schemas.microsoft.com/office/drawing/2014/main" id="{8FF36B9C-3229-5130-7E49-77463B89AF15}"/>
              </a:ext>
            </a:extLst>
          </p:cNvPr>
          <p:cNvSpPr txBox="1"/>
          <p:nvPr/>
        </p:nvSpPr>
        <p:spPr>
          <a:xfrm rot="16200000">
            <a:off x="4718555" y="6259245"/>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4" name="TextBox 3">
            <a:extLst>
              <a:ext uri="{FF2B5EF4-FFF2-40B4-BE49-F238E27FC236}">
                <a16:creationId xmlns:a16="http://schemas.microsoft.com/office/drawing/2014/main" id="{BA5236E5-C481-D4CA-4DBB-68EC984660A1}"/>
              </a:ext>
            </a:extLst>
          </p:cNvPr>
          <p:cNvSpPr txBox="1"/>
          <p:nvPr/>
        </p:nvSpPr>
        <p:spPr>
          <a:xfrm rot="16200000">
            <a:off x="5642373" y="6421523"/>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5" name="TextBox 4">
            <a:extLst>
              <a:ext uri="{FF2B5EF4-FFF2-40B4-BE49-F238E27FC236}">
                <a16:creationId xmlns:a16="http://schemas.microsoft.com/office/drawing/2014/main" id="{49101E64-2D54-7186-87CC-49314D758EF2}"/>
              </a:ext>
            </a:extLst>
          </p:cNvPr>
          <p:cNvSpPr txBox="1"/>
          <p:nvPr/>
        </p:nvSpPr>
        <p:spPr>
          <a:xfrm rot="16200000">
            <a:off x="6598578" y="6145077"/>
            <a:ext cx="849779" cy="369332"/>
          </a:xfrm>
          <a:prstGeom prst="rect">
            <a:avLst/>
          </a:prstGeom>
          <a:noFill/>
        </p:spPr>
        <p:txBody>
          <a:bodyPr wrap="square" rtlCol="0">
            <a:spAutoFit/>
          </a:bodyPr>
          <a:lstStyle/>
          <a:p>
            <a:r>
              <a:rPr lang="en-US" dirty="0"/>
              <a:t>CT 1</a:t>
            </a:r>
          </a:p>
        </p:txBody>
      </p:sp>
      <p:sp>
        <p:nvSpPr>
          <p:cNvPr id="7" name="TextBox 6">
            <a:extLst>
              <a:ext uri="{FF2B5EF4-FFF2-40B4-BE49-F238E27FC236}">
                <a16:creationId xmlns:a16="http://schemas.microsoft.com/office/drawing/2014/main" id="{E0147420-4729-5091-E844-DBF1B782EFDC}"/>
              </a:ext>
            </a:extLst>
          </p:cNvPr>
          <p:cNvSpPr txBox="1"/>
          <p:nvPr/>
        </p:nvSpPr>
        <p:spPr>
          <a:xfrm rot="16200000">
            <a:off x="7554457" y="6145078"/>
            <a:ext cx="849779" cy="369332"/>
          </a:xfrm>
          <a:prstGeom prst="rect">
            <a:avLst/>
          </a:prstGeom>
          <a:noFill/>
        </p:spPr>
        <p:txBody>
          <a:bodyPr wrap="square" rtlCol="0">
            <a:spAutoFit/>
          </a:bodyPr>
          <a:lstStyle/>
          <a:p>
            <a:r>
              <a:rPr lang="en-US" dirty="0"/>
              <a:t>CT 2</a:t>
            </a:r>
          </a:p>
        </p:txBody>
      </p:sp>
    </p:spTree>
    <p:extLst>
      <p:ext uri="{BB962C8B-B14F-4D97-AF65-F5344CB8AC3E}">
        <p14:creationId xmlns:p14="http://schemas.microsoft.com/office/powerpoint/2010/main" val="4057454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A60B756-CC1B-A745-AAE3-2FB1145B80D3}"/>
              </a:ext>
            </a:extLst>
          </p:cNvPr>
          <p:cNvSpPr txBox="1"/>
          <p:nvPr/>
        </p:nvSpPr>
        <p:spPr>
          <a:xfrm>
            <a:off x="594371" y="829916"/>
            <a:ext cx="1151382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Transcriptomic analysis for HDAC-7 siRNA knock down of our 1ry GSCs show </a:t>
            </a:r>
            <a:r>
              <a:rPr lang="en-US" dirty="0">
                <a:solidFill>
                  <a:srgbClr val="FF0000"/>
                </a:solidFill>
              </a:rPr>
              <a:t>1342</a:t>
            </a:r>
            <a:r>
              <a:rPr lang="en-US" dirty="0"/>
              <a:t> genes differentially expressed between the HDAC-7 knock down and the siRNA negative control</a:t>
            </a:r>
          </a:p>
        </p:txBody>
      </p:sp>
      <p:cxnSp>
        <p:nvCxnSpPr>
          <p:cNvPr id="6" name="Straight Arrow Connector 5">
            <a:extLst>
              <a:ext uri="{FF2B5EF4-FFF2-40B4-BE49-F238E27FC236}">
                <a16:creationId xmlns:a16="http://schemas.microsoft.com/office/drawing/2014/main" id="{EDCB66BD-98C5-9444-9B92-7B4F3D6B64C0}"/>
              </a:ext>
            </a:extLst>
          </p:cNvPr>
          <p:cNvCxnSpPr>
            <a:cxnSpLocks/>
          </p:cNvCxnSpPr>
          <p:nvPr/>
        </p:nvCxnSpPr>
        <p:spPr>
          <a:xfrm>
            <a:off x="1499954" y="3044036"/>
            <a:ext cx="10398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B2CC505-90CC-B648-B3FB-AAA83A8540E2}"/>
              </a:ext>
            </a:extLst>
          </p:cNvPr>
          <p:cNvSpPr txBox="1"/>
          <p:nvPr/>
        </p:nvSpPr>
        <p:spPr>
          <a:xfrm>
            <a:off x="101825" y="1917769"/>
            <a:ext cx="1369436" cy="1938992"/>
          </a:xfrm>
          <a:prstGeom prst="rect">
            <a:avLst/>
          </a:prstGeom>
          <a:solidFill>
            <a:schemeClr val="bg1">
              <a:lumMod val="95000"/>
            </a:schemeClr>
          </a:solidFill>
          <a:ln>
            <a:noFill/>
          </a:ln>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2400" dirty="0"/>
              <a:t>KD HDAC-7 in our 1ry GSCs by siRNA</a:t>
            </a:r>
          </a:p>
        </p:txBody>
      </p:sp>
      <p:sp>
        <p:nvSpPr>
          <p:cNvPr id="13" name="TextBox 12">
            <a:extLst>
              <a:ext uri="{FF2B5EF4-FFF2-40B4-BE49-F238E27FC236}">
                <a16:creationId xmlns:a16="http://schemas.microsoft.com/office/drawing/2014/main" id="{D3425A25-EA5D-9443-AFBC-EF66564D27AA}"/>
              </a:ext>
            </a:extLst>
          </p:cNvPr>
          <p:cNvSpPr txBox="1"/>
          <p:nvPr/>
        </p:nvSpPr>
        <p:spPr>
          <a:xfrm>
            <a:off x="1558122" y="2509465"/>
            <a:ext cx="1066611" cy="369332"/>
          </a:xfrm>
          <a:prstGeom prst="rect">
            <a:avLst/>
          </a:prstGeom>
          <a:noFill/>
        </p:spPr>
        <p:txBody>
          <a:bodyPr wrap="square" rtlCol="0">
            <a:spAutoFit/>
          </a:bodyPr>
          <a:lstStyle/>
          <a:p>
            <a:r>
              <a:rPr lang="en-US" dirty="0" err="1"/>
              <a:t>RNASeq</a:t>
            </a:r>
            <a:endParaRPr lang="en-US" dirty="0"/>
          </a:p>
        </p:txBody>
      </p:sp>
      <p:sp>
        <p:nvSpPr>
          <p:cNvPr id="15" name="TextBox 14">
            <a:extLst>
              <a:ext uri="{FF2B5EF4-FFF2-40B4-BE49-F238E27FC236}">
                <a16:creationId xmlns:a16="http://schemas.microsoft.com/office/drawing/2014/main" id="{71373B43-D1A9-BA1C-708E-99F093173E25}"/>
              </a:ext>
            </a:extLst>
          </p:cNvPr>
          <p:cNvSpPr txBox="1"/>
          <p:nvPr/>
        </p:nvSpPr>
        <p:spPr>
          <a:xfrm>
            <a:off x="6617240" y="1826152"/>
            <a:ext cx="1622693" cy="646331"/>
          </a:xfrm>
          <a:prstGeom prst="rect">
            <a:avLst/>
          </a:prstGeom>
          <a:solidFill>
            <a:schemeClr val="bg1"/>
          </a:solidFill>
        </p:spPr>
        <p:txBody>
          <a:bodyPr wrap="square" rtlCol="0">
            <a:spAutoFit/>
          </a:bodyPr>
          <a:lstStyle/>
          <a:p>
            <a:r>
              <a:rPr lang="en-US" dirty="0"/>
              <a:t>Experimental design: GBM</a:t>
            </a:r>
          </a:p>
        </p:txBody>
      </p:sp>
      <p:sp>
        <p:nvSpPr>
          <p:cNvPr id="18" name="Title 1">
            <a:extLst>
              <a:ext uri="{FF2B5EF4-FFF2-40B4-BE49-F238E27FC236}">
                <a16:creationId xmlns:a16="http://schemas.microsoft.com/office/drawing/2014/main" id="{0DED71FF-F9C1-2A44-F3E0-A68A16605B9C}"/>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RNA Seq</a:t>
            </a:r>
          </a:p>
        </p:txBody>
      </p:sp>
      <p:sp>
        <p:nvSpPr>
          <p:cNvPr id="2" name="TextBox 1">
            <a:extLst>
              <a:ext uri="{FF2B5EF4-FFF2-40B4-BE49-F238E27FC236}">
                <a16:creationId xmlns:a16="http://schemas.microsoft.com/office/drawing/2014/main" id="{A8539E51-8C28-27A5-D7A9-E93D88650C10}"/>
              </a:ext>
            </a:extLst>
          </p:cNvPr>
          <p:cNvSpPr txBox="1"/>
          <p:nvPr/>
        </p:nvSpPr>
        <p:spPr>
          <a:xfrm>
            <a:off x="2709673" y="146957"/>
            <a:ext cx="1862327" cy="369332"/>
          </a:xfrm>
          <a:prstGeom prst="rect">
            <a:avLst/>
          </a:prstGeom>
          <a:noFill/>
        </p:spPr>
        <p:txBody>
          <a:bodyPr wrap="square" rtlCol="0">
            <a:spAutoFit/>
          </a:bodyPr>
          <a:lstStyle/>
          <a:p>
            <a:r>
              <a:rPr lang="en-US" dirty="0"/>
              <a:t>GB24 FDR &lt;0.05</a:t>
            </a:r>
          </a:p>
        </p:txBody>
      </p:sp>
      <p:pic>
        <p:nvPicPr>
          <p:cNvPr id="7" name="Picture 6">
            <a:extLst>
              <a:ext uri="{FF2B5EF4-FFF2-40B4-BE49-F238E27FC236}">
                <a16:creationId xmlns:a16="http://schemas.microsoft.com/office/drawing/2014/main" id="{6472F663-86E2-A4C6-D83C-0A85CBCC2A9D}"/>
              </a:ext>
            </a:extLst>
          </p:cNvPr>
          <p:cNvPicPr>
            <a:picLocks noChangeAspect="1"/>
          </p:cNvPicPr>
          <p:nvPr/>
        </p:nvPicPr>
        <p:blipFill rotWithShape="1">
          <a:blip r:embed="rId3"/>
          <a:srcRect t="663" b="-1"/>
          <a:stretch/>
        </p:blipFill>
        <p:spPr>
          <a:xfrm>
            <a:off x="283179" y="4021999"/>
            <a:ext cx="4173062" cy="2779075"/>
          </a:xfrm>
          <a:prstGeom prst="rect">
            <a:avLst/>
          </a:prstGeom>
        </p:spPr>
      </p:pic>
      <p:pic>
        <p:nvPicPr>
          <p:cNvPr id="21" name="Picture 20" descr="A screenshot of a computer&#10;&#10;Description automatically generated">
            <a:extLst>
              <a:ext uri="{FF2B5EF4-FFF2-40B4-BE49-F238E27FC236}">
                <a16:creationId xmlns:a16="http://schemas.microsoft.com/office/drawing/2014/main" id="{93A52D83-E915-0698-6CEB-FB8E529AD359}"/>
              </a:ext>
            </a:extLst>
          </p:cNvPr>
          <p:cNvPicPr>
            <a:picLocks noChangeAspect="1"/>
          </p:cNvPicPr>
          <p:nvPr/>
        </p:nvPicPr>
        <p:blipFill rotWithShape="1">
          <a:blip r:embed="rId4"/>
          <a:srcRect t="873" b="16214"/>
          <a:stretch/>
        </p:blipFill>
        <p:spPr bwMode="auto">
          <a:xfrm>
            <a:off x="4766701" y="1660913"/>
            <a:ext cx="5421630" cy="3812540"/>
          </a:xfrm>
          <a:prstGeom prst="rect">
            <a:avLst/>
          </a:prstGeom>
          <a:ln>
            <a:noFill/>
          </a:ln>
          <a:extLst>
            <a:ext uri="{53640926-AAD7-44D8-BBD7-CCE9431645EC}">
              <a14:shadowObscured xmlns:a14="http://schemas.microsoft.com/office/drawing/2010/main"/>
            </a:ext>
          </a:extLst>
        </p:spPr>
      </p:pic>
      <p:sp>
        <p:nvSpPr>
          <p:cNvPr id="22" name="TextBox 21">
            <a:extLst>
              <a:ext uri="{FF2B5EF4-FFF2-40B4-BE49-F238E27FC236}">
                <a16:creationId xmlns:a16="http://schemas.microsoft.com/office/drawing/2014/main" id="{5F6BF630-CFCF-9469-1FD3-638651F84B8F}"/>
              </a:ext>
            </a:extLst>
          </p:cNvPr>
          <p:cNvSpPr txBox="1"/>
          <p:nvPr/>
        </p:nvSpPr>
        <p:spPr>
          <a:xfrm rot="16200000">
            <a:off x="4997050" y="5775799"/>
            <a:ext cx="1464590" cy="369332"/>
          </a:xfrm>
          <a:prstGeom prst="rect">
            <a:avLst/>
          </a:prstGeom>
          <a:noFill/>
        </p:spPr>
        <p:txBody>
          <a:bodyPr wrap="square" rtlCol="0">
            <a:spAutoFit/>
          </a:bodyPr>
          <a:lstStyle/>
          <a:p>
            <a:r>
              <a:rPr lang="en-US" dirty="0"/>
              <a:t>HDAC7 </a:t>
            </a:r>
            <a:r>
              <a:rPr lang="en-US" dirty="0" err="1"/>
              <a:t>Kd</a:t>
            </a:r>
            <a:r>
              <a:rPr lang="en-US" dirty="0"/>
              <a:t> 1</a:t>
            </a:r>
          </a:p>
        </p:txBody>
      </p:sp>
      <p:sp>
        <p:nvSpPr>
          <p:cNvPr id="23" name="TextBox 22">
            <a:extLst>
              <a:ext uri="{FF2B5EF4-FFF2-40B4-BE49-F238E27FC236}">
                <a16:creationId xmlns:a16="http://schemas.microsoft.com/office/drawing/2014/main" id="{774EF742-B046-0F15-CDAA-7802FF324897}"/>
              </a:ext>
            </a:extLst>
          </p:cNvPr>
          <p:cNvSpPr txBox="1"/>
          <p:nvPr/>
        </p:nvSpPr>
        <p:spPr>
          <a:xfrm rot="16200000">
            <a:off x="5688867" y="5793926"/>
            <a:ext cx="1464590" cy="369332"/>
          </a:xfrm>
          <a:prstGeom prst="rect">
            <a:avLst/>
          </a:prstGeom>
          <a:noFill/>
        </p:spPr>
        <p:txBody>
          <a:bodyPr wrap="square" rtlCol="0">
            <a:spAutoFit/>
          </a:bodyPr>
          <a:lstStyle/>
          <a:p>
            <a:r>
              <a:rPr lang="en-US" dirty="0"/>
              <a:t>HDAC7 </a:t>
            </a:r>
            <a:r>
              <a:rPr lang="en-US" dirty="0" err="1"/>
              <a:t>Kd</a:t>
            </a:r>
            <a:r>
              <a:rPr lang="en-US" dirty="0"/>
              <a:t> 2</a:t>
            </a:r>
          </a:p>
        </p:txBody>
      </p:sp>
      <p:sp>
        <p:nvSpPr>
          <p:cNvPr id="24" name="TextBox 23">
            <a:extLst>
              <a:ext uri="{FF2B5EF4-FFF2-40B4-BE49-F238E27FC236}">
                <a16:creationId xmlns:a16="http://schemas.microsoft.com/office/drawing/2014/main" id="{81487972-18CD-6F42-9200-76F5F0B62BA3}"/>
              </a:ext>
            </a:extLst>
          </p:cNvPr>
          <p:cNvSpPr txBox="1"/>
          <p:nvPr/>
        </p:nvSpPr>
        <p:spPr>
          <a:xfrm rot="16200000">
            <a:off x="6645072" y="5517480"/>
            <a:ext cx="849779" cy="369332"/>
          </a:xfrm>
          <a:prstGeom prst="rect">
            <a:avLst/>
          </a:prstGeom>
          <a:noFill/>
        </p:spPr>
        <p:txBody>
          <a:bodyPr wrap="square" rtlCol="0">
            <a:spAutoFit/>
          </a:bodyPr>
          <a:lstStyle/>
          <a:p>
            <a:r>
              <a:rPr lang="en-US" dirty="0"/>
              <a:t>CT1</a:t>
            </a:r>
          </a:p>
        </p:txBody>
      </p:sp>
      <p:sp>
        <p:nvSpPr>
          <p:cNvPr id="25" name="TextBox 24">
            <a:extLst>
              <a:ext uri="{FF2B5EF4-FFF2-40B4-BE49-F238E27FC236}">
                <a16:creationId xmlns:a16="http://schemas.microsoft.com/office/drawing/2014/main" id="{FB1B13C3-6634-CCA9-C2EB-AF5C5D14A239}"/>
              </a:ext>
            </a:extLst>
          </p:cNvPr>
          <p:cNvSpPr txBox="1"/>
          <p:nvPr/>
        </p:nvSpPr>
        <p:spPr>
          <a:xfrm rot="16200000">
            <a:off x="7256949" y="5517481"/>
            <a:ext cx="849779" cy="369332"/>
          </a:xfrm>
          <a:prstGeom prst="rect">
            <a:avLst/>
          </a:prstGeom>
          <a:noFill/>
        </p:spPr>
        <p:txBody>
          <a:bodyPr wrap="square" rtlCol="0">
            <a:spAutoFit/>
          </a:bodyPr>
          <a:lstStyle/>
          <a:p>
            <a:r>
              <a:rPr lang="en-US" dirty="0"/>
              <a:t>CT2</a:t>
            </a:r>
          </a:p>
        </p:txBody>
      </p:sp>
    </p:spTree>
    <p:extLst>
      <p:ext uri="{BB962C8B-B14F-4D97-AF65-F5344CB8AC3E}">
        <p14:creationId xmlns:p14="http://schemas.microsoft.com/office/powerpoint/2010/main" val="344862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red dots&#10;&#10;Description automatically generated">
            <a:extLst>
              <a:ext uri="{FF2B5EF4-FFF2-40B4-BE49-F238E27FC236}">
                <a16:creationId xmlns:a16="http://schemas.microsoft.com/office/drawing/2014/main" id="{B09E4307-65A8-58FB-4645-840F1FB46E47}"/>
              </a:ext>
            </a:extLst>
          </p:cNvPr>
          <p:cNvPicPr>
            <a:picLocks noChangeAspect="1"/>
          </p:cNvPicPr>
          <p:nvPr/>
        </p:nvPicPr>
        <p:blipFill>
          <a:blip r:embed="rId2"/>
          <a:stretch>
            <a:fillRect/>
          </a:stretch>
        </p:blipFill>
        <p:spPr>
          <a:xfrm>
            <a:off x="723469" y="0"/>
            <a:ext cx="10249331" cy="7235058"/>
          </a:xfrm>
          <a:prstGeom prst="rect">
            <a:avLst/>
          </a:prstGeom>
        </p:spPr>
      </p:pic>
    </p:spTree>
    <p:extLst>
      <p:ext uri="{BB962C8B-B14F-4D97-AF65-F5344CB8AC3E}">
        <p14:creationId xmlns:p14="http://schemas.microsoft.com/office/powerpoint/2010/main" val="2846340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375D8B4-D7B7-DF41-5C77-AF3E183F13D4}"/>
              </a:ext>
            </a:extLst>
          </p:cNvPr>
          <p:cNvPicPr>
            <a:picLocks noChangeAspect="1"/>
          </p:cNvPicPr>
          <p:nvPr/>
        </p:nvPicPr>
        <p:blipFill>
          <a:blip r:embed="rId2"/>
          <a:stretch>
            <a:fillRect/>
          </a:stretch>
        </p:blipFill>
        <p:spPr>
          <a:xfrm>
            <a:off x="-3427243" y="-1026452"/>
            <a:ext cx="7772400" cy="4467600"/>
          </a:xfrm>
          <a:prstGeom prst="rect">
            <a:avLst/>
          </a:prstGeom>
        </p:spPr>
      </p:pic>
      <p:sp>
        <p:nvSpPr>
          <p:cNvPr id="15" name="TextBox 14">
            <a:extLst>
              <a:ext uri="{FF2B5EF4-FFF2-40B4-BE49-F238E27FC236}">
                <a16:creationId xmlns:a16="http://schemas.microsoft.com/office/drawing/2014/main" id="{D5A2C9F5-CF8A-BEC0-4FDA-209E7AEF2B3E}"/>
              </a:ext>
            </a:extLst>
          </p:cNvPr>
          <p:cNvSpPr txBox="1"/>
          <p:nvPr/>
        </p:nvSpPr>
        <p:spPr>
          <a:xfrm>
            <a:off x="-3243945" y="-1257285"/>
            <a:ext cx="1253438" cy="461665"/>
          </a:xfrm>
          <a:prstGeom prst="rect">
            <a:avLst/>
          </a:prstGeom>
          <a:solidFill>
            <a:schemeClr val="bg1"/>
          </a:solidFill>
        </p:spPr>
        <p:txBody>
          <a:bodyPr wrap="square" rtlCol="0">
            <a:spAutoFit/>
          </a:bodyPr>
          <a:lstStyle/>
          <a:p>
            <a:r>
              <a:rPr lang="en-US" sz="2400" b="1" dirty="0"/>
              <a:t>D. GSC1</a:t>
            </a:r>
          </a:p>
        </p:txBody>
      </p:sp>
      <p:pic>
        <p:nvPicPr>
          <p:cNvPr id="20" name="Picture 19" descr="A graph of a graph with red and green dots&#10;&#10;Description automatically generated">
            <a:extLst>
              <a:ext uri="{FF2B5EF4-FFF2-40B4-BE49-F238E27FC236}">
                <a16:creationId xmlns:a16="http://schemas.microsoft.com/office/drawing/2014/main" id="{F3397B15-8B37-E835-475C-194E0B3671E8}"/>
              </a:ext>
            </a:extLst>
          </p:cNvPr>
          <p:cNvPicPr>
            <a:picLocks noChangeAspect="1"/>
          </p:cNvPicPr>
          <p:nvPr/>
        </p:nvPicPr>
        <p:blipFill rotWithShape="1">
          <a:blip r:embed="rId3"/>
          <a:srcRect r="2449"/>
          <a:stretch/>
        </p:blipFill>
        <p:spPr>
          <a:xfrm>
            <a:off x="4861530" y="-1026452"/>
            <a:ext cx="7580843" cy="4422911"/>
          </a:xfrm>
          <a:prstGeom prst="rect">
            <a:avLst/>
          </a:prstGeom>
        </p:spPr>
      </p:pic>
      <p:sp>
        <p:nvSpPr>
          <p:cNvPr id="21" name="TextBox 20">
            <a:extLst>
              <a:ext uri="{FF2B5EF4-FFF2-40B4-BE49-F238E27FC236}">
                <a16:creationId xmlns:a16="http://schemas.microsoft.com/office/drawing/2014/main" id="{368DB11A-7760-26CA-CB47-1FC14AF116A0}"/>
              </a:ext>
            </a:extLst>
          </p:cNvPr>
          <p:cNvSpPr txBox="1"/>
          <p:nvPr/>
        </p:nvSpPr>
        <p:spPr>
          <a:xfrm>
            <a:off x="7600711" y="2917928"/>
            <a:ext cx="2777588" cy="461665"/>
          </a:xfrm>
          <a:prstGeom prst="rect">
            <a:avLst/>
          </a:prstGeom>
          <a:solidFill>
            <a:schemeClr val="bg1"/>
          </a:solidFill>
        </p:spPr>
        <p:txBody>
          <a:bodyPr wrap="square" rtlCol="0">
            <a:spAutoFit/>
          </a:bodyPr>
          <a:lstStyle/>
          <a:p>
            <a:pPr algn="ctr"/>
            <a:r>
              <a:rPr lang="en-US" sz="2400" dirty="0"/>
              <a:t>Log</a:t>
            </a:r>
            <a:r>
              <a:rPr lang="en-US" sz="2400" baseline="-25000" dirty="0"/>
              <a:t>2</a:t>
            </a:r>
            <a:r>
              <a:rPr lang="en-US" sz="2400" dirty="0"/>
              <a:t> fold change</a:t>
            </a:r>
          </a:p>
        </p:txBody>
      </p:sp>
      <p:sp>
        <p:nvSpPr>
          <p:cNvPr id="22" name="TextBox 21">
            <a:extLst>
              <a:ext uri="{FF2B5EF4-FFF2-40B4-BE49-F238E27FC236}">
                <a16:creationId xmlns:a16="http://schemas.microsoft.com/office/drawing/2014/main" id="{EC622CCF-FBCA-4103-A575-672721FA2492}"/>
              </a:ext>
            </a:extLst>
          </p:cNvPr>
          <p:cNvSpPr txBox="1"/>
          <p:nvPr/>
        </p:nvSpPr>
        <p:spPr>
          <a:xfrm rot="16200000">
            <a:off x="3459250" y="496635"/>
            <a:ext cx="2777588" cy="461665"/>
          </a:xfrm>
          <a:prstGeom prst="rect">
            <a:avLst/>
          </a:prstGeom>
          <a:solidFill>
            <a:schemeClr val="bg1"/>
          </a:solidFill>
        </p:spPr>
        <p:txBody>
          <a:bodyPr wrap="square" rtlCol="0">
            <a:spAutoFit/>
          </a:bodyPr>
          <a:lstStyle/>
          <a:p>
            <a:r>
              <a:rPr lang="en-US" sz="2400" dirty="0"/>
              <a:t>-Log</a:t>
            </a:r>
            <a:r>
              <a:rPr lang="en-US" sz="2400" baseline="-25000" dirty="0"/>
              <a:t>10</a:t>
            </a:r>
            <a:r>
              <a:rPr lang="en-US" sz="2400" dirty="0"/>
              <a:t> </a:t>
            </a:r>
            <a:r>
              <a:rPr lang="en-US" sz="2400" i="1" dirty="0"/>
              <a:t>P</a:t>
            </a:r>
          </a:p>
        </p:txBody>
      </p:sp>
      <p:pic>
        <p:nvPicPr>
          <p:cNvPr id="23" name="Picture 22" descr="A graph with red blue and green dots&#10;&#10;Description automatically generated">
            <a:extLst>
              <a:ext uri="{FF2B5EF4-FFF2-40B4-BE49-F238E27FC236}">
                <a16:creationId xmlns:a16="http://schemas.microsoft.com/office/drawing/2014/main" id="{1D453D27-029C-4EC9-F3AB-FDE1769B094A}"/>
              </a:ext>
            </a:extLst>
          </p:cNvPr>
          <p:cNvPicPr>
            <a:picLocks noChangeAspect="1"/>
          </p:cNvPicPr>
          <p:nvPr/>
        </p:nvPicPr>
        <p:blipFill>
          <a:blip r:embed="rId4"/>
          <a:stretch>
            <a:fillRect/>
          </a:stretch>
        </p:blipFill>
        <p:spPr>
          <a:xfrm>
            <a:off x="762238" y="3971713"/>
            <a:ext cx="7934080" cy="3893768"/>
          </a:xfrm>
          <a:prstGeom prst="rect">
            <a:avLst/>
          </a:prstGeom>
        </p:spPr>
      </p:pic>
      <p:sp>
        <p:nvSpPr>
          <p:cNvPr id="24" name="TextBox 23">
            <a:extLst>
              <a:ext uri="{FF2B5EF4-FFF2-40B4-BE49-F238E27FC236}">
                <a16:creationId xmlns:a16="http://schemas.microsoft.com/office/drawing/2014/main" id="{51318A40-B79E-16CE-D567-68B5D161D0E6}"/>
              </a:ext>
            </a:extLst>
          </p:cNvPr>
          <p:cNvSpPr txBox="1"/>
          <p:nvPr/>
        </p:nvSpPr>
        <p:spPr>
          <a:xfrm>
            <a:off x="3172985" y="7489564"/>
            <a:ext cx="2777588" cy="461665"/>
          </a:xfrm>
          <a:prstGeom prst="rect">
            <a:avLst/>
          </a:prstGeom>
          <a:solidFill>
            <a:schemeClr val="bg1"/>
          </a:solidFill>
        </p:spPr>
        <p:txBody>
          <a:bodyPr wrap="square" rtlCol="0">
            <a:spAutoFit/>
          </a:bodyPr>
          <a:lstStyle/>
          <a:p>
            <a:pPr algn="ctr"/>
            <a:r>
              <a:rPr lang="en-US" sz="2400" dirty="0"/>
              <a:t>Log</a:t>
            </a:r>
            <a:r>
              <a:rPr lang="en-US" sz="2400" baseline="-25000" dirty="0"/>
              <a:t>2</a:t>
            </a:r>
            <a:r>
              <a:rPr lang="en-US" sz="2400" dirty="0"/>
              <a:t> fold change</a:t>
            </a:r>
          </a:p>
        </p:txBody>
      </p:sp>
      <p:sp>
        <p:nvSpPr>
          <p:cNvPr id="25" name="TextBox 24">
            <a:extLst>
              <a:ext uri="{FF2B5EF4-FFF2-40B4-BE49-F238E27FC236}">
                <a16:creationId xmlns:a16="http://schemas.microsoft.com/office/drawing/2014/main" id="{C353372D-D8E8-BBDF-00E9-7ED1C23D3F88}"/>
              </a:ext>
            </a:extLst>
          </p:cNvPr>
          <p:cNvSpPr txBox="1"/>
          <p:nvPr/>
        </p:nvSpPr>
        <p:spPr>
          <a:xfrm rot="16200000">
            <a:off x="-775119" y="5447060"/>
            <a:ext cx="2777588" cy="461665"/>
          </a:xfrm>
          <a:prstGeom prst="rect">
            <a:avLst/>
          </a:prstGeom>
          <a:solidFill>
            <a:schemeClr val="bg1"/>
          </a:solidFill>
        </p:spPr>
        <p:txBody>
          <a:bodyPr wrap="square" rtlCol="0">
            <a:spAutoFit/>
          </a:bodyPr>
          <a:lstStyle/>
          <a:p>
            <a:r>
              <a:rPr lang="en-US" sz="2400" dirty="0"/>
              <a:t>-Log</a:t>
            </a:r>
            <a:r>
              <a:rPr lang="en-US" sz="2400" baseline="-25000" dirty="0"/>
              <a:t>10</a:t>
            </a:r>
            <a:r>
              <a:rPr lang="en-US" sz="2400" dirty="0"/>
              <a:t> </a:t>
            </a:r>
            <a:r>
              <a:rPr lang="en-US" sz="2400" i="1" dirty="0"/>
              <a:t>P</a:t>
            </a:r>
          </a:p>
        </p:txBody>
      </p:sp>
      <p:sp>
        <p:nvSpPr>
          <p:cNvPr id="26" name="TextBox 25">
            <a:extLst>
              <a:ext uri="{FF2B5EF4-FFF2-40B4-BE49-F238E27FC236}">
                <a16:creationId xmlns:a16="http://schemas.microsoft.com/office/drawing/2014/main" id="{EAD4F773-400F-004F-C452-33C8B657AA48}"/>
              </a:ext>
            </a:extLst>
          </p:cNvPr>
          <p:cNvSpPr txBox="1"/>
          <p:nvPr/>
        </p:nvSpPr>
        <p:spPr>
          <a:xfrm>
            <a:off x="4729278" y="-1295370"/>
            <a:ext cx="1253438" cy="461665"/>
          </a:xfrm>
          <a:prstGeom prst="rect">
            <a:avLst/>
          </a:prstGeom>
          <a:solidFill>
            <a:schemeClr val="bg1"/>
          </a:solidFill>
        </p:spPr>
        <p:txBody>
          <a:bodyPr wrap="square" rtlCol="0">
            <a:spAutoFit/>
          </a:bodyPr>
          <a:lstStyle/>
          <a:p>
            <a:r>
              <a:rPr lang="en-US" sz="2400" b="1" dirty="0"/>
              <a:t>E. GSC2</a:t>
            </a:r>
          </a:p>
        </p:txBody>
      </p:sp>
      <p:pic>
        <p:nvPicPr>
          <p:cNvPr id="27" name="Picture 26">
            <a:extLst>
              <a:ext uri="{FF2B5EF4-FFF2-40B4-BE49-F238E27FC236}">
                <a16:creationId xmlns:a16="http://schemas.microsoft.com/office/drawing/2014/main" id="{A700FB1C-AF79-DAEF-A9B5-5D0A6FE52606}"/>
              </a:ext>
            </a:extLst>
          </p:cNvPr>
          <p:cNvPicPr>
            <a:picLocks noChangeAspect="1"/>
          </p:cNvPicPr>
          <p:nvPr/>
        </p:nvPicPr>
        <p:blipFill rotWithShape="1">
          <a:blip r:embed="rId5"/>
          <a:srcRect r="14989" b="3939"/>
          <a:stretch/>
        </p:blipFill>
        <p:spPr>
          <a:xfrm>
            <a:off x="1557828" y="8171817"/>
            <a:ext cx="6607403" cy="800733"/>
          </a:xfrm>
          <a:prstGeom prst="rect">
            <a:avLst/>
          </a:prstGeom>
        </p:spPr>
      </p:pic>
      <p:sp>
        <p:nvSpPr>
          <p:cNvPr id="28" name="TextBox 27">
            <a:extLst>
              <a:ext uri="{FF2B5EF4-FFF2-40B4-BE49-F238E27FC236}">
                <a16:creationId xmlns:a16="http://schemas.microsoft.com/office/drawing/2014/main" id="{F57008D1-C2AF-69D8-A27B-659CDE1FD295}"/>
              </a:ext>
            </a:extLst>
          </p:cNvPr>
          <p:cNvSpPr txBox="1"/>
          <p:nvPr/>
        </p:nvSpPr>
        <p:spPr>
          <a:xfrm>
            <a:off x="762238" y="3665377"/>
            <a:ext cx="1297491" cy="461665"/>
          </a:xfrm>
          <a:prstGeom prst="rect">
            <a:avLst/>
          </a:prstGeom>
          <a:solidFill>
            <a:schemeClr val="bg1"/>
          </a:solidFill>
        </p:spPr>
        <p:txBody>
          <a:bodyPr wrap="square" rtlCol="0">
            <a:spAutoFit/>
          </a:bodyPr>
          <a:lstStyle/>
          <a:p>
            <a:r>
              <a:rPr lang="en-US" sz="2400" b="1" dirty="0"/>
              <a:t>F. GSC3</a:t>
            </a:r>
          </a:p>
        </p:txBody>
      </p:sp>
    </p:spTree>
    <p:extLst>
      <p:ext uri="{BB962C8B-B14F-4D97-AF65-F5344CB8AC3E}">
        <p14:creationId xmlns:p14="http://schemas.microsoft.com/office/powerpoint/2010/main" val="3155972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AC12F-5EE5-BC8B-A7A2-3700C07B8397}"/>
              </a:ext>
            </a:extLst>
          </p:cNvPr>
          <p:cNvSpPr>
            <a:spLocks noGrp="1"/>
          </p:cNvSpPr>
          <p:nvPr>
            <p:ph type="title"/>
          </p:nvPr>
        </p:nvSpPr>
        <p:spPr>
          <a:xfrm>
            <a:off x="745435" y="91512"/>
            <a:ext cx="10515600" cy="695049"/>
          </a:xfrm>
          <a:solidFill>
            <a:schemeClr val="accent3">
              <a:lumMod val="40000"/>
              <a:lumOff val="60000"/>
            </a:schemeClr>
          </a:solidFill>
        </p:spPr>
        <p:txBody>
          <a:bodyPr/>
          <a:lstStyle/>
          <a:p>
            <a:pPr algn="ctr"/>
            <a:r>
              <a:rPr lang="en-US" dirty="0"/>
              <a:t>RNA Seq</a:t>
            </a:r>
          </a:p>
        </p:txBody>
      </p:sp>
      <p:sp>
        <p:nvSpPr>
          <p:cNvPr id="5" name="TextBox 4">
            <a:extLst>
              <a:ext uri="{FF2B5EF4-FFF2-40B4-BE49-F238E27FC236}">
                <a16:creationId xmlns:a16="http://schemas.microsoft.com/office/drawing/2014/main" id="{6FADE342-7632-F454-3EF0-E18DBA835B01}"/>
              </a:ext>
            </a:extLst>
          </p:cNvPr>
          <p:cNvSpPr txBox="1"/>
          <p:nvPr/>
        </p:nvSpPr>
        <p:spPr>
          <a:xfrm rot="16200000">
            <a:off x="842060" y="3776990"/>
            <a:ext cx="2777588" cy="523220"/>
          </a:xfrm>
          <a:prstGeom prst="rect">
            <a:avLst/>
          </a:prstGeom>
          <a:solidFill>
            <a:schemeClr val="bg1"/>
          </a:solidFill>
        </p:spPr>
        <p:txBody>
          <a:bodyPr wrap="square" rtlCol="0">
            <a:spAutoFit/>
          </a:bodyPr>
          <a:lstStyle/>
          <a:p>
            <a:r>
              <a:rPr lang="en-US" sz="2800" dirty="0"/>
              <a:t>Log</a:t>
            </a:r>
            <a:r>
              <a:rPr lang="en-US" sz="2800" baseline="-25000" dirty="0"/>
              <a:t>2</a:t>
            </a:r>
            <a:r>
              <a:rPr lang="en-US" sz="2800" dirty="0"/>
              <a:t> fold change</a:t>
            </a:r>
          </a:p>
        </p:txBody>
      </p:sp>
      <p:sp>
        <p:nvSpPr>
          <p:cNvPr id="6" name="TextBox 5">
            <a:extLst>
              <a:ext uri="{FF2B5EF4-FFF2-40B4-BE49-F238E27FC236}">
                <a16:creationId xmlns:a16="http://schemas.microsoft.com/office/drawing/2014/main" id="{411A5621-5174-2616-8E7C-F0B86380E2A3}"/>
              </a:ext>
            </a:extLst>
          </p:cNvPr>
          <p:cNvSpPr txBox="1"/>
          <p:nvPr/>
        </p:nvSpPr>
        <p:spPr>
          <a:xfrm>
            <a:off x="5535462" y="6084707"/>
            <a:ext cx="2777588" cy="523220"/>
          </a:xfrm>
          <a:prstGeom prst="rect">
            <a:avLst/>
          </a:prstGeom>
          <a:solidFill>
            <a:schemeClr val="bg1"/>
          </a:solidFill>
        </p:spPr>
        <p:txBody>
          <a:bodyPr wrap="square" rtlCol="0">
            <a:spAutoFit/>
          </a:bodyPr>
          <a:lstStyle/>
          <a:p>
            <a:r>
              <a:rPr lang="en-US" sz="2800" dirty="0"/>
              <a:t>-Log</a:t>
            </a:r>
            <a:r>
              <a:rPr lang="en-US" sz="2800" baseline="-25000" dirty="0"/>
              <a:t>10</a:t>
            </a:r>
            <a:r>
              <a:rPr lang="en-US" sz="2800" dirty="0"/>
              <a:t> </a:t>
            </a:r>
            <a:r>
              <a:rPr lang="en-US" sz="2800" i="1" dirty="0"/>
              <a:t>P</a:t>
            </a:r>
          </a:p>
        </p:txBody>
      </p:sp>
      <p:pic>
        <p:nvPicPr>
          <p:cNvPr id="7" name="Picture 6">
            <a:extLst>
              <a:ext uri="{FF2B5EF4-FFF2-40B4-BE49-F238E27FC236}">
                <a16:creationId xmlns:a16="http://schemas.microsoft.com/office/drawing/2014/main" id="{DBBCA119-682D-3ACF-E641-3AE7EB47168D}"/>
              </a:ext>
            </a:extLst>
          </p:cNvPr>
          <p:cNvPicPr>
            <a:picLocks noChangeAspect="1"/>
          </p:cNvPicPr>
          <p:nvPr/>
        </p:nvPicPr>
        <p:blipFill rotWithShape="1">
          <a:blip r:embed="rId2"/>
          <a:srcRect l="29719" t="9981" r="24003" b="82018"/>
          <a:stretch/>
        </p:blipFill>
        <p:spPr>
          <a:xfrm>
            <a:off x="2492465" y="902810"/>
            <a:ext cx="7386898" cy="935698"/>
          </a:xfrm>
          <a:prstGeom prst="rect">
            <a:avLst/>
          </a:prstGeom>
        </p:spPr>
      </p:pic>
      <p:sp>
        <p:nvSpPr>
          <p:cNvPr id="8" name="TextBox 7">
            <a:extLst>
              <a:ext uri="{FF2B5EF4-FFF2-40B4-BE49-F238E27FC236}">
                <a16:creationId xmlns:a16="http://schemas.microsoft.com/office/drawing/2014/main" id="{37DE7757-0E41-7972-92D3-F6D672C01AD4}"/>
              </a:ext>
            </a:extLst>
          </p:cNvPr>
          <p:cNvSpPr txBox="1"/>
          <p:nvPr/>
        </p:nvSpPr>
        <p:spPr>
          <a:xfrm>
            <a:off x="4574730" y="1174147"/>
            <a:ext cx="1094811" cy="461665"/>
          </a:xfrm>
          <a:prstGeom prst="rect">
            <a:avLst/>
          </a:prstGeom>
          <a:solidFill>
            <a:schemeClr val="bg1"/>
          </a:solidFill>
        </p:spPr>
        <p:txBody>
          <a:bodyPr wrap="square">
            <a:spAutoFit/>
          </a:bodyPr>
          <a:lstStyle/>
          <a:p>
            <a:r>
              <a:rPr lang="en-US" sz="2400" dirty="0"/>
              <a:t>Log</a:t>
            </a:r>
            <a:r>
              <a:rPr lang="en-US" sz="2400" baseline="-25000" dirty="0"/>
              <a:t>2 </a:t>
            </a:r>
            <a:r>
              <a:rPr lang="en-US" sz="2400" dirty="0"/>
              <a:t>FC</a:t>
            </a:r>
          </a:p>
        </p:txBody>
      </p:sp>
      <p:sp>
        <p:nvSpPr>
          <p:cNvPr id="9" name="TextBox 8">
            <a:extLst>
              <a:ext uri="{FF2B5EF4-FFF2-40B4-BE49-F238E27FC236}">
                <a16:creationId xmlns:a16="http://schemas.microsoft.com/office/drawing/2014/main" id="{78B4D408-852F-4504-0A71-544A6C3188D7}"/>
              </a:ext>
            </a:extLst>
          </p:cNvPr>
          <p:cNvSpPr txBox="1"/>
          <p:nvPr/>
        </p:nvSpPr>
        <p:spPr>
          <a:xfrm>
            <a:off x="6100590" y="1174147"/>
            <a:ext cx="1094811" cy="461665"/>
          </a:xfrm>
          <a:prstGeom prst="rect">
            <a:avLst/>
          </a:prstGeom>
          <a:solidFill>
            <a:schemeClr val="bg1"/>
          </a:solidFill>
        </p:spPr>
        <p:txBody>
          <a:bodyPr wrap="square">
            <a:spAutoFit/>
          </a:bodyPr>
          <a:lstStyle/>
          <a:p>
            <a:r>
              <a:rPr lang="en-US" sz="2400" dirty="0" err="1"/>
              <a:t>Pvalue</a:t>
            </a:r>
            <a:endParaRPr lang="en-US" sz="2400" dirty="0"/>
          </a:p>
        </p:txBody>
      </p:sp>
      <p:sp>
        <p:nvSpPr>
          <p:cNvPr id="10" name="TextBox 9">
            <a:extLst>
              <a:ext uri="{FF2B5EF4-FFF2-40B4-BE49-F238E27FC236}">
                <a16:creationId xmlns:a16="http://schemas.microsoft.com/office/drawing/2014/main" id="{050527CA-C74C-52C0-9EA1-44DFE1D66064}"/>
              </a:ext>
            </a:extLst>
          </p:cNvPr>
          <p:cNvSpPr txBox="1"/>
          <p:nvPr/>
        </p:nvSpPr>
        <p:spPr>
          <a:xfrm>
            <a:off x="7556399" y="1174147"/>
            <a:ext cx="3704636" cy="461665"/>
          </a:xfrm>
          <a:prstGeom prst="rect">
            <a:avLst/>
          </a:prstGeom>
          <a:solidFill>
            <a:schemeClr val="bg1"/>
          </a:solidFill>
        </p:spPr>
        <p:txBody>
          <a:bodyPr wrap="square">
            <a:spAutoFit/>
          </a:bodyPr>
          <a:lstStyle/>
          <a:p>
            <a:r>
              <a:rPr lang="en-US" sz="2400" dirty="0"/>
              <a:t>Log</a:t>
            </a:r>
            <a:r>
              <a:rPr lang="en-US" sz="2400" baseline="-25000" dirty="0"/>
              <a:t>2 </a:t>
            </a:r>
            <a:r>
              <a:rPr lang="en-US" sz="2400" dirty="0"/>
              <a:t>FC &amp; </a:t>
            </a:r>
            <a:r>
              <a:rPr lang="en-US" sz="2400" dirty="0" err="1"/>
              <a:t>Pvalue</a:t>
            </a:r>
            <a:endParaRPr lang="en-US" sz="2400" dirty="0"/>
          </a:p>
        </p:txBody>
      </p:sp>
      <p:sp>
        <p:nvSpPr>
          <p:cNvPr id="11" name="TextBox 10">
            <a:extLst>
              <a:ext uri="{FF2B5EF4-FFF2-40B4-BE49-F238E27FC236}">
                <a16:creationId xmlns:a16="http://schemas.microsoft.com/office/drawing/2014/main" id="{2EA33A17-2BE9-5A94-4072-9523EFD2339B}"/>
              </a:ext>
            </a:extLst>
          </p:cNvPr>
          <p:cNvSpPr txBox="1"/>
          <p:nvPr/>
        </p:nvSpPr>
        <p:spPr>
          <a:xfrm>
            <a:off x="3197168" y="1174146"/>
            <a:ext cx="1156816" cy="461665"/>
          </a:xfrm>
          <a:prstGeom prst="rect">
            <a:avLst/>
          </a:prstGeom>
          <a:solidFill>
            <a:schemeClr val="bg1"/>
          </a:solidFill>
        </p:spPr>
        <p:txBody>
          <a:bodyPr wrap="square">
            <a:spAutoFit/>
          </a:bodyPr>
          <a:lstStyle/>
          <a:p>
            <a:r>
              <a:rPr lang="en-US" sz="2400" dirty="0"/>
              <a:t>Not sig.</a:t>
            </a:r>
          </a:p>
        </p:txBody>
      </p:sp>
      <p:pic>
        <p:nvPicPr>
          <p:cNvPr id="14" name="Picture 13" descr="A graph of red and green lines&#10;&#10;Description automatically generated">
            <a:extLst>
              <a:ext uri="{FF2B5EF4-FFF2-40B4-BE49-F238E27FC236}">
                <a16:creationId xmlns:a16="http://schemas.microsoft.com/office/drawing/2014/main" id="{C0AEB9D7-8D7F-2786-A13A-A60CB93A8EA2}"/>
              </a:ext>
            </a:extLst>
          </p:cNvPr>
          <p:cNvPicPr>
            <a:picLocks noChangeAspect="1"/>
          </p:cNvPicPr>
          <p:nvPr/>
        </p:nvPicPr>
        <p:blipFill>
          <a:blip r:embed="rId3"/>
          <a:stretch>
            <a:fillRect/>
          </a:stretch>
        </p:blipFill>
        <p:spPr>
          <a:xfrm>
            <a:off x="3951818" y="1035652"/>
            <a:ext cx="7772400" cy="4391742"/>
          </a:xfrm>
          <a:prstGeom prst="rect">
            <a:avLst/>
          </a:prstGeom>
        </p:spPr>
      </p:pic>
      <p:sp>
        <p:nvSpPr>
          <p:cNvPr id="3" name="TextBox 2">
            <a:extLst>
              <a:ext uri="{FF2B5EF4-FFF2-40B4-BE49-F238E27FC236}">
                <a16:creationId xmlns:a16="http://schemas.microsoft.com/office/drawing/2014/main" id="{A97CF84A-C683-FBDA-33D6-CE7DF3C8F14E}"/>
              </a:ext>
            </a:extLst>
          </p:cNvPr>
          <p:cNvSpPr txBox="1"/>
          <p:nvPr/>
        </p:nvSpPr>
        <p:spPr>
          <a:xfrm>
            <a:off x="1104376" y="1211321"/>
            <a:ext cx="3254829" cy="369332"/>
          </a:xfrm>
          <a:prstGeom prst="rect">
            <a:avLst/>
          </a:prstGeom>
          <a:noFill/>
        </p:spPr>
        <p:txBody>
          <a:bodyPr wrap="square" rtlCol="0">
            <a:spAutoFit/>
          </a:bodyPr>
          <a:lstStyle/>
          <a:p>
            <a:r>
              <a:rPr lang="en-US" dirty="0"/>
              <a:t>GB2</a:t>
            </a:r>
          </a:p>
        </p:txBody>
      </p:sp>
    </p:spTree>
    <p:extLst>
      <p:ext uri="{BB962C8B-B14F-4D97-AF65-F5344CB8AC3E}">
        <p14:creationId xmlns:p14="http://schemas.microsoft.com/office/powerpoint/2010/main" val="366789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FD699A-FEDF-3927-6E31-84D779EAB802}"/>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2" name="TextBox 1">
            <a:extLst>
              <a:ext uri="{FF2B5EF4-FFF2-40B4-BE49-F238E27FC236}">
                <a16:creationId xmlns:a16="http://schemas.microsoft.com/office/drawing/2014/main" id="{0E015FCD-F98D-C7E5-D166-11EE61BFB7EA}"/>
              </a:ext>
            </a:extLst>
          </p:cNvPr>
          <p:cNvSpPr txBox="1"/>
          <p:nvPr/>
        </p:nvSpPr>
        <p:spPr>
          <a:xfrm>
            <a:off x="2841171" y="1012371"/>
            <a:ext cx="3254829" cy="369332"/>
          </a:xfrm>
          <a:prstGeom prst="rect">
            <a:avLst/>
          </a:prstGeom>
          <a:noFill/>
        </p:spPr>
        <p:txBody>
          <a:bodyPr wrap="square" rtlCol="0">
            <a:spAutoFit/>
          </a:bodyPr>
          <a:lstStyle/>
          <a:p>
            <a:r>
              <a:rPr lang="en-US" dirty="0"/>
              <a:t>GB11</a:t>
            </a:r>
          </a:p>
        </p:txBody>
      </p:sp>
      <p:pic>
        <p:nvPicPr>
          <p:cNvPr id="5" name="Picture 4" descr="A graph of a graph with red and green dots&#10;&#10;Description automatically generated">
            <a:extLst>
              <a:ext uri="{FF2B5EF4-FFF2-40B4-BE49-F238E27FC236}">
                <a16:creationId xmlns:a16="http://schemas.microsoft.com/office/drawing/2014/main" id="{CC1E66B3-531B-E315-DA18-C6448E97B879}"/>
              </a:ext>
            </a:extLst>
          </p:cNvPr>
          <p:cNvPicPr>
            <a:picLocks noChangeAspect="1"/>
          </p:cNvPicPr>
          <p:nvPr/>
        </p:nvPicPr>
        <p:blipFill>
          <a:blip r:embed="rId2"/>
          <a:stretch>
            <a:fillRect/>
          </a:stretch>
        </p:blipFill>
        <p:spPr>
          <a:xfrm>
            <a:off x="1358293" y="1465079"/>
            <a:ext cx="9475413" cy="5392921"/>
          </a:xfrm>
          <a:prstGeom prst="rect">
            <a:avLst/>
          </a:prstGeom>
        </p:spPr>
      </p:pic>
      <p:sp>
        <p:nvSpPr>
          <p:cNvPr id="7" name="TextBox 6">
            <a:extLst>
              <a:ext uri="{FF2B5EF4-FFF2-40B4-BE49-F238E27FC236}">
                <a16:creationId xmlns:a16="http://schemas.microsoft.com/office/drawing/2014/main" id="{83266234-90C8-E933-B488-EAEC0BC4FD91}"/>
              </a:ext>
            </a:extLst>
          </p:cNvPr>
          <p:cNvSpPr txBox="1"/>
          <p:nvPr/>
        </p:nvSpPr>
        <p:spPr>
          <a:xfrm>
            <a:off x="5159829" y="279919"/>
            <a:ext cx="2099387" cy="369332"/>
          </a:xfrm>
          <a:prstGeom prst="rect">
            <a:avLst/>
          </a:prstGeom>
          <a:noFill/>
        </p:spPr>
        <p:txBody>
          <a:bodyPr wrap="square" rtlCol="0">
            <a:spAutoFit/>
          </a:bodyPr>
          <a:lstStyle/>
          <a:p>
            <a:r>
              <a:rPr lang="en-US" dirty="0"/>
              <a:t>3 replicates</a:t>
            </a:r>
          </a:p>
        </p:txBody>
      </p:sp>
    </p:spTree>
    <p:extLst>
      <p:ext uri="{BB962C8B-B14F-4D97-AF65-F5344CB8AC3E}">
        <p14:creationId xmlns:p14="http://schemas.microsoft.com/office/powerpoint/2010/main" val="1295997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FD699A-FEDF-3927-6E31-84D779EAB802}"/>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2" name="TextBox 1">
            <a:extLst>
              <a:ext uri="{FF2B5EF4-FFF2-40B4-BE49-F238E27FC236}">
                <a16:creationId xmlns:a16="http://schemas.microsoft.com/office/drawing/2014/main" id="{0E015FCD-F98D-C7E5-D166-11EE61BFB7EA}"/>
              </a:ext>
            </a:extLst>
          </p:cNvPr>
          <p:cNvSpPr txBox="1"/>
          <p:nvPr/>
        </p:nvSpPr>
        <p:spPr>
          <a:xfrm>
            <a:off x="2841171" y="1012371"/>
            <a:ext cx="3254829" cy="369332"/>
          </a:xfrm>
          <a:prstGeom prst="rect">
            <a:avLst/>
          </a:prstGeom>
          <a:noFill/>
        </p:spPr>
        <p:txBody>
          <a:bodyPr wrap="square" rtlCol="0">
            <a:spAutoFit/>
          </a:bodyPr>
          <a:lstStyle/>
          <a:p>
            <a:r>
              <a:rPr lang="en-US" dirty="0"/>
              <a:t>GB24</a:t>
            </a:r>
          </a:p>
        </p:txBody>
      </p:sp>
      <p:pic>
        <p:nvPicPr>
          <p:cNvPr id="8" name="Picture 7" descr="A graph with red blue and green dots&#10;&#10;Description automatically generated">
            <a:extLst>
              <a:ext uri="{FF2B5EF4-FFF2-40B4-BE49-F238E27FC236}">
                <a16:creationId xmlns:a16="http://schemas.microsoft.com/office/drawing/2014/main" id="{36EA4746-CB3E-5B76-35FB-1A242DD1ADEC}"/>
              </a:ext>
            </a:extLst>
          </p:cNvPr>
          <p:cNvPicPr>
            <a:picLocks noChangeAspect="1"/>
          </p:cNvPicPr>
          <p:nvPr/>
        </p:nvPicPr>
        <p:blipFill>
          <a:blip r:embed="rId2"/>
          <a:stretch>
            <a:fillRect/>
          </a:stretch>
        </p:blipFill>
        <p:spPr>
          <a:xfrm>
            <a:off x="1090579" y="837195"/>
            <a:ext cx="10507254" cy="5958082"/>
          </a:xfrm>
          <a:prstGeom prst="rect">
            <a:avLst/>
          </a:prstGeom>
        </p:spPr>
      </p:pic>
    </p:spTree>
    <p:extLst>
      <p:ext uri="{BB962C8B-B14F-4D97-AF65-F5344CB8AC3E}">
        <p14:creationId xmlns:p14="http://schemas.microsoft.com/office/powerpoint/2010/main" val="1621564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A814B7-15E5-348C-B876-D9D3B01B1146}"/>
              </a:ext>
            </a:extLst>
          </p:cNvPr>
          <p:cNvPicPr>
            <a:picLocks noChangeAspect="1"/>
          </p:cNvPicPr>
          <p:nvPr/>
        </p:nvPicPr>
        <p:blipFill>
          <a:blip r:embed="rId2"/>
          <a:stretch>
            <a:fillRect/>
          </a:stretch>
        </p:blipFill>
        <p:spPr>
          <a:xfrm>
            <a:off x="2330415" y="198023"/>
            <a:ext cx="8430351" cy="6659977"/>
          </a:xfrm>
          <a:prstGeom prst="rect">
            <a:avLst/>
          </a:prstGeom>
        </p:spPr>
      </p:pic>
      <p:sp>
        <p:nvSpPr>
          <p:cNvPr id="8" name="Title 1">
            <a:extLst>
              <a:ext uri="{FF2B5EF4-FFF2-40B4-BE49-F238E27FC236}">
                <a16:creationId xmlns:a16="http://schemas.microsoft.com/office/drawing/2014/main" id="{6F4BD2E0-5189-0664-183B-08068178C6DE}"/>
              </a:ext>
            </a:extLst>
          </p:cNvPr>
          <p:cNvSpPr>
            <a:spLocks noGrp="1"/>
          </p:cNvSpPr>
          <p:nvPr>
            <p:ph type="title"/>
          </p:nvPr>
        </p:nvSpPr>
        <p:spPr>
          <a:xfrm>
            <a:off x="0" y="0"/>
            <a:ext cx="2182792" cy="837195"/>
          </a:xfrm>
          <a:solidFill>
            <a:schemeClr val="accent3">
              <a:lumMod val="40000"/>
              <a:lumOff val="60000"/>
            </a:schemeClr>
          </a:solidFill>
        </p:spPr>
        <p:txBody>
          <a:bodyPr>
            <a:normAutofit/>
          </a:bodyPr>
          <a:lstStyle/>
          <a:p>
            <a:pPr algn="ctr"/>
            <a:r>
              <a:rPr lang="en-US" dirty="0"/>
              <a:t>RNA Seq</a:t>
            </a:r>
          </a:p>
        </p:txBody>
      </p:sp>
      <p:sp>
        <p:nvSpPr>
          <p:cNvPr id="2" name="TextBox 1">
            <a:extLst>
              <a:ext uri="{FF2B5EF4-FFF2-40B4-BE49-F238E27FC236}">
                <a16:creationId xmlns:a16="http://schemas.microsoft.com/office/drawing/2014/main" id="{5FC87070-BCE7-063B-D835-2444A9E71E70}"/>
              </a:ext>
            </a:extLst>
          </p:cNvPr>
          <p:cNvSpPr txBox="1"/>
          <p:nvPr/>
        </p:nvSpPr>
        <p:spPr>
          <a:xfrm>
            <a:off x="497711" y="1840375"/>
            <a:ext cx="1481560" cy="369332"/>
          </a:xfrm>
          <a:prstGeom prst="rect">
            <a:avLst/>
          </a:prstGeom>
          <a:noFill/>
        </p:spPr>
        <p:txBody>
          <a:bodyPr wrap="square" rtlCol="0">
            <a:spAutoFit/>
          </a:bodyPr>
          <a:lstStyle/>
          <a:p>
            <a:r>
              <a:rPr lang="en-US" dirty="0"/>
              <a:t>GB2</a:t>
            </a:r>
          </a:p>
        </p:txBody>
      </p:sp>
      <p:sp>
        <p:nvSpPr>
          <p:cNvPr id="3" name="TextBox 2">
            <a:extLst>
              <a:ext uri="{FF2B5EF4-FFF2-40B4-BE49-F238E27FC236}">
                <a16:creationId xmlns:a16="http://schemas.microsoft.com/office/drawing/2014/main" id="{6C2171EA-1DD2-466C-078B-BC8C76B2AE92}"/>
              </a:ext>
            </a:extLst>
          </p:cNvPr>
          <p:cNvSpPr txBox="1"/>
          <p:nvPr/>
        </p:nvSpPr>
        <p:spPr>
          <a:xfrm>
            <a:off x="3910739" y="114509"/>
            <a:ext cx="2185261" cy="369332"/>
          </a:xfrm>
          <a:prstGeom prst="rect">
            <a:avLst/>
          </a:prstGeom>
          <a:noFill/>
        </p:spPr>
        <p:txBody>
          <a:bodyPr wrap="square" rtlCol="0">
            <a:spAutoFit/>
          </a:bodyPr>
          <a:lstStyle/>
          <a:p>
            <a:r>
              <a:rPr lang="en-US" dirty="0">
                <a:solidFill>
                  <a:srgbClr val="E899EB"/>
                </a:solidFill>
              </a:rPr>
              <a:t>Patient 1  (GB2)</a:t>
            </a:r>
          </a:p>
        </p:txBody>
      </p:sp>
    </p:spTree>
    <p:extLst>
      <p:ext uri="{BB962C8B-B14F-4D97-AF65-F5344CB8AC3E}">
        <p14:creationId xmlns:p14="http://schemas.microsoft.com/office/powerpoint/2010/main" val="526805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F8AC06-04A7-ED3C-5B94-DDDCF1168E2A}"/>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4" name="Title 1">
            <a:extLst>
              <a:ext uri="{FF2B5EF4-FFF2-40B4-BE49-F238E27FC236}">
                <a16:creationId xmlns:a16="http://schemas.microsoft.com/office/drawing/2014/main" id="{3964BD32-5F9D-F81B-6886-8F5F11CDB60D}"/>
              </a:ext>
            </a:extLst>
          </p:cNvPr>
          <p:cNvSpPr txBox="1">
            <a:spLocks/>
          </p:cNvSpPr>
          <p:nvPr/>
        </p:nvSpPr>
        <p:spPr>
          <a:xfrm>
            <a:off x="0" y="2258530"/>
            <a:ext cx="3636488" cy="17323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 Ontology Enrichment</a:t>
            </a:r>
          </a:p>
        </p:txBody>
      </p:sp>
      <p:pic>
        <p:nvPicPr>
          <p:cNvPr id="6" name="Picture 5" descr="A diagram of a dna molecule&#10;&#10;Description automatically generated with medium confidence">
            <a:extLst>
              <a:ext uri="{FF2B5EF4-FFF2-40B4-BE49-F238E27FC236}">
                <a16:creationId xmlns:a16="http://schemas.microsoft.com/office/drawing/2014/main" id="{3A6D3731-219B-1D3A-66CA-3E900B55349E}"/>
              </a:ext>
            </a:extLst>
          </p:cNvPr>
          <p:cNvPicPr>
            <a:picLocks noChangeAspect="1"/>
          </p:cNvPicPr>
          <p:nvPr/>
        </p:nvPicPr>
        <p:blipFill>
          <a:blip r:embed="rId3"/>
          <a:stretch>
            <a:fillRect/>
          </a:stretch>
        </p:blipFill>
        <p:spPr>
          <a:xfrm>
            <a:off x="3842934" y="171325"/>
            <a:ext cx="8039100" cy="6515349"/>
          </a:xfrm>
          <a:prstGeom prst="rect">
            <a:avLst/>
          </a:prstGeom>
        </p:spPr>
      </p:pic>
      <p:sp>
        <p:nvSpPr>
          <p:cNvPr id="7" name="TextBox 6">
            <a:extLst>
              <a:ext uri="{FF2B5EF4-FFF2-40B4-BE49-F238E27FC236}">
                <a16:creationId xmlns:a16="http://schemas.microsoft.com/office/drawing/2014/main" id="{8A7E1B87-4BBC-08F1-3979-5A3061332BC9}"/>
              </a:ext>
            </a:extLst>
          </p:cNvPr>
          <p:cNvSpPr txBox="1"/>
          <p:nvPr/>
        </p:nvSpPr>
        <p:spPr>
          <a:xfrm>
            <a:off x="461820" y="1649124"/>
            <a:ext cx="2420865" cy="369332"/>
          </a:xfrm>
          <a:prstGeom prst="rect">
            <a:avLst/>
          </a:prstGeom>
          <a:noFill/>
        </p:spPr>
        <p:txBody>
          <a:bodyPr wrap="square" rtlCol="0">
            <a:spAutoFit/>
          </a:bodyPr>
          <a:lstStyle/>
          <a:p>
            <a:r>
              <a:rPr lang="en-US" dirty="0">
                <a:solidFill>
                  <a:srgbClr val="E899EB"/>
                </a:solidFill>
              </a:rPr>
              <a:t>Patient 1  (GB2)</a:t>
            </a:r>
          </a:p>
        </p:txBody>
      </p:sp>
    </p:spTree>
    <p:extLst>
      <p:ext uri="{BB962C8B-B14F-4D97-AF65-F5344CB8AC3E}">
        <p14:creationId xmlns:p14="http://schemas.microsoft.com/office/powerpoint/2010/main" val="585110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F8AC06-04A7-ED3C-5B94-DDDCF1168E2A}"/>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4" name="Title 1">
            <a:extLst>
              <a:ext uri="{FF2B5EF4-FFF2-40B4-BE49-F238E27FC236}">
                <a16:creationId xmlns:a16="http://schemas.microsoft.com/office/drawing/2014/main" id="{3964BD32-5F9D-F81B-6886-8F5F11CDB60D}"/>
              </a:ext>
            </a:extLst>
          </p:cNvPr>
          <p:cNvSpPr txBox="1">
            <a:spLocks/>
          </p:cNvSpPr>
          <p:nvPr/>
        </p:nvSpPr>
        <p:spPr>
          <a:xfrm>
            <a:off x="0" y="2258530"/>
            <a:ext cx="3636488" cy="17323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 Ontology Enrichment</a:t>
            </a:r>
          </a:p>
        </p:txBody>
      </p:sp>
      <p:sp>
        <p:nvSpPr>
          <p:cNvPr id="2" name="TextBox 1">
            <a:extLst>
              <a:ext uri="{FF2B5EF4-FFF2-40B4-BE49-F238E27FC236}">
                <a16:creationId xmlns:a16="http://schemas.microsoft.com/office/drawing/2014/main" id="{3751F03D-AC70-C8B5-79A0-BB128F9B79DA}"/>
              </a:ext>
            </a:extLst>
          </p:cNvPr>
          <p:cNvSpPr txBox="1"/>
          <p:nvPr/>
        </p:nvSpPr>
        <p:spPr>
          <a:xfrm>
            <a:off x="497711" y="1840375"/>
            <a:ext cx="1481560" cy="369332"/>
          </a:xfrm>
          <a:prstGeom prst="rect">
            <a:avLst/>
          </a:prstGeom>
          <a:noFill/>
        </p:spPr>
        <p:txBody>
          <a:bodyPr wrap="square" rtlCol="0">
            <a:spAutoFit/>
          </a:bodyPr>
          <a:lstStyle/>
          <a:p>
            <a:r>
              <a:rPr lang="en-US" dirty="0"/>
              <a:t>GB11</a:t>
            </a:r>
          </a:p>
        </p:txBody>
      </p:sp>
      <p:pic>
        <p:nvPicPr>
          <p:cNvPr id="7" name="Picture 6" descr="A graph with red dots and blue dots&#10;&#10;Description automatically generated">
            <a:extLst>
              <a:ext uri="{FF2B5EF4-FFF2-40B4-BE49-F238E27FC236}">
                <a16:creationId xmlns:a16="http://schemas.microsoft.com/office/drawing/2014/main" id="{B072C6BB-92C5-EE61-0D97-584467636DED}"/>
              </a:ext>
            </a:extLst>
          </p:cNvPr>
          <p:cNvPicPr>
            <a:picLocks noChangeAspect="1"/>
          </p:cNvPicPr>
          <p:nvPr/>
        </p:nvPicPr>
        <p:blipFill>
          <a:blip r:embed="rId2"/>
          <a:stretch>
            <a:fillRect/>
          </a:stretch>
        </p:blipFill>
        <p:spPr>
          <a:xfrm>
            <a:off x="3401799" y="410869"/>
            <a:ext cx="8601148" cy="5706794"/>
          </a:xfrm>
          <a:prstGeom prst="rect">
            <a:avLst/>
          </a:prstGeom>
        </p:spPr>
      </p:pic>
      <p:sp>
        <p:nvSpPr>
          <p:cNvPr id="8" name="TextBox 7">
            <a:extLst>
              <a:ext uri="{FF2B5EF4-FFF2-40B4-BE49-F238E27FC236}">
                <a16:creationId xmlns:a16="http://schemas.microsoft.com/office/drawing/2014/main" id="{F2393946-EB1B-1D3F-936B-D7CAD07C7962}"/>
              </a:ext>
            </a:extLst>
          </p:cNvPr>
          <p:cNvSpPr txBox="1"/>
          <p:nvPr/>
        </p:nvSpPr>
        <p:spPr>
          <a:xfrm>
            <a:off x="5517112" y="410869"/>
            <a:ext cx="2185261" cy="369332"/>
          </a:xfrm>
          <a:prstGeom prst="rect">
            <a:avLst/>
          </a:prstGeom>
          <a:noFill/>
        </p:spPr>
        <p:txBody>
          <a:bodyPr wrap="square" rtlCol="0">
            <a:spAutoFit/>
          </a:bodyPr>
          <a:lstStyle/>
          <a:p>
            <a:r>
              <a:rPr lang="en-US" dirty="0">
                <a:solidFill>
                  <a:srgbClr val="E899EB"/>
                </a:solidFill>
              </a:rPr>
              <a:t>Patient 2 (GB11)</a:t>
            </a:r>
          </a:p>
        </p:txBody>
      </p:sp>
    </p:spTree>
    <p:extLst>
      <p:ext uri="{BB962C8B-B14F-4D97-AF65-F5344CB8AC3E}">
        <p14:creationId xmlns:p14="http://schemas.microsoft.com/office/powerpoint/2010/main" val="3126492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F8AC06-04A7-ED3C-5B94-DDDCF1168E2A}"/>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7" name="Title 1">
            <a:extLst>
              <a:ext uri="{FF2B5EF4-FFF2-40B4-BE49-F238E27FC236}">
                <a16:creationId xmlns:a16="http://schemas.microsoft.com/office/drawing/2014/main" id="{6B22E897-3852-82A2-BC52-CEFEF0DF4396}"/>
              </a:ext>
            </a:extLst>
          </p:cNvPr>
          <p:cNvSpPr txBox="1">
            <a:spLocks/>
          </p:cNvSpPr>
          <p:nvPr/>
        </p:nvSpPr>
        <p:spPr>
          <a:xfrm>
            <a:off x="0" y="2258530"/>
            <a:ext cx="1863524" cy="17323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GENE</a:t>
            </a:r>
          </a:p>
          <a:p>
            <a:r>
              <a:rPr lang="en-US" sz="2800" dirty="0"/>
              <a:t>Enrichment</a:t>
            </a:r>
          </a:p>
          <a:p>
            <a:r>
              <a:rPr lang="en-US" sz="2800" dirty="0"/>
              <a:t>Ontology</a:t>
            </a:r>
          </a:p>
        </p:txBody>
      </p:sp>
      <p:pic>
        <p:nvPicPr>
          <p:cNvPr id="9" name="Picture 8" descr="A diagram of a structure&#10;&#10;Description automatically generated">
            <a:extLst>
              <a:ext uri="{FF2B5EF4-FFF2-40B4-BE49-F238E27FC236}">
                <a16:creationId xmlns:a16="http://schemas.microsoft.com/office/drawing/2014/main" id="{DEDAC267-967C-2339-CBE7-845E4E1104D7}"/>
              </a:ext>
            </a:extLst>
          </p:cNvPr>
          <p:cNvPicPr>
            <a:picLocks noChangeAspect="1"/>
          </p:cNvPicPr>
          <p:nvPr/>
        </p:nvPicPr>
        <p:blipFill>
          <a:blip r:embed="rId3"/>
          <a:stretch>
            <a:fillRect/>
          </a:stretch>
        </p:blipFill>
        <p:spPr>
          <a:xfrm>
            <a:off x="2382540" y="254807"/>
            <a:ext cx="7815343" cy="6348385"/>
          </a:xfrm>
          <a:prstGeom prst="rect">
            <a:avLst/>
          </a:prstGeom>
        </p:spPr>
      </p:pic>
      <p:sp>
        <p:nvSpPr>
          <p:cNvPr id="10" name="TextBox 9">
            <a:extLst>
              <a:ext uri="{FF2B5EF4-FFF2-40B4-BE49-F238E27FC236}">
                <a16:creationId xmlns:a16="http://schemas.microsoft.com/office/drawing/2014/main" id="{0E0B3236-C9A1-C105-961E-ED36ABECDA6E}"/>
              </a:ext>
            </a:extLst>
          </p:cNvPr>
          <p:cNvSpPr txBox="1"/>
          <p:nvPr/>
        </p:nvSpPr>
        <p:spPr>
          <a:xfrm>
            <a:off x="417750" y="1422220"/>
            <a:ext cx="2420865" cy="369332"/>
          </a:xfrm>
          <a:prstGeom prst="rect">
            <a:avLst/>
          </a:prstGeom>
          <a:noFill/>
        </p:spPr>
        <p:txBody>
          <a:bodyPr wrap="square" rtlCol="0">
            <a:spAutoFit/>
          </a:bodyPr>
          <a:lstStyle/>
          <a:p>
            <a:r>
              <a:rPr lang="en-US" dirty="0">
                <a:solidFill>
                  <a:srgbClr val="E899EB"/>
                </a:solidFill>
              </a:rPr>
              <a:t>Patient 2  (GB11)</a:t>
            </a:r>
          </a:p>
        </p:txBody>
      </p:sp>
    </p:spTree>
    <p:extLst>
      <p:ext uri="{BB962C8B-B14F-4D97-AF65-F5344CB8AC3E}">
        <p14:creationId xmlns:p14="http://schemas.microsoft.com/office/powerpoint/2010/main" val="3796796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F8AC06-04A7-ED3C-5B94-DDDCF1168E2A}"/>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pic>
        <p:nvPicPr>
          <p:cNvPr id="4" name="Picture 3" descr="A graph with red and blue dots&#10;&#10;Description automatically generated">
            <a:extLst>
              <a:ext uri="{FF2B5EF4-FFF2-40B4-BE49-F238E27FC236}">
                <a16:creationId xmlns:a16="http://schemas.microsoft.com/office/drawing/2014/main" id="{D42E5336-F931-F4DB-3287-9FC76A98AD6F}"/>
              </a:ext>
            </a:extLst>
          </p:cNvPr>
          <p:cNvPicPr>
            <a:picLocks noChangeAspect="1"/>
          </p:cNvPicPr>
          <p:nvPr/>
        </p:nvPicPr>
        <p:blipFill>
          <a:blip r:embed="rId2"/>
          <a:stretch>
            <a:fillRect/>
          </a:stretch>
        </p:blipFill>
        <p:spPr>
          <a:xfrm>
            <a:off x="2552508" y="231136"/>
            <a:ext cx="9639492" cy="6395727"/>
          </a:xfrm>
          <a:prstGeom prst="rect">
            <a:avLst/>
          </a:prstGeom>
        </p:spPr>
      </p:pic>
      <p:sp>
        <p:nvSpPr>
          <p:cNvPr id="8" name="Title 1">
            <a:extLst>
              <a:ext uri="{FF2B5EF4-FFF2-40B4-BE49-F238E27FC236}">
                <a16:creationId xmlns:a16="http://schemas.microsoft.com/office/drawing/2014/main" id="{D99DD1DC-A561-69F1-07B5-FEC4119CB3DC}"/>
              </a:ext>
            </a:extLst>
          </p:cNvPr>
          <p:cNvSpPr txBox="1">
            <a:spLocks/>
          </p:cNvSpPr>
          <p:nvPr/>
        </p:nvSpPr>
        <p:spPr>
          <a:xfrm>
            <a:off x="0" y="2258530"/>
            <a:ext cx="3636488" cy="17323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GENE Ontology Enrichment</a:t>
            </a:r>
          </a:p>
        </p:txBody>
      </p:sp>
      <p:sp>
        <p:nvSpPr>
          <p:cNvPr id="9" name="TextBox 8">
            <a:extLst>
              <a:ext uri="{FF2B5EF4-FFF2-40B4-BE49-F238E27FC236}">
                <a16:creationId xmlns:a16="http://schemas.microsoft.com/office/drawing/2014/main" id="{64B8E869-3A26-A4D7-454F-0E7DD416601C}"/>
              </a:ext>
            </a:extLst>
          </p:cNvPr>
          <p:cNvSpPr txBox="1"/>
          <p:nvPr/>
        </p:nvSpPr>
        <p:spPr>
          <a:xfrm>
            <a:off x="461820" y="1649124"/>
            <a:ext cx="2420865" cy="369332"/>
          </a:xfrm>
          <a:prstGeom prst="rect">
            <a:avLst/>
          </a:prstGeom>
          <a:noFill/>
        </p:spPr>
        <p:txBody>
          <a:bodyPr wrap="square" rtlCol="0">
            <a:spAutoFit/>
          </a:bodyPr>
          <a:lstStyle/>
          <a:p>
            <a:r>
              <a:rPr lang="en-US" dirty="0">
                <a:solidFill>
                  <a:srgbClr val="E899EB"/>
                </a:solidFill>
              </a:rPr>
              <a:t>Patient 3  (GB24)</a:t>
            </a:r>
          </a:p>
        </p:txBody>
      </p:sp>
    </p:spTree>
    <p:extLst>
      <p:ext uri="{BB962C8B-B14F-4D97-AF65-F5344CB8AC3E}">
        <p14:creationId xmlns:p14="http://schemas.microsoft.com/office/powerpoint/2010/main" val="79126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F8AC06-04A7-ED3C-5B94-DDDCF1168E2A}"/>
              </a:ext>
            </a:extLst>
          </p:cNvPr>
          <p:cNvSpPr txBox="1">
            <a:spLocks/>
          </p:cNvSpPr>
          <p:nvPr/>
        </p:nvSpPr>
        <p:spPr>
          <a:xfrm>
            <a:off x="0" y="0"/>
            <a:ext cx="2182792" cy="837195"/>
          </a:xfrm>
          <a:prstGeom prst="rect">
            <a:avLst/>
          </a:prstGeom>
          <a:solidFill>
            <a:schemeClr val="accent3">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RNA Seq</a:t>
            </a:r>
            <a:endParaRPr lang="en-US" dirty="0"/>
          </a:p>
        </p:txBody>
      </p:sp>
      <p:sp>
        <p:nvSpPr>
          <p:cNvPr id="8" name="Title 1">
            <a:extLst>
              <a:ext uri="{FF2B5EF4-FFF2-40B4-BE49-F238E27FC236}">
                <a16:creationId xmlns:a16="http://schemas.microsoft.com/office/drawing/2014/main" id="{D99DD1DC-A561-69F1-07B5-FEC4119CB3DC}"/>
              </a:ext>
            </a:extLst>
          </p:cNvPr>
          <p:cNvSpPr txBox="1">
            <a:spLocks/>
          </p:cNvSpPr>
          <p:nvPr/>
        </p:nvSpPr>
        <p:spPr>
          <a:xfrm>
            <a:off x="-1" y="2258530"/>
            <a:ext cx="1481559" cy="17323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GENE </a:t>
            </a:r>
          </a:p>
          <a:p>
            <a:r>
              <a:rPr lang="en-US" sz="2000" dirty="0"/>
              <a:t>Ontology </a:t>
            </a:r>
          </a:p>
          <a:p>
            <a:r>
              <a:rPr lang="en-US" sz="2000" dirty="0"/>
              <a:t>Enrichment</a:t>
            </a:r>
          </a:p>
        </p:txBody>
      </p:sp>
      <p:pic>
        <p:nvPicPr>
          <p:cNvPr id="7" name="Picture 6" descr="A close-up of a diagram&#10;&#10;Description automatically generated">
            <a:extLst>
              <a:ext uri="{FF2B5EF4-FFF2-40B4-BE49-F238E27FC236}">
                <a16:creationId xmlns:a16="http://schemas.microsoft.com/office/drawing/2014/main" id="{FA012284-5199-E836-9020-3954EBA1074C}"/>
              </a:ext>
            </a:extLst>
          </p:cNvPr>
          <p:cNvPicPr>
            <a:picLocks noChangeAspect="1"/>
          </p:cNvPicPr>
          <p:nvPr/>
        </p:nvPicPr>
        <p:blipFill>
          <a:blip r:embed="rId3"/>
          <a:stretch>
            <a:fillRect/>
          </a:stretch>
        </p:blipFill>
        <p:spPr>
          <a:xfrm>
            <a:off x="2445287" y="333322"/>
            <a:ext cx="8574008" cy="6191356"/>
          </a:xfrm>
          <a:prstGeom prst="rect">
            <a:avLst/>
          </a:prstGeom>
        </p:spPr>
      </p:pic>
      <p:sp>
        <p:nvSpPr>
          <p:cNvPr id="9" name="TextBox 8">
            <a:extLst>
              <a:ext uri="{FF2B5EF4-FFF2-40B4-BE49-F238E27FC236}">
                <a16:creationId xmlns:a16="http://schemas.microsoft.com/office/drawing/2014/main" id="{C9C0755C-0F94-439B-0424-8C8F70FE1C7A}"/>
              </a:ext>
            </a:extLst>
          </p:cNvPr>
          <p:cNvSpPr txBox="1"/>
          <p:nvPr/>
        </p:nvSpPr>
        <p:spPr>
          <a:xfrm>
            <a:off x="24422" y="1649124"/>
            <a:ext cx="2420865" cy="369332"/>
          </a:xfrm>
          <a:prstGeom prst="rect">
            <a:avLst/>
          </a:prstGeom>
          <a:noFill/>
        </p:spPr>
        <p:txBody>
          <a:bodyPr wrap="square" rtlCol="0">
            <a:spAutoFit/>
          </a:bodyPr>
          <a:lstStyle/>
          <a:p>
            <a:r>
              <a:rPr lang="en-US" dirty="0">
                <a:solidFill>
                  <a:srgbClr val="E899EB"/>
                </a:solidFill>
              </a:rPr>
              <a:t>Patient 3  (GB24)</a:t>
            </a:r>
          </a:p>
        </p:txBody>
      </p:sp>
    </p:spTree>
    <p:extLst>
      <p:ext uri="{BB962C8B-B14F-4D97-AF65-F5344CB8AC3E}">
        <p14:creationId xmlns:p14="http://schemas.microsoft.com/office/powerpoint/2010/main" val="1358722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93A3E1-E4DF-A2EA-06E5-58ED742F45A2}"/>
              </a:ext>
            </a:extLst>
          </p:cNvPr>
          <p:cNvPicPr>
            <a:picLocks noChangeAspect="1"/>
          </p:cNvPicPr>
          <p:nvPr/>
        </p:nvPicPr>
        <p:blipFill>
          <a:blip r:embed="rId2"/>
          <a:stretch>
            <a:fillRect/>
          </a:stretch>
        </p:blipFill>
        <p:spPr>
          <a:xfrm>
            <a:off x="-3678498" y="0"/>
            <a:ext cx="8430351" cy="6857999"/>
          </a:xfrm>
          <a:prstGeom prst="rect">
            <a:avLst/>
          </a:prstGeom>
        </p:spPr>
      </p:pic>
      <p:pic>
        <p:nvPicPr>
          <p:cNvPr id="5" name="Picture 4" descr="A graph with red dots and blue dots&#10;&#10;Description automatically generated">
            <a:extLst>
              <a:ext uri="{FF2B5EF4-FFF2-40B4-BE49-F238E27FC236}">
                <a16:creationId xmlns:a16="http://schemas.microsoft.com/office/drawing/2014/main" id="{2D422C34-C9CC-DC29-8CC9-33A33745D418}"/>
              </a:ext>
            </a:extLst>
          </p:cNvPr>
          <p:cNvPicPr>
            <a:picLocks noChangeAspect="1"/>
          </p:cNvPicPr>
          <p:nvPr/>
        </p:nvPicPr>
        <p:blipFill>
          <a:blip r:embed="rId3"/>
          <a:stretch>
            <a:fillRect/>
          </a:stretch>
        </p:blipFill>
        <p:spPr>
          <a:xfrm>
            <a:off x="4751853" y="-193964"/>
            <a:ext cx="8601148" cy="7051963"/>
          </a:xfrm>
          <a:prstGeom prst="rect">
            <a:avLst/>
          </a:prstGeom>
        </p:spPr>
      </p:pic>
      <p:pic>
        <p:nvPicPr>
          <p:cNvPr id="6" name="Picture 5" descr="A graph with red and blue dots&#10;&#10;Description automatically generated">
            <a:extLst>
              <a:ext uri="{FF2B5EF4-FFF2-40B4-BE49-F238E27FC236}">
                <a16:creationId xmlns:a16="http://schemas.microsoft.com/office/drawing/2014/main" id="{E452EDCA-7D92-4800-1140-154913ECBC68}"/>
              </a:ext>
            </a:extLst>
          </p:cNvPr>
          <p:cNvPicPr>
            <a:picLocks noChangeAspect="1"/>
          </p:cNvPicPr>
          <p:nvPr/>
        </p:nvPicPr>
        <p:blipFill>
          <a:blip r:embed="rId4"/>
          <a:stretch>
            <a:fillRect/>
          </a:stretch>
        </p:blipFill>
        <p:spPr>
          <a:xfrm>
            <a:off x="941422" y="6914507"/>
            <a:ext cx="9639492" cy="6395727"/>
          </a:xfrm>
          <a:prstGeom prst="rect">
            <a:avLst/>
          </a:prstGeom>
        </p:spPr>
      </p:pic>
      <p:sp>
        <p:nvSpPr>
          <p:cNvPr id="7" name="TextBox 6">
            <a:extLst>
              <a:ext uri="{FF2B5EF4-FFF2-40B4-BE49-F238E27FC236}">
                <a16:creationId xmlns:a16="http://schemas.microsoft.com/office/drawing/2014/main" id="{25086C4C-6956-FABD-74B5-D61FCAE999B3}"/>
              </a:ext>
            </a:extLst>
          </p:cNvPr>
          <p:cNvSpPr txBox="1"/>
          <p:nvPr/>
        </p:nvSpPr>
        <p:spPr>
          <a:xfrm>
            <a:off x="-3678498" y="159284"/>
            <a:ext cx="1253438" cy="461665"/>
          </a:xfrm>
          <a:prstGeom prst="rect">
            <a:avLst/>
          </a:prstGeom>
          <a:solidFill>
            <a:schemeClr val="bg1"/>
          </a:solidFill>
        </p:spPr>
        <p:txBody>
          <a:bodyPr wrap="square" rtlCol="0">
            <a:spAutoFit/>
          </a:bodyPr>
          <a:lstStyle/>
          <a:p>
            <a:r>
              <a:rPr lang="en-US" sz="2400" b="1" dirty="0"/>
              <a:t>A. GSC1</a:t>
            </a:r>
          </a:p>
        </p:txBody>
      </p:sp>
      <p:sp>
        <p:nvSpPr>
          <p:cNvPr id="8" name="TextBox 7">
            <a:extLst>
              <a:ext uri="{FF2B5EF4-FFF2-40B4-BE49-F238E27FC236}">
                <a16:creationId xmlns:a16="http://schemas.microsoft.com/office/drawing/2014/main" id="{01F4BA9D-6645-C11D-952A-8AC7A7D91CFB}"/>
              </a:ext>
            </a:extLst>
          </p:cNvPr>
          <p:cNvSpPr txBox="1"/>
          <p:nvPr/>
        </p:nvSpPr>
        <p:spPr>
          <a:xfrm>
            <a:off x="1340789" y="7184176"/>
            <a:ext cx="1253438" cy="461665"/>
          </a:xfrm>
          <a:prstGeom prst="rect">
            <a:avLst/>
          </a:prstGeom>
          <a:solidFill>
            <a:schemeClr val="bg1"/>
          </a:solidFill>
        </p:spPr>
        <p:txBody>
          <a:bodyPr wrap="square" rtlCol="0">
            <a:spAutoFit/>
          </a:bodyPr>
          <a:lstStyle/>
          <a:p>
            <a:r>
              <a:rPr lang="en-US" sz="2400" b="1" dirty="0"/>
              <a:t>C. GSC3</a:t>
            </a:r>
          </a:p>
        </p:txBody>
      </p:sp>
      <p:sp>
        <p:nvSpPr>
          <p:cNvPr id="9" name="TextBox 8">
            <a:extLst>
              <a:ext uri="{FF2B5EF4-FFF2-40B4-BE49-F238E27FC236}">
                <a16:creationId xmlns:a16="http://schemas.microsoft.com/office/drawing/2014/main" id="{A6BD9B91-9A46-CD74-8CDC-C224E9AAC153}"/>
              </a:ext>
            </a:extLst>
          </p:cNvPr>
          <p:cNvSpPr txBox="1"/>
          <p:nvPr/>
        </p:nvSpPr>
        <p:spPr>
          <a:xfrm>
            <a:off x="5112422" y="113026"/>
            <a:ext cx="1297491" cy="461665"/>
          </a:xfrm>
          <a:prstGeom prst="rect">
            <a:avLst/>
          </a:prstGeom>
          <a:solidFill>
            <a:schemeClr val="bg1"/>
          </a:solidFill>
        </p:spPr>
        <p:txBody>
          <a:bodyPr wrap="square" rtlCol="0">
            <a:spAutoFit/>
          </a:bodyPr>
          <a:lstStyle/>
          <a:p>
            <a:r>
              <a:rPr lang="en-US" sz="2400" b="1" dirty="0"/>
              <a:t>B. GSC2</a:t>
            </a:r>
          </a:p>
        </p:txBody>
      </p:sp>
    </p:spTree>
    <p:extLst>
      <p:ext uri="{BB962C8B-B14F-4D97-AF65-F5344CB8AC3E}">
        <p14:creationId xmlns:p14="http://schemas.microsoft.com/office/powerpoint/2010/main" val="210888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close-up of a diagram&#10;&#10;Description automatically generated">
            <a:extLst>
              <a:ext uri="{FF2B5EF4-FFF2-40B4-BE49-F238E27FC236}">
                <a16:creationId xmlns:a16="http://schemas.microsoft.com/office/drawing/2014/main" id="{4408837B-5251-7F87-0490-06228C949FB0}"/>
              </a:ext>
            </a:extLst>
          </p:cNvPr>
          <p:cNvPicPr>
            <a:picLocks noChangeAspect="1"/>
          </p:cNvPicPr>
          <p:nvPr/>
        </p:nvPicPr>
        <p:blipFill>
          <a:blip r:embed="rId3"/>
          <a:stretch>
            <a:fillRect/>
          </a:stretch>
        </p:blipFill>
        <p:spPr>
          <a:xfrm>
            <a:off x="10158363" y="1121862"/>
            <a:ext cx="5992758" cy="4929041"/>
          </a:xfrm>
          <a:prstGeom prst="rect">
            <a:avLst/>
          </a:prstGeom>
        </p:spPr>
      </p:pic>
      <p:cxnSp>
        <p:nvCxnSpPr>
          <p:cNvPr id="11" name="Straight Connector 10">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6" name="Picture 5" descr="A diagram of a dna molecule&#10;&#10;Description automatically generated with medium confidence">
            <a:extLst>
              <a:ext uri="{FF2B5EF4-FFF2-40B4-BE49-F238E27FC236}">
                <a16:creationId xmlns:a16="http://schemas.microsoft.com/office/drawing/2014/main" id="{3A6D3731-219B-1D3A-66CA-3E900B55349E}"/>
              </a:ext>
            </a:extLst>
          </p:cNvPr>
          <p:cNvPicPr>
            <a:picLocks noChangeAspect="1"/>
          </p:cNvPicPr>
          <p:nvPr/>
        </p:nvPicPr>
        <p:blipFill>
          <a:blip r:embed="rId4"/>
          <a:stretch>
            <a:fillRect/>
          </a:stretch>
        </p:blipFill>
        <p:spPr>
          <a:xfrm>
            <a:off x="-1844665" y="1343054"/>
            <a:ext cx="5992764" cy="4869119"/>
          </a:xfrm>
          <a:prstGeom prst="rect">
            <a:avLst/>
          </a:prstGeom>
        </p:spPr>
      </p:pic>
      <p:pic>
        <p:nvPicPr>
          <p:cNvPr id="8" name="Picture 7" descr="A diagram of a structure&#10;&#10;Description automatically generated">
            <a:extLst>
              <a:ext uri="{FF2B5EF4-FFF2-40B4-BE49-F238E27FC236}">
                <a16:creationId xmlns:a16="http://schemas.microsoft.com/office/drawing/2014/main" id="{201812D6-58D4-52E7-976F-C81CCE58BFB3}"/>
              </a:ext>
            </a:extLst>
          </p:cNvPr>
          <p:cNvPicPr>
            <a:picLocks noChangeAspect="1"/>
          </p:cNvPicPr>
          <p:nvPr/>
        </p:nvPicPr>
        <p:blipFill>
          <a:blip r:embed="rId5"/>
          <a:stretch>
            <a:fillRect/>
          </a:stretch>
        </p:blipFill>
        <p:spPr>
          <a:xfrm>
            <a:off x="3781235" y="1181784"/>
            <a:ext cx="5992763" cy="4869119"/>
          </a:xfrm>
          <a:prstGeom prst="rect">
            <a:avLst/>
          </a:prstGeom>
        </p:spPr>
      </p:pic>
      <p:sp>
        <p:nvSpPr>
          <p:cNvPr id="9" name="TextBox 8">
            <a:extLst>
              <a:ext uri="{FF2B5EF4-FFF2-40B4-BE49-F238E27FC236}">
                <a16:creationId xmlns:a16="http://schemas.microsoft.com/office/drawing/2014/main" id="{86787044-79EC-FCBA-84E6-883D3A5AC31A}"/>
              </a:ext>
            </a:extLst>
          </p:cNvPr>
          <p:cNvSpPr txBox="1"/>
          <p:nvPr/>
        </p:nvSpPr>
        <p:spPr>
          <a:xfrm>
            <a:off x="-2220687" y="1214471"/>
            <a:ext cx="1253438" cy="461665"/>
          </a:xfrm>
          <a:prstGeom prst="rect">
            <a:avLst/>
          </a:prstGeom>
          <a:solidFill>
            <a:schemeClr val="bg1"/>
          </a:solidFill>
        </p:spPr>
        <p:txBody>
          <a:bodyPr wrap="square" rtlCol="0">
            <a:spAutoFit/>
          </a:bodyPr>
          <a:lstStyle/>
          <a:p>
            <a:r>
              <a:rPr lang="en-US" sz="2400" b="1" dirty="0"/>
              <a:t>A. GSC1</a:t>
            </a:r>
          </a:p>
        </p:txBody>
      </p:sp>
      <p:sp>
        <p:nvSpPr>
          <p:cNvPr id="10" name="TextBox 9">
            <a:extLst>
              <a:ext uri="{FF2B5EF4-FFF2-40B4-BE49-F238E27FC236}">
                <a16:creationId xmlns:a16="http://schemas.microsoft.com/office/drawing/2014/main" id="{A12443A1-E068-50B1-656E-3D6E9E89ABEC}"/>
              </a:ext>
            </a:extLst>
          </p:cNvPr>
          <p:cNvSpPr txBox="1"/>
          <p:nvPr/>
        </p:nvSpPr>
        <p:spPr>
          <a:xfrm>
            <a:off x="9809000" y="1343054"/>
            <a:ext cx="1253438" cy="461665"/>
          </a:xfrm>
          <a:prstGeom prst="rect">
            <a:avLst/>
          </a:prstGeom>
          <a:solidFill>
            <a:schemeClr val="bg1"/>
          </a:solidFill>
        </p:spPr>
        <p:txBody>
          <a:bodyPr wrap="square" rtlCol="0">
            <a:spAutoFit/>
          </a:bodyPr>
          <a:lstStyle/>
          <a:p>
            <a:r>
              <a:rPr lang="en-US" sz="2400" b="1" dirty="0"/>
              <a:t>C. GSC3</a:t>
            </a:r>
          </a:p>
        </p:txBody>
      </p:sp>
      <p:sp>
        <p:nvSpPr>
          <p:cNvPr id="12" name="TextBox 11">
            <a:extLst>
              <a:ext uri="{FF2B5EF4-FFF2-40B4-BE49-F238E27FC236}">
                <a16:creationId xmlns:a16="http://schemas.microsoft.com/office/drawing/2014/main" id="{DFBF1B6E-DBD9-791F-CBAE-3DBD6E5762D0}"/>
              </a:ext>
            </a:extLst>
          </p:cNvPr>
          <p:cNvSpPr txBox="1"/>
          <p:nvPr/>
        </p:nvSpPr>
        <p:spPr>
          <a:xfrm>
            <a:off x="3516854" y="1445303"/>
            <a:ext cx="1297491" cy="461665"/>
          </a:xfrm>
          <a:prstGeom prst="rect">
            <a:avLst/>
          </a:prstGeom>
          <a:solidFill>
            <a:schemeClr val="bg1"/>
          </a:solidFill>
        </p:spPr>
        <p:txBody>
          <a:bodyPr wrap="square" rtlCol="0">
            <a:spAutoFit/>
          </a:bodyPr>
          <a:lstStyle/>
          <a:p>
            <a:r>
              <a:rPr lang="en-US" sz="2400" b="1" dirty="0"/>
              <a:t>B. GSC2</a:t>
            </a:r>
          </a:p>
        </p:txBody>
      </p:sp>
    </p:spTree>
    <p:extLst>
      <p:ext uri="{BB962C8B-B14F-4D97-AF65-F5344CB8AC3E}">
        <p14:creationId xmlns:p14="http://schemas.microsoft.com/office/powerpoint/2010/main" val="3181045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50C885EE-474E-9142-9E09-0BFE1794CF3D}"/>
              </a:ext>
            </a:extLst>
          </p:cNvPr>
          <p:cNvPicPr>
            <a:picLocks noChangeAspect="1"/>
          </p:cNvPicPr>
          <p:nvPr/>
        </p:nvPicPr>
        <p:blipFill rotWithShape="1">
          <a:blip r:embed="rId3"/>
          <a:srcRect t="9924"/>
          <a:stretch/>
        </p:blipFill>
        <p:spPr>
          <a:xfrm>
            <a:off x="6606912" y="2128616"/>
            <a:ext cx="5143500" cy="2894234"/>
          </a:xfrm>
          <a:prstGeom prst="rect">
            <a:avLst/>
          </a:prstGeom>
        </p:spPr>
      </p:pic>
      <p:sp>
        <p:nvSpPr>
          <p:cNvPr id="14" name="TextBox 13">
            <a:extLst>
              <a:ext uri="{FF2B5EF4-FFF2-40B4-BE49-F238E27FC236}">
                <a16:creationId xmlns:a16="http://schemas.microsoft.com/office/drawing/2014/main" id="{8B5D9743-4BB1-A74A-B4B5-56FEF532EABC}"/>
              </a:ext>
            </a:extLst>
          </p:cNvPr>
          <p:cNvSpPr txBox="1"/>
          <p:nvPr/>
        </p:nvSpPr>
        <p:spPr>
          <a:xfrm>
            <a:off x="891912" y="578018"/>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 enrichment for Biological processes between HDAC-7 siRNA and CT were for cell cycle processes and cell division</a:t>
            </a:r>
          </a:p>
        </p:txBody>
      </p:sp>
      <p:pic>
        <p:nvPicPr>
          <p:cNvPr id="8" name="Picture 7">
            <a:extLst>
              <a:ext uri="{FF2B5EF4-FFF2-40B4-BE49-F238E27FC236}">
                <a16:creationId xmlns:a16="http://schemas.microsoft.com/office/drawing/2014/main" id="{F398D0DF-F3F5-4848-A447-6781684F7D8B}"/>
              </a:ext>
            </a:extLst>
          </p:cNvPr>
          <p:cNvPicPr>
            <a:picLocks noChangeAspect="1"/>
          </p:cNvPicPr>
          <p:nvPr/>
        </p:nvPicPr>
        <p:blipFill rotWithShape="1">
          <a:blip r:embed="rId4"/>
          <a:srcRect t="3792"/>
          <a:stretch/>
        </p:blipFill>
        <p:spPr>
          <a:xfrm>
            <a:off x="329637" y="1463813"/>
            <a:ext cx="5521061" cy="5189621"/>
          </a:xfrm>
          <a:prstGeom prst="rect">
            <a:avLst/>
          </a:prstGeom>
        </p:spPr>
      </p:pic>
      <p:sp>
        <p:nvSpPr>
          <p:cNvPr id="2" name="TextBox 1">
            <a:extLst>
              <a:ext uri="{FF2B5EF4-FFF2-40B4-BE49-F238E27FC236}">
                <a16:creationId xmlns:a16="http://schemas.microsoft.com/office/drawing/2014/main" id="{88789E65-740F-F7AD-F500-12A44D1D938A}"/>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1  (GB2)</a:t>
            </a:r>
          </a:p>
        </p:txBody>
      </p:sp>
    </p:spTree>
    <p:extLst>
      <p:ext uri="{BB962C8B-B14F-4D97-AF65-F5344CB8AC3E}">
        <p14:creationId xmlns:p14="http://schemas.microsoft.com/office/powerpoint/2010/main" val="2080683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Pathway enrichment after HDAC-7 knockdown were for cell cycle processes, cell division and genomic organization</a:t>
            </a:r>
          </a:p>
        </p:txBody>
      </p:sp>
      <p:sp>
        <p:nvSpPr>
          <p:cNvPr id="2" name="TextBox 1">
            <a:extLst>
              <a:ext uri="{FF2B5EF4-FFF2-40B4-BE49-F238E27FC236}">
                <a16:creationId xmlns:a16="http://schemas.microsoft.com/office/drawing/2014/main" id="{D0220387-62BD-7B47-84FD-A0FA9755FBFD}"/>
              </a:ext>
            </a:extLst>
          </p:cNvPr>
          <p:cNvSpPr txBox="1"/>
          <p:nvPr/>
        </p:nvSpPr>
        <p:spPr>
          <a:xfrm>
            <a:off x="9620733" y="1949652"/>
            <a:ext cx="218598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KEGG database</a:t>
            </a:r>
          </a:p>
          <a:p>
            <a:pPr marL="285750" indent="-285750">
              <a:buFont typeface="Arial" panose="020B0604020202020204" pitchFamily="34" charset="0"/>
              <a:buChar char="•"/>
            </a:pPr>
            <a:r>
              <a:rPr lang="en-US" sz="1600" dirty="0" err="1"/>
              <a:t>BioGRID</a:t>
            </a:r>
            <a:r>
              <a:rPr lang="en-US" sz="1600" dirty="0"/>
              <a:t> Interaction database</a:t>
            </a:r>
          </a:p>
        </p:txBody>
      </p:sp>
      <p:sp>
        <p:nvSpPr>
          <p:cNvPr id="3" name="TextBox 2">
            <a:extLst>
              <a:ext uri="{FF2B5EF4-FFF2-40B4-BE49-F238E27FC236}">
                <a16:creationId xmlns:a16="http://schemas.microsoft.com/office/drawing/2014/main" id="{B1608FFF-AA9A-6118-8388-921A5762E61E}"/>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1  (GB2)</a:t>
            </a:r>
          </a:p>
        </p:txBody>
      </p:sp>
      <p:sp>
        <p:nvSpPr>
          <p:cNvPr id="4" name="TextBox 3">
            <a:extLst>
              <a:ext uri="{FF2B5EF4-FFF2-40B4-BE49-F238E27FC236}">
                <a16:creationId xmlns:a16="http://schemas.microsoft.com/office/drawing/2014/main" id="{ED60830E-268B-6FF5-FD12-36CDFE03C56A}"/>
              </a:ext>
            </a:extLst>
          </p:cNvPr>
          <p:cNvSpPr txBox="1"/>
          <p:nvPr/>
        </p:nvSpPr>
        <p:spPr>
          <a:xfrm>
            <a:off x="1287607" y="2134317"/>
            <a:ext cx="1297491" cy="369332"/>
          </a:xfrm>
          <a:prstGeom prst="rect">
            <a:avLst/>
          </a:prstGeom>
          <a:solidFill>
            <a:schemeClr val="bg1"/>
          </a:solidFill>
        </p:spPr>
        <p:txBody>
          <a:bodyPr wrap="square" rtlCol="0">
            <a:spAutoFit/>
          </a:bodyPr>
          <a:lstStyle/>
          <a:p>
            <a:r>
              <a:rPr lang="en-US" b="1" dirty="0"/>
              <a:t>A. GSC1</a:t>
            </a:r>
          </a:p>
        </p:txBody>
      </p:sp>
      <p:pic>
        <p:nvPicPr>
          <p:cNvPr id="5" name="Picture 4" descr="A screenshot of a computer&#10;&#10;Description automatically generated">
            <a:extLst>
              <a:ext uri="{FF2B5EF4-FFF2-40B4-BE49-F238E27FC236}">
                <a16:creationId xmlns:a16="http://schemas.microsoft.com/office/drawing/2014/main" id="{FC9D827D-D584-E8A4-2F32-136A4133361F}"/>
              </a:ext>
            </a:extLst>
          </p:cNvPr>
          <p:cNvPicPr>
            <a:picLocks noChangeAspect="1"/>
          </p:cNvPicPr>
          <p:nvPr/>
        </p:nvPicPr>
        <p:blipFill>
          <a:blip r:embed="rId3"/>
          <a:stretch>
            <a:fillRect/>
          </a:stretch>
        </p:blipFill>
        <p:spPr>
          <a:xfrm>
            <a:off x="2140961" y="1463814"/>
            <a:ext cx="5529786" cy="5249706"/>
          </a:xfrm>
          <a:prstGeom prst="rect">
            <a:avLst/>
          </a:prstGeom>
        </p:spPr>
      </p:pic>
    </p:spTree>
    <p:extLst>
      <p:ext uri="{BB962C8B-B14F-4D97-AF65-F5344CB8AC3E}">
        <p14:creationId xmlns:p14="http://schemas.microsoft.com/office/powerpoint/2010/main" val="1302894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 enrichment for Biological processes between HDAC-7 siRNA and CT were for cell cycle processes and cell division</a:t>
            </a:r>
          </a:p>
        </p:txBody>
      </p:sp>
      <p:pic>
        <p:nvPicPr>
          <p:cNvPr id="6" name="Picture 5">
            <a:extLst>
              <a:ext uri="{FF2B5EF4-FFF2-40B4-BE49-F238E27FC236}">
                <a16:creationId xmlns:a16="http://schemas.microsoft.com/office/drawing/2014/main" id="{6559FB1D-AFF9-5242-81AF-09D319096A10}"/>
              </a:ext>
            </a:extLst>
          </p:cNvPr>
          <p:cNvPicPr>
            <a:picLocks noChangeAspect="1"/>
          </p:cNvPicPr>
          <p:nvPr/>
        </p:nvPicPr>
        <p:blipFill rotWithShape="1">
          <a:blip r:embed="rId3"/>
          <a:srcRect t="6019"/>
          <a:stretch/>
        </p:blipFill>
        <p:spPr>
          <a:xfrm>
            <a:off x="1478273" y="1444597"/>
            <a:ext cx="7942573" cy="4923952"/>
          </a:xfrm>
          <a:prstGeom prst="rect">
            <a:avLst/>
          </a:prstGeom>
        </p:spPr>
      </p:pic>
      <p:sp>
        <p:nvSpPr>
          <p:cNvPr id="2" name="TextBox 1">
            <a:extLst>
              <a:ext uri="{FF2B5EF4-FFF2-40B4-BE49-F238E27FC236}">
                <a16:creationId xmlns:a16="http://schemas.microsoft.com/office/drawing/2014/main" id="{D0220387-62BD-7B47-84FD-A0FA9755FBFD}"/>
              </a:ext>
            </a:extLst>
          </p:cNvPr>
          <p:cNvSpPr txBox="1"/>
          <p:nvPr/>
        </p:nvSpPr>
        <p:spPr>
          <a:xfrm>
            <a:off x="9620733" y="1949652"/>
            <a:ext cx="2185987"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t>IntAct</a:t>
            </a:r>
            <a:r>
              <a:rPr lang="en-US" sz="1600" dirty="0"/>
              <a:t> Molecular Interaction database</a:t>
            </a:r>
          </a:p>
          <a:p>
            <a:pPr marL="285750" indent="-285750">
              <a:buFont typeface="Arial" panose="020B0604020202020204" pitchFamily="34" charset="0"/>
              <a:buChar char="•"/>
            </a:pPr>
            <a:r>
              <a:rPr lang="en-US" sz="1600" dirty="0" err="1"/>
              <a:t>BioGRID</a:t>
            </a:r>
            <a:r>
              <a:rPr lang="en-US" sz="1600" dirty="0"/>
              <a:t> Interaction database</a:t>
            </a:r>
          </a:p>
        </p:txBody>
      </p:sp>
      <p:sp>
        <p:nvSpPr>
          <p:cNvPr id="3" name="TextBox 2">
            <a:extLst>
              <a:ext uri="{FF2B5EF4-FFF2-40B4-BE49-F238E27FC236}">
                <a16:creationId xmlns:a16="http://schemas.microsoft.com/office/drawing/2014/main" id="{B1608FFF-AA9A-6118-8388-921A5762E61E}"/>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1  (GB2)</a:t>
            </a:r>
          </a:p>
        </p:txBody>
      </p:sp>
    </p:spTree>
    <p:extLst>
      <p:ext uri="{BB962C8B-B14F-4D97-AF65-F5344CB8AC3E}">
        <p14:creationId xmlns:p14="http://schemas.microsoft.com/office/powerpoint/2010/main" val="2359168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Pathway enrichment after HDAC-7 knockdown were for cell cycle processes, cell division and genomic organization</a:t>
            </a:r>
          </a:p>
        </p:txBody>
      </p:sp>
      <p:sp>
        <p:nvSpPr>
          <p:cNvPr id="3" name="TextBox 2">
            <a:extLst>
              <a:ext uri="{FF2B5EF4-FFF2-40B4-BE49-F238E27FC236}">
                <a16:creationId xmlns:a16="http://schemas.microsoft.com/office/drawing/2014/main" id="{B1608FFF-AA9A-6118-8388-921A5762E61E}"/>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2 (GB11)</a:t>
            </a:r>
          </a:p>
        </p:txBody>
      </p:sp>
      <p:pic>
        <p:nvPicPr>
          <p:cNvPr id="5" name="Picture 4">
            <a:extLst>
              <a:ext uri="{FF2B5EF4-FFF2-40B4-BE49-F238E27FC236}">
                <a16:creationId xmlns:a16="http://schemas.microsoft.com/office/drawing/2014/main" id="{469E0D80-53BC-0A4A-AED7-034155450D01}"/>
              </a:ext>
            </a:extLst>
          </p:cNvPr>
          <p:cNvPicPr>
            <a:picLocks noChangeAspect="1"/>
          </p:cNvPicPr>
          <p:nvPr/>
        </p:nvPicPr>
        <p:blipFill>
          <a:blip r:embed="rId3"/>
          <a:stretch>
            <a:fillRect/>
          </a:stretch>
        </p:blipFill>
        <p:spPr>
          <a:xfrm>
            <a:off x="786019" y="1463814"/>
            <a:ext cx="3780676" cy="5040901"/>
          </a:xfrm>
          <a:prstGeom prst="rect">
            <a:avLst/>
          </a:prstGeom>
        </p:spPr>
      </p:pic>
      <p:pic>
        <p:nvPicPr>
          <p:cNvPr id="8" name="Picture 7" descr="A table of data with numbers and text&#10;&#10;Description automatically generated with medium confidence">
            <a:extLst>
              <a:ext uri="{FF2B5EF4-FFF2-40B4-BE49-F238E27FC236}">
                <a16:creationId xmlns:a16="http://schemas.microsoft.com/office/drawing/2014/main" id="{6DB0DE64-D686-764F-E2BC-DF14D0BB2E9B}"/>
              </a:ext>
            </a:extLst>
          </p:cNvPr>
          <p:cNvPicPr>
            <a:picLocks noChangeAspect="1"/>
          </p:cNvPicPr>
          <p:nvPr/>
        </p:nvPicPr>
        <p:blipFill>
          <a:blip r:embed="rId4"/>
          <a:stretch>
            <a:fillRect/>
          </a:stretch>
        </p:blipFill>
        <p:spPr>
          <a:xfrm>
            <a:off x="5039474" y="2003346"/>
            <a:ext cx="5791200" cy="3797300"/>
          </a:xfrm>
          <a:prstGeom prst="rect">
            <a:avLst/>
          </a:prstGeom>
        </p:spPr>
      </p:pic>
    </p:spTree>
    <p:extLst>
      <p:ext uri="{BB962C8B-B14F-4D97-AF65-F5344CB8AC3E}">
        <p14:creationId xmlns:p14="http://schemas.microsoft.com/office/powerpoint/2010/main" val="3222075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Pathway enrichment after HDAC-7 knockdown were for cell cycle processes, cell division and genomic organization</a:t>
            </a:r>
          </a:p>
        </p:txBody>
      </p:sp>
      <p:sp>
        <p:nvSpPr>
          <p:cNvPr id="2" name="TextBox 1">
            <a:extLst>
              <a:ext uri="{FF2B5EF4-FFF2-40B4-BE49-F238E27FC236}">
                <a16:creationId xmlns:a16="http://schemas.microsoft.com/office/drawing/2014/main" id="{D0220387-62BD-7B47-84FD-A0FA9755FBFD}"/>
              </a:ext>
            </a:extLst>
          </p:cNvPr>
          <p:cNvSpPr txBox="1"/>
          <p:nvPr/>
        </p:nvSpPr>
        <p:spPr>
          <a:xfrm>
            <a:off x="9620733" y="1949652"/>
            <a:ext cx="2185987"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t>IntAct</a:t>
            </a:r>
            <a:r>
              <a:rPr lang="en-US" sz="1600" dirty="0"/>
              <a:t> Molecular Interaction database</a:t>
            </a:r>
          </a:p>
          <a:p>
            <a:pPr marL="285750" indent="-285750">
              <a:buFont typeface="Arial" panose="020B0604020202020204" pitchFamily="34" charset="0"/>
              <a:buChar char="•"/>
            </a:pPr>
            <a:r>
              <a:rPr lang="en-US" sz="1600" dirty="0" err="1"/>
              <a:t>BioGRID</a:t>
            </a:r>
            <a:r>
              <a:rPr lang="en-US" sz="1600" dirty="0"/>
              <a:t> Interaction database</a:t>
            </a:r>
          </a:p>
        </p:txBody>
      </p:sp>
      <p:sp>
        <p:nvSpPr>
          <p:cNvPr id="3" name="TextBox 2">
            <a:extLst>
              <a:ext uri="{FF2B5EF4-FFF2-40B4-BE49-F238E27FC236}">
                <a16:creationId xmlns:a16="http://schemas.microsoft.com/office/drawing/2014/main" id="{B1608FFF-AA9A-6118-8388-921A5762E61E}"/>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2 (GB11)</a:t>
            </a:r>
          </a:p>
        </p:txBody>
      </p:sp>
      <p:sp>
        <p:nvSpPr>
          <p:cNvPr id="5" name="TextBox 4">
            <a:extLst>
              <a:ext uri="{FF2B5EF4-FFF2-40B4-BE49-F238E27FC236}">
                <a16:creationId xmlns:a16="http://schemas.microsoft.com/office/drawing/2014/main" id="{4FE60F54-AF2E-20AE-9C7E-79126E277BBB}"/>
              </a:ext>
            </a:extLst>
          </p:cNvPr>
          <p:cNvSpPr txBox="1"/>
          <p:nvPr/>
        </p:nvSpPr>
        <p:spPr>
          <a:xfrm>
            <a:off x="1048077" y="1984474"/>
            <a:ext cx="1297491" cy="369332"/>
          </a:xfrm>
          <a:prstGeom prst="rect">
            <a:avLst/>
          </a:prstGeom>
          <a:solidFill>
            <a:schemeClr val="bg1"/>
          </a:solidFill>
        </p:spPr>
        <p:txBody>
          <a:bodyPr wrap="square" rtlCol="0">
            <a:spAutoFit/>
          </a:bodyPr>
          <a:lstStyle/>
          <a:p>
            <a:r>
              <a:rPr lang="en-US" b="1" dirty="0"/>
              <a:t>B. GSC2</a:t>
            </a:r>
          </a:p>
        </p:txBody>
      </p:sp>
      <p:pic>
        <p:nvPicPr>
          <p:cNvPr id="6" name="Picture 5">
            <a:extLst>
              <a:ext uri="{FF2B5EF4-FFF2-40B4-BE49-F238E27FC236}">
                <a16:creationId xmlns:a16="http://schemas.microsoft.com/office/drawing/2014/main" id="{66FE4B8F-7A04-BC68-B128-1F09BC5EF0EA}"/>
              </a:ext>
            </a:extLst>
          </p:cNvPr>
          <p:cNvPicPr>
            <a:picLocks noChangeAspect="1"/>
          </p:cNvPicPr>
          <p:nvPr/>
        </p:nvPicPr>
        <p:blipFill>
          <a:blip r:embed="rId3"/>
          <a:stretch>
            <a:fillRect/>
          </a:stretch>
        </p:blipFill>
        <p:spPr>
          <a:xfrm>
            <a:off x="1999449" y="1566130"/>
            <a:ext cx="5901378" cy="4939723"/>
          </a:xfrm>
          <a:prstGeom prst="rect">
            <a:avLst/>
          </a:prstGeom>
        </p:spPr>
      </p:pic>
    </p:spTree>
    <p:extLst>
      <p:ext uri="{BB962C8B-B14F-4D97-AF65-F5344CB8AC3E}">
        <p14:creationId xmlns:p14="http://schemas.microsoft.com/office/powerpoint/2010/main" val="3831512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 enrichment for Biological processes between HDAC-7 siRNA and CT were for cell cycle processes and cell division</a:t>
            </a:r>
          </a:p>
        </p:txBody>
      </p:sp>
      <p:pic>
        <p:nvPicPr>
          <p:cNvPr id="4" name="Picture 3" descr="A screenshot of a cell phone&#10;&#10;Description automatically generated">
            <a:extLst>
              <a:ext uri="{FF2B5EF4-FFF2-40B4-BE49-F238E27FC236}">
                <a16:creationId xmlns:a16="http://schemas.microsoft.com/office/drawing/2014/main" id="{8D3A523E-F616-DEBD-E754-54AF0B50DBAA}"/>
              </a:ext>
            </a:extLst>
          </p:cNvPr>
          <p:cNvPicPr>
            <a:picLocks noChangeAspect="1"/>
          </p:cNvPicPr>
          <p:nvPr/>
        </p:nvPicPr>
        <p:blipFill>
          <a:blip r:embed="rId3"/>
          <a:stretch>
            <a:fillRect/>
          </a:stretch>
        </p:blipFill>
        <p:spPr>
          <a:xfrm>
            <a:off x="329637" y="1409015"/>
            <a:ext cx="3313099" cy="5425580"/>
          </a:xfrm>
          <a:prstGeom prst="rect">
            <a:avLst/>
          </a:prstGeom>
        </p:spPr>
      </p:pic>
      <p:sp>
        <p:nvSpPr>
          <p:cNvPr id="5" name="TextBox 4">
            <a:extLst>
              <a:ext uri="{FF2B5EF4-FFF2-40B4-BE49-F238E27FC236}">
                <a16:creationId xmlns:a16="http://schemas.microsoft.com/office/drawing/2014/main" id="{B45102B2-2DBE-22AC-EE87-611F89FAC235}"/>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3 (GB24)</a:t>
            </a:r>
          </a:p>
        </p:txBody>
      </p:sp>
      <p:pic>
        <p:nvPicPr>
          <p:cNvPr id="10" name="Picture 9" descr="A table of numbers and symbols&#10;&#10;Description automatically generated with medium confidence">
            <a:extLst>
              <a:ext uri="{FF2B5EF4-FFF2-40B4-BE49-F238E27FC236}">
                <a16:creationId xmlns:a16="http://schemas.microsoft.com/office/drawing/2014/main" id="{16723875-FEBC-43ED-A7BB-0DC4F8691BEE}"/>
              </a:ext>
            </a:extLst>
          </p:cNvPr>
          <p:cNvPicPr>
            <a:picLocks noChangeAspect="1"/>
          </p:cNvPicPr>
          <p:nvPr/>
        </p:nvPicPr>
        <p:blipFill>
          <a:blip r:embed="rId4"/>
          <a:stretch>
            <a:fillRect/>
          </a:stretch>
        </p:blipFill>
        <p:spPr>
          <a:xfrm>
            <a:off x="4776107" y="2002651"/>
            <a:ext cx="6667500" cy="3683000"/>
          </a:xfrm>
          <a:prstGeom prst="rect">
            <a:avLst/>
          </a:prstGeom>
        </p:spPr>
      </p:pic>
    </p:spTree>
    <p:extLst>
      <p:ext uri="{BB962C8B-B14F-4D97-AF65-F5344CB8AC3E}">
        <p14:creationId xmlns:p14="http://schemas.microsoft.com/office/powerpoint/2010/main" val="1308848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0">
            <a:extLst>
              <a:ext uri="{FF2B5EF4-FFF2-40B4-BE49-F238E27FC236}">
                <a16:creationId xmlns:a16="http://schemas.microsoft.com/office/drawing/2014/main" id="{A05F9FB6-A991-694F-8132-181658293258}"/>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818DF04-48BC-E747-AD59-C4FDB979BFFB}"/>
              </a:ext>
            </a:extLst>
          </p:cNvPr>
          <p:cNvSpPr txBox="1"/>
          <p:nvPr/>
        </p:nvSpPr>
        <p:spPr>
          <a:xfrm>
            <a:off x="786019" y="464224"/>
            <a:ext cx="10858500" cy="83099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 enrichment for Biological processes between HDAC-7 siRNA and CT were for cell cycle processes and cell division</a:t>
            </a:r>
          </a:p>
        </p:txBody>
      </p:sp>
      <p:sp>
        <p:nvSpPr>
          <p:cNvPr id="2" name="TextBox 1">
            <a:extLst>
              <a:ext uri="{FF2B5EF4-FFF2-40B4-BE49-F238E27FC236}">
                <a16:creationId xmlns:a16="http://schemas.microsoft.com/office/drawing/2014/main" id="{D0220387-62BD-7B47-84FD-A0FA9755FBFD}"/>
              </a:ext>
            </a:extLst>
          </p:cNvPr>
          <p:cNvSpPr txBox="1"/>
          <p:nvPr/>
        </p:nvSpPr>
        <p:spPr>
          <a:xfrm>
            <a:off x="9620733" y="1949652"/>
            <a:ext cx="218598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KEGG database</a:t>
            </a:r>
          </a:p>
          <a:p>
            <a:pPr marL="285750" indent="-285750">
              <a:buFont typeface="Arial" panose="020B0604020202020204" pitchFamily="34" charset="0"/>
              <a:buChar char="•"/>
            </a:pPr>
            <a:r>
              <a:rPr lang="en-US" sz="1600" dirty="0" err="1"/>
              <a:t>BioGRID</a:t>
            </a:r>
            <a:r>
              <a:rPr lang="en-US" sz="1600" dirty="0"/>
              <a:t> Interaction database</a:t>
            </a:r>
          </a:p>
        </p:txBody>
      </p:sp>
      <p:sp>
        <p:nvSpPr>
          <p:cNvPr id="3" name="TextBox 2">
            <a:extLst>
              <a:ext uri="{FF2B5EF4-FFF2-40B4-BE49-F238E27FC236}">
                <a16:creationId xmlns:a16="http://schemas.microsoft.com/office/drawing/2014/main" id="{B1608FFF-AA9A-6118-8388-921A5762E61E}"/>
              </a:ext>
            </a:extLst>
          </p:cNvPr>
          <p:cNvSpPr txBox="1"/>
          <p:nvPr/>
        </p:nvSpPr>
        <p:spPr>
          <a:xfrm>
            <a:off x="329637" y="1039683"/>
            <a:ext cx="2420865" cy="369332"/>
          </a:xfrm>
          <a:prstGeom prst="rect">
            <a:avLst/>
          </a:prstGeom>
          <a:noFill/>
        </p:spPr>
        <p:txBody>
          <a:bodyPr wrap="square" rtlCol="0">
            <a:spAutoFit/>
          </a:bodyPr>
          <a:lstStyle/>
          <a:p>
            <a:r>
              <a:rPr lang="en-US" dirty="0">
                <a:solidFill>
                  <a:srgbClr val="E899EB"/>
                </a:solidFill>
              </a:rPr>
              <a:t>Patient 3  (GB24)</a:t>
            </a:r>
          </a:p>
        </p:txBody>
      </p:sp>
      <p:sp>
        <p:nvSpPr>
          <p:cNvPr id="6" name="TextBox 5">
            <a:extLst>
              <a:ext uri="{FF2B5EF4-FFF2-40B4-BE49-F238E27FC236}">
                <a16:creationId xmlns:a16="http://schemas.microsoft.com/office/drawing/2014/main" id="{862C40BE-7AF4-84D5-1D9C-967302D2AFB9}"/>
              </a:ext>
            </a:extLst>
          </p:cNvPr>
          <p:cNvSpPr txBox="1"/>
          <p:nvPr/>
        </p:nvSpPr>
        <p:spPr>
          <a:xfrm>
            <a:off x="1540069" y="1686014"/>
            <a:ext cx="1297491" cy="369332"/>
          </a:xfrm>
          <a:prstGeom prst="rect">
            <a:avLst/>
          </a:prstGeom>
          <a:solidFill>
            <a:schemeClr val="bg1"/>
          </a:solidFill>
        </p:spPr>
        <p:txBody>
          <a:bodyPr wrap="square" rtlCol="0">
            <a:spAutoFit/>
          </a:bodyPr>
          <a:lstStyle/>
          <a:p>
            <a:r>
              <a:rPr lang="en-US" b="1" dirty="0"/>
              <a:t>C. GSC3</a:t>
            </a:r>
          </a:p>
        </p:txBody>
      </p:sp>
      <p:pic>
        <p:nvPicPr>
          <p:cNvPr id="7" name="Picture 6">
            <a:extLst>
              <a:ext uri="{FF2B5EF4-FFF2-40B4-BE49-F238E27FC236}">
                <a16:creationId xmlns:a16="http://schemas.microsoft.com/office/drawing/2014/main" id="{92BCAB5D-0E6D-964F-0300-C09D1CC73C96}"/>
              </a:ext>
            </a:extLst>
          </p:cNvPr>
          <p:cNvPicPr>
            <a:picLocks noChangeAspect="1"/>
          </p:cNvPicPr>
          <p:nvPr/>
        </p:nvPicPr>
        <p:blipFill>
          <a:blip r:embed="rId3"/>
          <a:stretch>
            <a:fillRect/>
          </a:stretch>
        </p:blipFill>
        <p:spPr>
          <a:xfrm>
            <a:off x="2480048" y="1199432"/>
            <a:ext cx="5455638" cy="5540521"/>
          </a:xfrm>
          <a:prstGeom prst="rect">
            <a:avLst/>
          </a:prstGeom>
        </p:spPr>
      </p:pic>
    </p:spTree>
    <p:extLst>
      <p:ext uri="{BB962C8B-B14F-4D97-AF65-F5344CB8AC3E}">
        <p14:creationId xmlns:p14="http://schemas.microsoft.com/office/powerpoint/2010/main" val="1626660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0">
            <a:extLst>
              <a:ext uri="{FF2B5EF4-FFF2-40B4-BE49-F238E27FC236}">
                <a16:creationId xmlns:a16="http://schemas.microsoft.com/office/drawing/2014/main" id="{452F6526-467E-A6B9-28A2-A4F8B93ECCC9}"/>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1E5B05C-789D-162E-C5A0-66A0C4BA3DE4}"/>
              </a:ext>
            </a:extLst>
          </p:cNvPr>
          <p:cNvSpPr txBox="1"/>
          <p:nvPr/>
        </p:nvSpPr>
        <p:spPr>
          <a:xfrm>
            <a:off x="810734" y="880360"/>
            <a:ext cx="10858500" cy="156966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TF enrichment shows </a:t>
            </a:r>
            <a:r>
              <a:rPr lang="en-US" dirty="0">
                <a:solidFill>
                  <a:srgbClr val="FF0000"/>
                </a:solidFill>
              </a:rPr>
              <a:t>FOXM1</a:t>
            </a:r>
            <a:r>
              <a:rPr lang="en-US" dirty="0"/>
              <a:t> and </a:t>
            </a:r>
            <a:r>
              <a:rPr lang="en-US" dirty="0">
                <a:solidFill>
                  <a:srgbClr val="FF0000"/>
                </a:solidFill>
              </a:rPr>
              <a:t>CENPA</a:t>
            </a:r>
            <a:r>
              <a:rPr lang="en-US" dirty="0"/>
              <a:t> TF was a top hit with </a:t>
            </a:r>
            <a:r>
              <a:rPr lang="en-US" dirty="0">
                <a:solidFill>
                  <a:srgbClr val="FF0000"/>
                </a:solidFill>
              </a:rPr>
              <a:t>433</a:t>
            </a:r>
            <a:r>
              <a:rPr lang="en-US" dirty="0"/>
              <a:t> overlapping genes with genes  that were down regulated by the knockdown</a:t>
            </a:r>
          </a:p>
          <a:p>
            <a:endParaRPr lang="en-US" dirty="0"/>
          </a:p>
          <a:p>
            <a:endParaRPr lang="en-US" dirty="0"/>
          </a:p>
        </p:txBody>
      </p:sp>
      <p:pic>
        <p:nvPicPr>
          <p:cNvPr id="7" name="Picture 6">
            <a:extLst>
              <a:ext uri="{FF2B5EF4-FFF2-40B4-BE49-F238E27FC236}">
                <a16:creationId xmlns:a16="http://schemas.microsoft.com/office/drawing/2014/main" id="{475513D0-347A-57EA-7DBF-648F03E69472}"/>
              </a:ext>
            </a:extLst>
          </p:cNvPr>
          <p:cNvPicPr>
            <a:picLocks noChangeAspect="1"/>
          </p:cNvPicPr>
          <p:nvPr/>
        </p:nvPicPr>
        <p:blipFill rotWithShape="1">
          <a:blip r:embed="rId3"/>
          <a:srcRect l="16247" t="14429" r="4919" b="7398"/>
          <a:stretch/>
        </p:blipFill>
        <p:spPr>
          <a:xfrm>
            <a:off x="9248891" y="2450020"/>
            <a:ext cx="2756876" cy="2849242"/>
          </a:xfrm>
          <a:prstGeom prst="rect">
            <a:avLst/>
          </a:prstGeom>
        </p:spPr>
      </p:pic>
      <p:pic>
        <p:nvPicPr>
          <p:cNvPr id="8" name="Picture 7">
            <a:extLst>
              <a:ext uri="{FF2B5EF4-FFF2-40B4-BE49-F238E27FC236}">
                <a16:creationId xmlns:a16="http://schemas.microsoft.com/office/drawing/2014/main" id="{198527E9-0E64-EB13-3BC2-108150C40E5C}"/>
              </a:ext>
            </a:extLst>
          </p:cNvPr>
          <p:cNvPicPr>
            <a:picLocks noChangeAspect="1"/>
          </p:cNvPicPr>
          <p:nvPr/>
        </p:nvPicPr>
        <p:blipFill rotWithShape="1">
          <a:blip r:embed="rId4"/>
          <a:srcRect l="2105"/>
          <a:stretch/>
        </p:blipFill>
        <p:spPr>
          <a:xfrm>
            <a:off x="1499954" y="1711357"/>
            <a:ext cx="7748937" cy="3996543"/>
          </a:xfrm>
          <a:prstGeom prst="rect">
            <a:avLst/>
          </a:prstGeom>
        </p:spPr>
      </p:pic>
      <p:sp>
        <p:nvSpPr>
          <p:cNvPr id="2" name="TextBox 1">
            <a:extLst>
              <a:ext uri="{FF2B5EF4-FFF2-40B4-BE49-F238E27FC236}">
                <a16:creationId xmlns:a16="http://schemas.microsoft.com/office/drawing/2014/main" id="{81FC0FB9-2790-0FDE-7871-893A70AB4026}"/>
              </a:ext>
            </a:extLst>
          </p:cNvPr>
          <p:cNvSpPr txBox="1"/>
          <p:nvPr/>
        </p:nvSpPr>
        <p:spPr>
          <a:xfrm>
            <a:off x="694481" y="2025570"/>
            <a:ext cx="659757" cy="369332"/>
          </a:xfrm>
          <a:prstGeom prst="rect">
            <a:avLst/>
          </a:prstGeom>
          <a:noFill/>
        </p:spPr>
        <p:txBody>
          <a:bodyPr wrap="square" rtlCol="0">
            <a:spAutoFit/>
          </a:bodyPr>
          <a:lstStyle/>
          <a:p>
            <a:r>
              <a:rPr lang="en-US" dirty="0"/>
              <a:t>GB2</a:t>
            </a:r>
          </a:p>
        </p:txBody>
      </p:sp>
    </p:spTree>
    <p:extLst>
      <p:ext uri="{BB962C8B-B14F-4D97-AF65-F5344CB8AC3E}">
        <p14:creationId xmlns:p14="http://schemas.microsoft.com/office/powerpoint/2010/main" val="421464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0">
            <a:extLst>
              <a:ext uri="{FF2B5EF4-FFF2-40B4-BE49-F238E27FC236}">
                <a16:creationId xmlns:a16="http://schemas.microsoft.com/office/drawing/2014/main" id="{452F6526-467E-A6B9-28A2-A4F8B93ECCC9}"/>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1E5B05C-789D-162E-C5A0-66A0C4BA3DE4}"/>
              </a:ext>
            </a:extLst>
          </p:cNvPr>
          <p:cNvSpPr txBox="1"/>
          <p:nvPr/>
        </p:nvSpPr>
        <p:spPr>
          <a:xfrm>
            <a:off x="810734" y="880360"/>
            <a:ext cx="10858500"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TF enrichment  for genes  down regulated by the knockdown</a:t>
            </a:r>
          </a:p>
          <a:p>
            <a:endParaRPr lang="en-US" dirty="0"/>
          </a:p>
          <a:p>
            <a:endParaRPr lang="en-US" dirty="0"/>
          </a:p>
        </p:txBody>
      </p:sp>
      <p:pic>
        <p:nvPicPr>
          <p:cNvPr id="11" name="Picture 10" descr="A colorful bar chart with text&#10;&#10;Description automatically generated">
            <a:extLst>
              <a:ext uri="{FF2B5EF4-FFF2-40B4-BE49-F238E27FC236}">
                <a16:creationId xmlns:a16="http://schemas.microsoft.com/office/drawing/2014/main" id="{7D27B860-D9C1-BDE1-0BDA-82EF62E83E13}"/>
              </a:ext>
            </a:extLst>
          </p:cNvPr>
          <p:cNvPicPr>
            <a:picLocks noChangeAspect="1"/>
          </p:cNvPicPr>
          <p:nvPr/>
        </p:nvPicPr>
        <p:blipFill>
          <a:blip r:embed="rId3"/>
          <a:stretch>
            <a:fillRect/>
          </a:stretch>
        </p:blipFill>
        <p:spPr>
          <a:xfrm>
            <a:off x="211070" y="1407358"/>
            <a:ext cx="9279094" cy="4631049"/>
          </a:xfrm>
          <a:prstGeom prst="rect">
            <a:avLst/>
          </a:prstGeom>
        </p:spPr>
      </p:pic>
      <p:pic>
        <p:nvPicPr>
          <p:cNvPr id="13" name="Picture 12" descr="A network of lines and dots&#10;&#10;Description automatically generated">
            <a:extLst>
              <a:ext uri="{FF2B5EF4-FFF2-40B4-BE49-F238E27FC236}">
                <a16:creationId xmlns:a16="http://schemas.microsoft.com/office/drawing/2014/main" id="{9512E9D4-C7A4-6D5D-3F56-C8F3F387B132}"/>
              </a:ext>
            </a:extLst>
          </p:cNvPr>
          <p:cNvPicPr>
            <a:picLocks noChangeAspect="1"/>
          </p:cNvPicPr>
          <p:nvPr/>
        </p:nvPicPr>
        <p:blipFill>
          <a:blip r:embed="rId4"/>
          <a:stretch>
            <a:fillRect/>
          </a:stretch>
        </p:blipFill>
        <p:spPr>
          <a:xfrm>
            <a:off x="9271322" y="1650970"/>
            <a:ext cx="2709608" cy="2915454"/>
          </a:xfrm>
          <a:prstGeom prst="rect">
            <a:avLst/>
          </a:prstGeom>
        </p:spPr>
      </p:pic>
      <p:sp>
        <p:nvSpPr>
          <p:cNvPr id="14" name="TextBox 13">
            <a:extLst>
              <a:ext uri="{FF2B5EF4-FFF2-40B4-BE49-F238E27FC236}">
                <a16:creationId xmlns:a16="http://schemas.microsoft.com/office/drawing/2014/main" id="{6C9DC3F6-C85D-0D9B-15FC-BEFD64152CA4}"/>
              </a:ext>
            </a:extLst>
          </p:cNvPr>
          <p:cNvSpPr txBox="1"/>
          <p:nvPr/>
        </p:nvSpPr>
        <p:spPr>
          <a:xfrm>
            <a:off x="277792" y="1463814"/>
            <a:ext cx="972274" cy="369332"/>
          </a:xfrm>
          <a:prstGeom prst="rect">
            <a:avLst/>
          </a:prstGeom>
          <a:noFill/>
        </p:spPr>
        <p:txBody>
          <a:bodyPr wrap="square" rtlCol="0">
            <a:spAutoFit/>
          </a:bodyPr>
          <a:lstStyle/>
          <a:p>
            <a:r>
              <a:rPr lang="en-US" dirty="0"/>
              <a:t>GB11</a:t>
            </a:r>
          </a:p>
        </p:txBody>
      </p:sp>
    </p:spTree>
    <p:extLst>
      <p:ext uri="{BB962C8B-B14F-4D97-AF65-F5344CB8AC3E}">
        <p14:creationId xmlns:p14="http://schemas.microsoft.com/office/powerpoint/2010/main" val="4040818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0">
            <a:extLst>
              <a:ext uri="{FF2B5EF4-FFF2-40B4-BE49-F238E27FC236}">
                <a16:creationId xmlns:a16="http://schemas.microsoft.com/office/drawing/2014/main" id="{452F6526-467E-A6B9-28A2-A4F8B93ECCC9}"/>
              </a:ext>
            </a:extLst>
          </p:cNvPr>
          <p:cNvSpPr txBox="1"/>
          <p:nvPr/>
        </p:nvSpPr>
        <p:spPr>
          <a:xfrm>
            <a:off x="5457724" y="1172349"/>
            <a:ext cx="403860" cy="2914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endParaRPr lang="en-US" b="1" dirty="0">
              <a:latin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1E5B05C-789D-162E-C5A0-66A0C4BA3DE4}"/>
              </a:ext>
            </a:extLst>
          </p:cNvPr>
          <p:cNvSpPr txBox="1"/>
          <p:nvPr/>
        </p:nvSpPr>
        <p:spPr>
          <a:xfrm>
            <a:off x="810734" y="880360"/>
            <a:ext cx="10858500"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TF enrichment  for genes  down regulated by the knockdown</a:t>
            </a:r>
          </a:p>
          <a:p>
            <a:endParaRPr lang="en-US" dirty="0"/>
          </a:p>
          <a:p>
            <a:endParaRPr lang="en-US" dirty="0"/>
          </a:p>
        </p:txBody>
      </p:sp>
      <p:sp>
        <p:nvSpPr>
          <p:cNvPr id="14" name="TextBox 13">
            <a:extLst>
              <a:ext uri="{FF2B5EF4-FFF2-40B4-BE49-F238E27FC236}">
                <a16:creationId xmlns:a16="http://schemas.microsoft.com/office/drawing/2014/main" id="{6C9DC3F6-C85D-0D9B-15FC-BEFD64152CA4}"/>
              </a:ext>
            </a:extLst>
          </p:cNvPr>
          <p:cNvSpPr txBox="1"/>
          <p:nvPr/>
        </p:nvSpPr>
        <p:spPr>
          <a:xfrm>
            <a:off x="277792" y="1463814"/>
            <a:ext cx="972274" cy="369332"/>
          </a:xfrm>
          <a:prstGeom prst="rect">
            <a:avLst/>
          </a:prstGeom>
          <a:noFill/>
        </p:spPr>
        <p:txBody>
          <a:bodyPr wrap="square" rtlCol="0">
            <a:spAutoFit/>
          </a:bodyPr>
          <a:lstStyle/>
          <a:p>
            <a:r>
              <a:rPr lang="en-US" dirty="0"/>
              <a:t>GB24</a:t>
            </a:r>
          </a:p>
        </p:txBody>
      </p:sp>
      <p:pic>
        <p:nvPicPr>
          <p:cNvPr id="6" name="Picture 5" descr="A graph of different colored bars&#10;&#10;Description automatically generated">
            <a:extLst>
              <a:ext uri="{FF2B5EF4-FFF2-40B4-BE49-F238E27FC236}">
                <a16:creationId xmlns:a16="http://schemas.microsoft.com/office/drawing/2014/main" id="{72352AB3-55FD-FC86-F37E-C4CCEA975BEF}"/>
              </a:ext>
            </a:extLst>
          </p:cNvPr>
          <p:cNvPicPr>
            <a:picLocks noChangeAspect="1"/>
          </p:cNvPicPr>
          <p:nvPr/>
        </p:nvPicPr>
        <p:blipFill>
          <a:blip r:embed="rId3"/>
          <a:stretch>
            <a:fillRect/>
          </a:stretch>
        </p:blipFill>
        <p:spPr>
          <a:xfrm>
            <a:off x="648183" y="2323625"/>
            <a:ext cx="7772400" cy="3769295"/>
          </a:xfrm>
          <a:prstGeom prst="rect">
            <a:avLst/>
          </a:prstGeom>
        </p:spPr>
      </p:pic>
      <p:pic>
        <p:nvPicPr>
          <p:cNvPr id="8" name="Picture 7" descr="A network diagram of links&#10;&#10;Description automatically generated">
            <a:extLst>
              <a:ext uri="{FF2B5EF4-FFF2-40B4-BE49-F238E27FC236}">
                <a16:creationId xmlns:a16="http://schemas.microsoft.com/office/drawing/2014/main" id="{E9785296-3A5B-317A-490E-CF7F400FD2EE}"/>
              </a:ext>
            </a:extLst>
          </p:cNvPr>
          <p:cNvPicPr>
            <a:picLocks noChangeAspect="1"/>
          </p:cNvPicPr>
          <p:nvPr/>
        </p:nvPicPr>
        <p:blipFill>
          <a:blip r:embed="rId4"/>
          <a:stretch>
            <a:fillRect/>
          </a:stretch>
        </p:blipFill>
        <p:spPr>
          <a:xfrm>
            <a:off x="8936218" y="2523282"/>
            <a:ext cx="2995311" cy="2369916"/>
          </a:xfrm>
          <a:prstGeom prst="rect">
            <a:avLst/>
          </a:prstGeom>
        </p:spPr>
      </p:pic>
    </p:spTree>
    <p:extLst>
      <p:ext uri="{BB962C8B-B14F-4D97-AF65-F5344CB8AC3E}">
        <p14:creationId xmlns:p14="http://schemas.microsoft.com/office/powerpoint/2010/main" val="1650068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6504C7-849B-1115-DC97-F1B87760995D}"/>
              </a:ext>
            </a:extLst>
          </p:cNvPr>
          <p:cNvPicPr>
            <a:picLocks noChangeAspect="1"/>
          </p:cNvPicPr>
          <p:nvPr/>
        </p:nvPicPr>
        <p:blipFill rotWithShape="1">
          <a:blip r:embed="rId2"/>
          <a:srcRect l="16247" t="14429" r="4919" b="7398"/>
          <a:stretch/>
        </p:blipFill>
        <p:spPr>
          <a:xfrm>
            <a:off x="7930105" y="-2359533"/>
            <a:ext cx="3483428" cy="3600136"/>
          </a:xfrm>
          <a:prstGeom prst="rect">
            <a:avLst/>
          </a:prstGeom>
        </p:spPr>
      </p:pic>
      <p:pic>
        <p:nvPicPr>
          <p:cNvPr id="5" name="Picture 4">
            <a:extLst>
              <a:ext uri="{FF2B5EF4-FFF2-40B4-BE49-F238E27FC236}">
                <a16:creationId xmlns:a16="http://schemas.microsoft.com/office/drawing/2014/main" id="{F49D6A9B-4728-E3FB-9631-918A02482942}"/>
              </a:ext>
            </a:extLst>
          </p:cNvPr>
          <p:cNvPicPr>
            <a:picLocks noChangeAspect="1"/>
          </p:cNvPicPr>
          <p:nvPr/>
        </p:nvPicPr>
        <p:blipFill rotWithShape="1">
          <a:blip r:embed="rId3"/>
          <a:srcRect l="2105"/>
          <a:stretch/>
        </p:blipFill>
        <p:spPr>
          <a:xfrm>
            <a:off x="23463" y="-2338129"/>
            <a:ext cx="7748937" cy="3557329"/>
          </a:xfrm>
          <a:prstGeom prst="rect">
            <a:avLst/>
          </a:prstGeom>
        </p:spPr>
      </p:pic>
      <p:pic>
        <p:nvPicPr>
          <p:cNvPr id="6" name="Picture 5" descr="A colorful bar chart with text&#10;&#10;Description automatically generated">
            <a:extLst>
              <a:ext uri="{FF2B5EF4-FFF2-40B4-BE49-F238E27FC236}">
                <a16:creationId xmlns:a16="http://schemas.microsoft.com/office/drawing/2014/main" id="{087B3880-83E2-E104-6B6F-98B4DB24363F}"/>
              </a:ext>
            </a:extLst>
          </p:cNvPr>
          <p:cNvPicPr>
            <a:picLocks noChangeAspect="1"/>
          </p:cNvPicPr>
          <p:nvPr/>
        </p:nvPicPr>
        <p:blipFill>
          <a:blip r:embed="rId4"/>
          <a:stretch>
            <a:fillRect/>
          </a:stretch>
        </p:blipFill>
        <p:spPr>
          <a:xfrm>
            <a:off x="23463" y="1219200"/>
            <a:ext cx="7748937" cy="3874997"/>
          </a:xfrm>
          <a:prstGeom prst="rect">
            <a:avLst/>
          </a:prstGeom>
        </p:spPr>
      </p:pic>
      <p:pic>
        <p:nvPicPr>
          <p:cNvPr id="7" name="Picture 6" descr="A network of lines and dots&#10;&#10;Description automatically generated">
            <a:extLst>
              <a:ext uri="{FF2B5EF4-FFF2-40B4-BE49-F238E27FC236}">
                <a16:creationId xmlns:a16="http://schemas.microsoft.com/office/drawing/2014/main" id="{0934816D-5490-0696-7A88-B3DDC9F6BBAF}"/>
              </a:ext>
            </a:extLst>
          </p:cNvPr>
          <p:cNvPicPr>
            <a:picLocks noChangeAspect="1"/>
          </p:cNvPicPr>
          <p:nvPr/>
        </p:nvPicPr>
        <p:blipFill>
          <a:blip r:embed="rId5"/>
          <a:stretch>
            <a:fillRect/>
          </a:stretch>
        </p:blipFill>
        <p:spPr>
          <a:xfrm>
            <a:off x="7834648" y="1661661"/>
            <a:ext cx="3674342" cy="3953478"/>
          </a:xfrm>
          <a:prstGeom prst="rect">
            <a:avLst/>
          </a:prstGeom>
        </p:spPr>
      </p:pic>
      <p:pic>
        <p:nvPicPr>
          <p:cNvPr id="8" name="Picture 7" descr="A graph of different colored bars&#10;&#10;Description automatically generated">
            <a:extLst>
              <a:ext uri="{FF2B5EF4-FFF2-40B4-BE49-F238E27FC236}">
                <a16:creationId xmlns:a16="http://schemas.microsoft.com/office/drawing/2014/main" id="{023E1B35-5FB7-8BB7-BD0F-9C207C29133F}"/>
              </a:ext>
            </a:extLst>
          </p:cNvPr>
          <p:cNvPicPr>
            <a:picLocks noChangeAspect="1"/>
          </p:cNvPicPr>
          <p:nvPr/>
        </p:nvPicPr>
        <p:blipFill>
          <a:blip r:embed="rId6"/>
          <a:stretch>
            <a:fillRect/>
          </a:stretch>
        </p:blipFill>
        <p:spPr>
          <a:xfrm>
            <a:off x="0" y="5377226"/>
            <a:ext cx="7772400" cy="3769295"/>
          </a:xfrm>
          <a:prstGeom prst="rect">
            <a:avLst/>
          </a:prstGeom>
        </p:spPr>
      </p:pic>
      <p:pic>
        <p:nvPicPr>
          <p:cNvPr id="9" name="Picture 8" descr="A network diagram of links&#10;&#10;Description automatically generated">
            <a:extLst>
              <a:ext uri="{FF2B5EF4-FFF2-40B4-BE49-F238E27FC236}">
                <a16:creationId xmlns:a16="http://schemas.microsoft.com/office/drawing/2014/main" id="{9C54CB0C-3880-4B52-34BA-55AB4A228D60}"/>
              </a:ext>
            </a:extLst>
          </p:cNvPr>
          <p:cNvPicPr>
            <a:picLocks noChangeAspect="1"/>
          </p:cNvPicPr>
          <p:nvPr/>
        </p:nvPicPr>
        <p:blipFill>
          <a:blip r:embed="rId7"/>
          <a:stretch>
            <a:fillRect/>
          </a:stretch>
        </p:blipFill>
        <p:spPr>
          <a:xfrm>
            <a:off x="8174163" y="6076914"/>
            <a:ext cx="3683839" cy="2914685"/>
          </a:xfrm>
          <a:prstGeom prst="rect">
            <a:avLst/>
          </a:prstGeom>
        </p:spPr>
      </p:pic>
      <p:sp>
        <p:nvSpPr>
          <p:cNvPr id="10" name="TextBox 9">
            <a:extLst>
              <a:ext uri="{FF2B5EF4-FFF2-40B4-BE49-F238E27FC236}">
                <a16:creationId xmlns:a16="http://schemas.microsoft.com/office/drawing/2014/main" id="{50DB8A63-60B1-93ED-C83E-A514545D2AC0}"/>
              </a:ext>
            </a:extLst>
          </p:cNvPr>
          <p:cNvSpPr txBox="1"/>
          <p:nvPr/>
        </p:nvSpPr>
        <p:spPr>
          <a:xfrm>
            <a:off x="-760961" y="-2138329"/>
            <a:ext cx="1253438" cy="461665"/>
          </a:xfrm>
          <a:prstGeom prst="rect">
            <a:avLst/>
          </a:prstGeom>
          <a:solidFill>
            <a:schemeClr val="bg1"/>
          </a:solidFill>
        </p:spPr>
        <p:txBody>
          <a:bodyPr wrap="square" rtlCol="0">
            <a:spAutoFit/>
          </a:bodyPr>
          <a:lstStyle/>
          <a:p>
            <a:r>
              <a:rPr lang="en-US" sz="2400" b="1" dirty="0"/>
              <a:t>D. GSC1</a:t>
            </a:r>
          </a:p>
        </p:txBody>
      </p:sp>
      <p:sp>
        <p:nvSpPr>
          <p:cNvPr id="11" name="TextBox 10">
            <a:extLst>
              <a:ext uri="{FF2B5EF4-FFF2-40B4-BE49-F238E27FC236}">
                <a16:creationId xmlns:a16="http://schemas.microsoft.com/office/drawing/2014/main" id="{218B44EB-1ABC-E5A1-66F2-88AAD43BAD87}"/>
              </a:ext>
            </a:extLst>
          </p:cNvPr>
          <p:cNvSpPr txBox="1"/>
          <p:nvPr/>
        </p:nvSpPr>
        <p:spPr>
          <a:xfrm>
            <a:off x="-1229975" y="5906130"/>
            <a:ext cx="1253438" cy="461665"/>
          </a:xfrm>
          <a:prstGeom prst="rect">
            <a:avLst/>
          </a:prstGeom>
          <a:solidFill>
            <a:schemeClr val="bg1"/>
          </a:solidFill>
        </p:spPr>
        <p:txBody>
          <a:bodyPr wrap="square" rtlCol="0">
            <a:spAutoFit/>
          </a:bodyPr>
          <a:lstStyle/>
          <a:p>
            <a:r>
              <a:rPr lang="en-US" sz="2400" b="1" dirty="0"/>
              <a:t>F. GSC3</a:t>
            </a:r>
          </a:p>
        </p:txBody>
      </p:sp>
      <p:sp>
        <p:nvSpPr>
          <p:cNvPr id="12" name="TextBox 11">
            <a:extLst>
              <a:ext uri="{FF2B5EF4-FFF2-40B4-BE49-F238E27FC236}">
                <a16:creationId xmlns:a16="http://schemas.microsoft.com/office/drawing/2014/main" id="{A3A13FDC-CEA9-33C4-7A3F-67E375655CFA}"/>
              </a:ext>
            </a:extLst>
          </p:cNvPr>
          <p:cNvSpPr txBox="1"/>
          <p:nvPr/>
        </p:nvSpPr>
        <p:spPr>
          <a:xfrm>
            <a:off x="-1071835" y="1572266"/>
            <a:ext cx="1297491" cy="461665"/>
          </a:xfrm>
          <a:prstGeom prst="rect">
            <a:avLst/>
          </a:prstGeom>
          <a:solidFill>
            <a:schemeClr val="bg1"/>
          </a:solidFill>
        </p:spPr>
        <p:txBody>
          <a:bodyPr wrap="square" rtlCol="0">
            <a:spAutoFit/>
          </a:bodyPr>
          <a:lstStyle/>
          <a:p>
            <a:r>
              <a:rPr lang="en-US" sz="2400" b="1" dirty="0"/>
              <a:t>E. GSC2</a:t>
            </a:r>
          </a:p>
        </p:txBody>
      </p:sp>
    </p:spTree>
    <p:extLst>
      <p:ext uri="{BB962C8B-B14F-4D97-AF65-F5344CB8AC3E}">
        <p14:creationId xmlns:p14="http://schemas.microsoft.com/office/powerpoint/2010/main" val="1100528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7F99626-201A-5340-A748-A4BC55E29C16}"/>
              </a:ext>
            </a:extLst>
          </p:cNvPr>
          <p:cNvSpPr txBox="1"/>
          <p:nvPr/>
        </p:nvSpPr>
        <p:spPr>
          <a:xfrm>
            <a:off x="3020992" y="216018"/>
            <a:ext cx="8811374"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genes they were differentially expressed between the HDAC-7 knock down and the siRNA control are highly expressed in the embryonic stem cells and the embryonic carcinoma</a:t>
            </a:r>
          </a:p>
        </p:txBody>
      </p:sp>
      <p:sp>
        <p:nvSpPr>
          <p:cNvPr id="11" name="TextBox 10">
            <a:extLst>
              <a:ext uri="{FF2B5EF4-FFF2-40B4-BE49-F238E27FC236}">
                <a16:creationId xmlns:a16="http://schemas.microsoft.com/office/drawing/2014/main" id="{7EB53834-1F94-4840-813C-882F3E31A8D4}"/>
              </a:ext>
            </a:extLst>
          </p:cNvPr>
          <p:cNvSpPr txBox="1"/>
          <p:nvPr/>
        </p:nvSpPr>
        <p:spPr>
          <a:xfrm>
            <a:off x="157484" y="6289469"/>
            <a:ext cx="1255364" cy="615553"/>
          </a:xfrm>
          <a:prstGeom prst="rect">
            <a:avLst/>
          </a:prstGeom>
          <a:noFill/>
        </p:spPr>
        <p:txBody>
          <a:bodyPr wrap="square" rtlCol="0">
            <a:spAutoFit/>
          </a:bodyPr>
          <a:lstStyle/>
          <a:p>
            <a:r>
              <a:rPr lang="en-US" sz="1100" dirty="0"/>
              <a:t>Webtool: </a:t>
            </a:r>
            <a:r>
              <a:rPr lang="en-US" sz="1100" dirty="0" err="1"/>
              <a:t>StemChecker</a:t>
            </a:r>
            <a:r>
              <a:rPr lang="en-US" sz="1100" dirty="0"/>
              <a:t> </a:t>
            </a:r>
          </a:p>
          <a:p>
            <a:endParaRPr lang="en-US" sz="1200" dirty="0"/>
          </a:p>
        </p:txBody>
      </p:sp>
      <p:sp>
        <p:nvSpPr>
          <p:cNvPr id="23" name="Title 1">
            <a:extLst>
              <a:ext uri="{FF2B5EF4-FFF2-40B4-BE49-F238E27FC236}">
                <a16:creationId xmlns:a16="http://schemas.microsoft.com/office/drawing/2014/main" id="{0E16E05E-5CD1-E085-C05A-47F0DE1F2ACF}"/>
              </a:ext>
            </a:extLst>
          </p:cNvPr>
          <p:cNvSpPr>
            <a:spLocks noGrp="1"/>
          </p:cNvSpPr>
          <p:nvPr>
            <p:ph type="title"/>
          </p:nvPr>
        </p:nvSpPr>
        <p:spPr>
          <a:xfrm>
            <a:off x="0" y="260754"/>
            <a:ext cx="2182792" cy="837195"/>
          </a:xfrm>
          <a:solidFill>
            <a:schemeClr val="accent3">
              <a:lumMod val="40000"/>
              <a:lumOff val="60000"/>
            </a:schemeClr>
          </a:solidFill>
        </p:spPr>
        <p:txBody>
          <a:bodyPr>
            <a:normAutofit/>
          </a:bodyPr>
          <a:lstStyle/>
          <a:p>
            <a:pPr algn="ctr"/>
            <a:r>
              <a:rPr lang="en-US" dirty="0"/>
              <a:t>RNA Seq</a:t>
            </a:r>
          </a:p>
        </p:txBody>
      </p:sp>
      <p:sp>
        <p:nvSpPr>
          <p:cNvPr id="3" name="TextBox 2">
            <a:extLst>
              <a:ext uri="{FF2B5EF4-FFF2-40B4-BE49-F238E27FC236}">
                <a16:creationId xmlns:a16="http://schemas.microsoft.com/office/drawing/2014/main" id="{4E39AB23-4BA9-E3D9-801B-DD4768115A9F}"/>
              </a:ext>
            </a:extLst>
          </p:cNvPr>
          <p:cNvSpPr txBox="1"/>
          <p:nvPr/>
        </p:nvSpPr>
        <p:spPr>
          <a:xfrm>
            <a:off x="976393" y="1790498"/>
            <a:ext cx="1206399" cy="369332"/>
          </a:xfrm>
          <a:prstGeom prst="rect">
            <a:avLst/>
          </a:prstGeom>
          <a:noFill/>
        </p:spPr>
        <p:txBody>
          <a:bodyPr wrap="square" rtlCol="0">
            <a:spAutoFit/>
          </a:bodyPr>
          <a:lstStyle/>
          <a:p>
            <a:r>
              <a:rPr lang="en-US" dirty="0"/>
              <a:t>GB2</a:t>
            </a:r>
          </a:p>
        </p:txBody>
      </p:sp>
      <p:graphicFrame>
        <p:nvGraphicFramePr>
          <p:cNvPr id="4" name="Chart 3">
            <a:extLst>
              <a:ext uri="{FF2B5EF4-FFF2-40B4-BE49-F238E27FC236}">
                <a16:creationId xmlns:a16="http://schemas.microsoft.com/office/drawing/2014/main" id="{6D9E4F1C-6DE5-DE68-CED6-8B5B2919E244}"/>
              </a:ext>
            </a:extLst>
          </p:cNvPr>
          <p:cNvGraphicFramePr/>
          <p:nvPr/>
        </p:nvGraphicFramePr>
        <p:xfrm>
          <a:off x="3207067" y="1678622"/>
          <a:ext cx="7533258" cy="46108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7199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D9E4F1C-6DE5-DE68-CED6-8B5B2919E244}"/>
              </a:ext>
            </a:extLst>
          </p:cNvPr>
          <p:cNvGraphicFramePr/>
          <p:nvPr>
            <p:extLst>
              <p:ext uri="{D42A27DB-BD31-4B8C-83A1-F6EECF244321}">
                <p14:modId xmlns:p14="http://schemas.microsoft.com/office/powerpoint/2010/main" val="4021884555"/>
              </p:ext>
            </p:extLst>
          </p:nvPr>
        </p:nvGraphicFramePr>
        <p:xfrm>
          <a:off x="-1959005" y="-1181847"/>
          <a:ext cx="7533258" cy="46108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5624E2A-B200-7A4F-727A-59C83ED68954}"/>
              </a:ext>
            </a:extLst>
          </p:cNvPr>
          <p:cNvGraphicFramePr/>
          <p:nvPr>
            <p:extLst>
              <p:ext uri="{D42A27DB-BD31-4B8C-83A1-F6EECF244321}">
                <p14:modId xmlns:p14="http://schemas.microsoft.com/office/powerpoint/2010/main" val="1959823175"/>
              </p:ext>
            </p:extLst>
          </p:nvPr>
        </p:nvGraphicFramePr>
        <p:xfrm>
          <a:off x="5924550" y="-1181847"/>
          <a:ext cx="7086600" cy="46108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D3BCD83C-F77F-9910-71B8-F5EF0066FAD1}"/>
              </a:ext>
            </a:extLst>
          </p:cNvPr>
          <p:cNvGraphicFramePr/>
          <p:nvPr>
            <p:extLst>
              <p:ext uri="{D42A27DB-BD31-4B8C-83A1-F6EECF244321}">
                <p14:modId xmlns:p14="http://schemas.microsoft.com/office/powerpoint/2010/main" val="3447821895"/>
              </p:ext>
            </p:extLst>
          </p:nvPr>
        </p:nvGraphicFramePr>
        <p:xfrm>
          <a:off x="1807624" y="3928960"/>
          <a:ext cx="7740112" cy="451955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95563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7F99626-201A-5340-A748-A4BC55E29C16}"/>
              </a:ext>
            </a:extLst>
          </p:cNvPr>
          <p:cNvSpPr txBox="1"/>
          <p:nvPr/>
        </p:nvSpPr>
        <p:spPr>
          <a:xfrm>
            <a:off x="3020992" y="693514"/>
            <a:ext cx="8811374"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genes they were differentially expressed between the HDAC-7 knock down and the siRNA control are highly expressed in the embryonic stem cells and the embryonic carcinoma</a:t>
            </a:r>
          </a:p>
        </p:txBody>
      </p:sp>
      <p:sp>
        <p:nvSpPr>
          <p:cNvPr id="23" name="Title 1">
            <a:extLst>
              <a:ext uri="{FF2B5EF4-FFF2-40B4-BE49-F238E27FC236}">
                <a16:creationId xmlns:a16="http://schemas.microsoft.com/office/drawing/2014/main" id="{0E16E05E-5CD1-E085-C05A-47F0DE1F2ACF}"/>
              </a:ext>
            </a:extLst>
          </p:cNvPr>
          <p:cNvSpPr>
            <a:spLocks noGrp="1"/>
          </p:cNvSpPr>
          <p:nvPr>
            <p:ph type="title"/>
          </p:nvPr>
        </p:nvSpPr>
        <p:spPr>
          <a:xfrm>
            <a:off x="0" y="260754"/>
            <a:ext cx="2182792" cy="837195"/>
          </a:xfrm>
          <a:solidFill>
            <a:schemeClr val="accent3">
              <a:lumMod val="40000"/>
              <a:lumOff val="60000"/>
            </a:schemeClr>
          </a:solidFill>
        </p:spPr>
        <p:txBody>
          <a:bodyPr>
            <a:normAutofit/>
          </a:bodyPr>
          <a:lstStyle/>
          <a:p>
            <a:pPr algn="ctr"/>
            <a:r>
              <a:rPr lang="en-US" dirty="0"/>
              <a:t>RNA Seq</a:t>
            </a:r>
          </a:p>
        </p:txBody>
      </p:sp>
      <p:sp>
        <p:nvSpPr>
          <p:cNvPr id="6" name="TextBox 5">
            <a:extLst>
              <a:ext uri="{FF2B5EF4-FFF2-40B4-BE49-F238E27FC236}">
                <a16:creationId xmlns:a16="http://schemas.microsoft.com/office/drawing/2014/main" id="{5A95D214-9126-922A-5028-0FD46D26DC16}"/>
              </a:ext>
            </a:extLst>
          </p:cNvPr>
          <p:cNvSpPr txBox="1"/>
          <p:nvPr/>
        </p:nvSpPr>
        <p:spPr>
          <a:xfrm>
            <a:off x="1053885" y="2233471"/>
            <a:ext cx="2182792" cy="369332"/>
          </a:xfrm>
          <a:prstGeom prst="rect">
            <a:avLst/>
          </a:prstGeom>
          <a:noFill/>
        </p:spPr>
        <p:txBody>
          <a:bodyPr wrap="square" rtlCol="0">
            <a:spAutoFit/>
          </a:bodyPr>
          <a:lstStyle/>
          <a:p>
            <a:r>
              <a:rPr lang="en-US" dirty="0"/>
              <a:t>GB11: 2 replicates</a:t>
            </a:r>
          </a:p>
        </p:txBody>
      </p:sp>
      <p:graphicFrame>
        <p:nvGraphicFramePr>
          <p:cNvPr id="3" name="Chart 2">
            <a:extLst>
              <a:ext uri="{FF2B5EF4-FFF2-40B4-BE49-F238E27FC236}">
                <a16:creationId xmlns:a16="http://schemas.microsoft.com/office/drawing/2014/main" id="{EA15FE99-C2BF-CFA9-02F2-B0D7A028C719}"/>
              </a:ext>
            </a:extLst>
          </p:cNvPr>
          <p:cNvGraphicFramePr/>
          <p:nvPr>
            <p:extLst>
              <p:ext uri="{D42A27DB-BD31-4B8C-83A1-F6EECF244321}">
                <p14:modId xmlns:p14="http://schemas.microsoft.com/office/powerpoint/2010/main" val="348395420"/>
              </p:ext>
            </p:extLst>
          </p:nvPr>
        </p:nvGraphicFramePr>
        <p:xfrm>
          <a:off x="3753842" y="2024142"/>
          <a:ext cx="5872480" cy="329628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DB763D8-0C7B-68C4-3DA2-372CAF8A40E0}"/>
              </a:ext>
            </a:extLst>
          </p:cNvPr>
          <p:cNvSpPr txBox="1"/>
          <p:nvPr/>
        </p:nvSpPr>
        <p:spPr>
          <a:xfrm>
            <a:off x="835731" y="2816384"/>
            <a:ext cx="2185261" cy="369332"/>
          </a:xfrm>
          <a:prstGeom prst="rect">
            <a:avLst/>
          </a:prstGeom>
          <a:noFill/>
        </p:spPr>
        <p:txBody>
          <a:bodyPr wrap="square" rtlCol="0">
            <a:spAutoFit/>
          </a:bodyPr>
          <a:lstStyle/>
          <a:p>
            <a:r>
              <a:rPr lang="en-US" dirty="0">
                <a:solidFill>
                  <a:srgbClr val="E899EB"/>
                </a:solidFill>
              </a:rPr>
              <a:t>Patient 2 (GB11)</a:t>
            </a:r>
          </a:p>
        </p:txBody>
      </p:sp>
    </p:spTree>
    <p:extLst>
      <p:ext uri="{BB962C8B-B14F-4D97-AF65-F5344CB8AC3E}">
        <p14:creationId xmlns:p14="http://schemas.microsoft.com/office/powerpoint/2010/main" val="3912617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7F99626-201A-5340-A748-A4BC55E29C16}"/>
              </a:ext>
            </a:extLst>
          </p:cNvPr>
          <p:cNvSpPr txBox="1"/>
          <p:nvPr/>
        </p:nvSpPr>
        <p:spPr>
          <a:xfrm>
            <a:off x="3020992" y="216018"/>
            <a:ext cx="8811374"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lgn="ctr">
              <a:defRPr sz="2400">
                <a:solidFill>
                  <a:schemeClr val="tx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The genes they were differentially expressed between the HDAC-7 knock down and the siRNA control are highly expressed in the embryonic stem cells and the embryonic carcinoma</a:t>
            </a:r>
          </a:p>
        </p:txBody>
      </p:sp>
      <p:sp>
        <p:nvSpPr>
          <p:cNvPr id="23" name="Title 1">
            <a:extLst>
              <a:ext uri="{FF2B5EF4-FFF2-40B4-BE49-F238E27FC236}">
                <a16:creationId xmlns:a16="http://schemas.microsoft.com/office/drawing/2014/main" id="{0E16E05E-5CD1-E085-C05A-47F0DE1F2ACF}"/>
              </a:ext>
            </a:extLst>
          </p:cNvPr>
          <p:cNvSpPr>
            <a:spLocks noGrp="1"/>
          </p:cNvSpPr>
          <p:nvPr>
            <p:ph type="title"/>
          </p:nvPr>
        </p:nvSpPr>
        <p:spPr>
          <a:xfrm>
            <a:off x="0" y="260754"/>
            <a:ext cx="2182792" cy="837195"/>
          </a:xfrm>
          <a:solidFill>
            <a:schemeClr val="accent3">
              <a:lumMod val="40000"/>
              <a:lumOff val="60000"/>
            </a:schemeClr>
          </a:solidFill>
        </p:spPr>
        <p:txBody>
          <a:bodyPr>
            <a:normAutofit/>
          </a:bodyPr>
          <a:lstStyle/>
          <a:p>
            <a:pPr algn="ctr"/>
            <a:r>
              <a:rPr lang="en-US" dirty="0"/>
              <a:t>RNA Seq</a:t>
            </a:r>
          </a:p>
        </p:txBody>
      </p:sp>
      <p:sp>
        <p:nvSpPr>
          <p:cNvPr id="6" name="TextBox 5">
            <a:extLst>
              <a:ext uri="{FF2B5EF4-FFF2-40B4-BE49-F238E27FC236}">
                <a16:creationId xmlns:a16="http://schemas.microsoft.com/office/drawing/2014/main" id="{5A95D214-9126-922A-5028-0FD46D26DC16}"/>
              </a:ext>
            </a:extLst>
          </p:cNvPr>
          <p:cNvSpPr txBox="1"/>
          <p:nvPr/>
        </p:nvSpPr>
        <p:spPr>
          <a:xfrm>
            <a:off x="1053885" y="2233471"/>
            <a:ext cx="867905" cy="369332"/>
          </a:xfrm>
          <a:prstGeom prst="rect">
            <a:avLst/>
          </a:prstGeom>
          <a:noFill/>
        </p:spPr>
        <p:txBody>
          <a:bodyPr wrap="square" rtlCol="0">
            <a:spAutoFit/>
          </a:bodyPr>
          <a:lstStyle/>
          <a:p>
            <a:r>
              <a:rPr lang="en-US" dirty="0"/>
              <a:t>GB24</a:t>
            </a:r>
          </a:p>
        </p:txBody>
      </p:sp>
      <p:graphicFrame>
        <p:nvGraphicFramePr>
          <p:cNvPr id="13" name="Chart 12">
            <a:extLst>
              <a:ext uri="{FF2B5EF4-FFF2-40B4-BE49-F238E27FC236}">
                <a16:creationId xmlns:a16="http://schemas.microsoft.com/office/drawing/2014/main" id="{A39A4843-2297-2312-78EA-1D931F54425A}"/>
              </a:ext>
            </a:extLst>
          </p:cNvPr>
          <p:cNvGraphicFramePr/>
          <p:nvPr/>
        </p:nvGraphicFramePr>
        <p:xfrm>
          <a:off x="3020992" y="1757260"/>
          <a:ext cx="7740112" cy="45195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6657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1515E88D-18D4-AF55-0610-3B3CF1D9D380}"/>
              </a:ext>
            </a:extLst>
          </p:cNvPr>
          <p:cNvPicPr>
            <a:picLocks noChangeAspect="1"/>
          </p:cNvPicPr>
          <p:nvPr/>
        </p:nvPicPr>
        <p:blipFill>
          <a:blip r:embed="rId2"/>
          <a:stretch>
            <a:fillRect/>
          </a:stretch>
        </p:blipFill>
        <p:spPr>
          <a:xfrm>
            <a:off x="-111015" y="-1341783"/>
            <a:ext cx="5002492" cy="8199783"/>
          </a:xfrm>
          <a:prstGeom prst="rect">
            <a:avLst/>
          </a:prstGeom>
        </p:spPr>
      </p:pic>
      <p:pic>
        <p:nvPicPr>
          <p:cNvPr id="6" name="Picture 5" descr="A screenshot of a computer screen&#10;&#10;Description automatically generated">
            <a:extLst>
              <a:ext uri="{FF2B5EF4-FFF2-40B4-BE49-F238E27FC236}">
                <a16:creationId xmlns:a16="http://schemas.microsoft.com/office/drawing/2014/main" id="{DD22F0F8-5B72-DBBD-614E-392AFA77102F}"/>
              </a:ext>
            </a:extLst>
          </p:cNvPr>
          <p:cNvPicPr>
            <a:picLocks noChangeAspect="1"/>
          </p:cNvPicPr>
          <p:nvPr/>
        </p:nvPicPr>
        <p:blipFill>
          <a:blip r:embed="rId3"/>
          <a:stretch>
            <a:fillRect/>
          </a:stretch>
        </p:blipFill>
        <p:spPr>
          <a:xfrm>
            <a:off x="3310306" y="-277091"/>
            <a:ext cx="3823963" cy="68580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F310B281-515A-5826-8D9C-007303CC5A13}"/>
              </a:ext>
            </a:extLst>
          </p:cNvPr>
          <p:cNvPicPr>
            <a:picLocks noChangeAspect="1"/>
          </p:cNvPicPr>
          <p:nvPr/>
        </p:nvPicPr>
        <p:blipFill>
          <a:blip r:embed="rId4"/>
          <a:stretch>
            <a:fillRect/>
          </a:stretch>
        </p:blipFill>
        <p:spPr>
          <a:xfrm>
            <a:off x="7300524" y="0"/>
            <a:ext cx="3477670" cy="6858000"/>
          </a:xfrm>
          <a:prstGeom prst="rect">
            <a:avLst/>
          </a:prstGeom>
        </p:spPr>
      </p:pic>
      <p:pic>
        <p:nvPicPr>
          <p:cNvPr id="10" name="Picture 9" descr="A white background with black dots&#10;&#10;Description automatically generated">
            <a:extLst>
              <a:ext uri="{FF2B5EF4-FFF2-40B4-BE49-F238E27FC236}">
                <a16:creationId xmlns:a16="http://schemas.microsoft.com/office/drawing/2014/main" id="{6EB8172B-CB01-91A1-52F6-69EE6C2D3CB6}"/>
              </a:ext>
            </a:extLst>
          </p:cNvPr>
          <p:cNvPicPr>
            <a:picLocks noChangeAspect="1"/>
          </p:cNvPicPr>
          <p:nvPr/>
        </p:nvPicPr>
        <p:blipFill>
          <a:blip r:embed="rId5"/>
          <a:stretch>
            <a:fillRect/>
          </a:stretch>
        </p:blipFill>
        <p:spPr>
          <a:xfrm>
            <a:off x="7300524" y="6858000"/>
            <a:ext cx="2993403" cy="691214"/>
          </a:xfrm>
          <a:prstGeom prst="rect">
            <a:avLst/>
          </a:prstGeom>
        </p:spPr>
      </p:pic>
    </p:spTree>
    <p:extLst>
      <p:ext uri="{BB962C8B-B14F-4D97-AF65-F5344CB8AC3E}">
        <p14:creationId xmlns:p14="http://schemas.microsoft.com/office/powerpoint/2010/main" val="209737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0E9-2224-16A5-A52B-A1908A94952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9305A19-DB88-7FE9-D473-8A335E530C52}"/>
              </a:ext>
            </a:extLst>
          </p:cNvPr>
          <p:cNvSpPr>
            <a:spLocks noGrp="1"/>
          </p:cNvSpPr>
          <p:nvPr>
            <p:ph idx="1"/>
          </p:nvPr>
        </p:nvSpPr>
        <p:spPr/>
        <p:txBody>
          <a:bodyPr/>
          <a:lstStyle/>
          <a:p>
            <a:endParaRPr lang="en-US"/>
          </a:p>
        </p:txBody>
      </p:sp>
      <p:pic>
        <p:nvPicPr>
          <p:cNvPr id="1025" name="Picture 1" descr="page1image93132896">
            <a:extLst>
              <a:ext uri="{FF2B5EF4-FFF2-40B4-BE49-F238E27FC236}">
                <a16:creationId xmlns:a16="http://schemas.microsoft.com/office/drawing/2014/main" id="{C4F3CF5B-99D3-74C1-B9EA-B7E4FD32C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4300" cy="18415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1image93138928">
            <a:extLst>
              <a:ext uri="{FF2B5EF4-FFF2-40B4-BE49-F238E27FC236}">
                <a16:creationId xmlns:a16="http://schemas.microsoft.com/office/drawing/2014/main" id="{032DBDE6-2E03-9A29-7721-62F25EBA3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970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image93133520">
            <a:extLst>
              <a:ext uri="{FF2B5EF4-FFF2-40B4-BE49-F238E27FC236}">
                <a16:creationId xmlns:a16="http://schemas.microsoft.com/office/drawing/2014/main" id="{4533A44B-ED60-908D-C037-7927DC9259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4300" cy="1689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1image93131648">
            <a:extLst>
              <a:ext uri="{FF2B5EF4-FFF2-40B4-BE49-F238E27FC236}">
                <a16:creationId xmlns:a16="http://schemas.microsoft.com/office/drawing/2014/main" id="{CDDA2355-0E89-46CF-04F9-B70677BFD0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6891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1image93141424">
            <a:extLst>
              <a:ext uri="{FF2B5EF4-FFF2-40B4-BE49-F238E27FC236}">
                <a16:creationId xmlns:a16="http://schemas.microsoft.com/office/drawing/2014/main" id="{B4663FF2-AF68-BBD8-69A2-F9F84E77C3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39700" cy="14859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1image93140384">
            <a:extLst>
              <a:ext uri="{FF2B5EF4-FFF2-40B4-BE49-F238E27FC236}">
                <a16:creationId xmlns:a16="http://schemas.microsoft.com/office/drawing/2014/main" id="{3B1153CA-A92D-5B3E-71BC-573D3177CB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7000" cy="12446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1image93130192">
            <a:extLst>
              <a:ext uri="{FF2B5EF4-FFF2-40B4-BE49-F238E27FC236}">
                <a16:creationId xmlns:a16="http://schemas.microsoft.com/office/drawing/2014/main" id="{40C63F15-84B0-666C-D45C-2F1A334A4B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27000" cy="1244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1image93133312">
            <a:extLst>
              <a:ext uri="{FF2B5EF4-FFF2-40B4-BE49-F238E27FC236}">
                <a16:creationId xmlns:a16="http://schemas.microsoft.com/office/drawing/2014/main" id="{690E7FCD-24CE-AD8A-DBC0-1EC02FC4C2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39700" cy="11557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1image93137056">
            <a:extLst>
              <a:ext uri="{FF2B5EF4-FFF2-40B4-BE49-F238E27FC236}">
                <a16:creationId xmlns:a16="http://schemas.microsoft.com/office/drawing/2014/main" id="{FC2F9E49-9E8E-A907-33D1-3CB683C708F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27000" cy="10541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1image93136224">
            <a:extLst>
              <a:ext uri="{FF2B5EF4-FFF2-40B4-BE49-F238E27FC236}">
                <a16:creationId xmlns:a16="http://schemas.microsoft.com/office/drawing/2014/main" id="{640AE7B0-7873-9B2F-C8D8-899602CA71F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127000" cy="97790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page1image93127072">
            <a:extLst>
              <a:ext uri="{FF2B5EF4-FFF2-40B4-BE49-F238E27FC236}">
                <a16:creationId xmlns:a16="http://schemas.microsoft.com/office/drawing/2014/main" id="{FD5D192D-BF7F-46AF-6D27-C9232877904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14300" cy="889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ge1image93137472">
            <a:extLst>
              <a:ext uri="{FF2B5EF4-FFF2-40B4-BE49-F238E27FC236}">
                <a16:creationId xmlns:a16="http://schemas.microsoft.com/office/drawing/2014/main" id="{D64FEE5D-0038-38AE-AE03-74E1870BB9F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14300" cy="876300"/>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page1image93138720">
            <a:extLst>
              <a:ext uri="{FF2B5EF4-FFF2-40B4-BE49-F238E27FC236}">
                <a16:creationId xmlns:a16="http://schemas.microsoft.com/office/drawing/2014/main" id="{24B52BA5-625A-33B1-AC93-EE9B20C1168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27000" cy="8509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ge1image93130608">
            <a:extLst>
              <a:ext uri="{FF2B5EF4-FFF2-40B4-BE49-F238E27FC236}">
                <a16:creationId xmlns:a16="http://schemas.microsoft.com/office/drawing/2014/main" id="{4B35D781-2B63-F2BA-5833-4B775A85590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14300" cy="85090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age1image93132272">
            <a:extLst>
              <a:ext uri="{FF2B5EF4-FFF2-40B4-BE49-F238E27FC236}">
                <a16:creationId xmlns:a16="http://schemas.microsoft.com/office/drawing/2014/main" id="{29FB9627-E83D-EF01-9C13-C250B4592C8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143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ge1image93139136">
            <a:extLst>
              <a:ext uri="{FF2B5EF4-FFF2-40B4-BE49-F238E27FC236}">
                <a16:creationId xmlns:a16="http://schemas.microsoft.com/office/drawing/2014/main" id="{0BAC05AA-1CFD-0D5D-761C-229363A0583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114300" cy="8255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page1image93137680">
            <a:extLst>
              <a:ext uri="{FF2B5EF4-FFF2-40B4-BE49-F238E27FC236}">
                <a16:creationId xmlns:a16="http://schemas.microsoft.com/office/drawing/2014/main" id="{D22A88DD-9C0F-0E86-C72F-37B631107CB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127000" cy="7493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page1image93132688">
            <a:extLst>
              <a:ext uri="{FF2B5EF4-FFF2-40B4-BE49-F238E27FC236}">
                <a16:creationId xmlns:a16="http://schemas.microsoft.com/office/drawing/2014/main" id="{AB268CE1-FC5B-9B1E-C2CB-84E18AE81B1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127000" cy="7239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page1image93132064">
            <a:extLst>
              <a:ext uri="{FF2B5EF4-FFF2-40B4-BE49-F238E27FC236}">
                <a16:creationId xmlns:a16="http://schemas.microsoft.com/office/drawing/2014/main" id="{3F0DBB2C-10BA-EF40-E19B-777A819F098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101600" cy="647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age1image93134976">
            <a:extLst>
              <a:ext uri="{FF2B5EF4-FFF2-40B4-BE49-F238E27FC236}">
                <a16:creationId xmlns:a16="http://schemas.microsoft.com/office/drawing/2014/main" id="{2B662D0C-3142-52CA-4B55-E6942F67883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0"/>
            <a:ext cx="101600" cy="48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077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a red and blue bar graph&#10;&#10;Description automatically generated">
            <a:extLst>
              <a:ext uri="{FF2B5EF4-FFF2-40B4-BE49-F238E27FC236}">
                <a16:creationId xmlns:a16="http://schemas.microsoft.com/office/drawing/2014/main" id="{6C01BA96-3AA0-C6F9-5B25-3E502B3AB130}"/>
              </a:ext>
            </a:extLst>
          </p:cNvPr>
          <p:cNvPicPr>
            <a:picLocks noChangeAspect="1"/>
          </p:cNvPicPr>
          <p:nvPr/>
        </p:nvPicPr>
        <p:blipFill>
          <a:blip r:embed="rId2"/>
          <a:stretch>
            <a:fillRect/>
          </a:stretch>
        </p:blipFill>
        <p:spPr>
          <a:xfrm>
            <a:off x="4257223" y="3039418"/>
            <a:ext cx="3918857" cy="3480959"/>
          </a:xfrm>
          <a:prstGeom prst="rect">
            <a:avLst/>
          </a:prstGeom>
        </p:spPr>
      </p:pic>
      <p:pic>
        <p:nvPicPr>
          <p:cNvPr id="11" name="Picture 10" descr="A graph with a red and blue bar chart&#10;&#10;Description automatically generated">
            <a:extLst>
              <a:ext uri="{FF2B5EF4-FFF2-40B4-BE49-F238E27FC236}">
                <a16:creationId xmlns:a16="http://schemas.microsoft.com/office/drawing/2014/main" id="{D35C5267-15B4-E954-1715-06444F984B1D}"/>
              </a:ext>
            </a:extLst>
          </p:cNvPr>
          <p:cNvPicPr>
            <a:picLocks noChangeAspect="1"/>
          </p:cNvPicPr>
          <p:nvPr/>
        </p:nvPicPr>
        <p:blipFill>
          <a:blip r:embed="rId3"/>
          <a:stretch>
            <a:fillRect/>
          </a:stretch>
        </p:blipFill>
        <p:spPr>
          <a:xfrm>
            <a:off x="8074480" y="3039417"/>
            <a:ext cx="3918857" cy="3480959"/>
          </a:xfrm>
          <a:prstGeom prst="rect">
            <a:avLst/>
          </a:prstGeom>
        </p:spPr>
      </p:pic>
      <p:pic>
        <p:nvPicPr>
          <p:cNvPr id="13" name="Picture 12" descr="A graph with red and blue squares&#10;&#10;Description automatically generated">
            <a:extLst>
              <a:ext uri="{FF2B5EF4-FFF2-40B4-BE49-F238E27FC236}">
                <a16:creationId xmlns:a16="http://schemas.microsoft.com/office/drawing/2014/main" id="{1D3776DB-D753-DDB3-C960-C91ADE92D3DE}"/>
              </a:ext>
            </a:extLst>
          </p:cNvPr>
          <p:cNvPicPr>
            <a:picLocks noChangeAspect="1"/>
          </p:cNvPicPr>
          <p:nvPr/>
        </p:nvPicPr>
        <p:blipFill>
          <a:blip r:embed="rId4"/>
          <a:stretch>
            <a:fillRect/>
          </a:stretch>
        </p:blipFill>
        <p:spPr>
          <a:xfrm>
            <a:off x="548823" y="3086612"/>
            <a:ext cx="3656692" cy="3259243"/>
          </a:xfrm>
          <a:prstGeom prst="rect">
            <a:avLst/>
          </a:prstGeom>
        </p:spPr>
      </p:pic>
      <p:sp>
        <p:nvSpPr>
          <p:cNvPr id="2" name="Title 1">
            <a:extLst>
              <a:ext uri="{FF2B5EF4-FFF2-40B4-BE49-F238E27FC236}">
                <a16:creationId xmlns:a16="http://schemas.microsoft.com/office/drawing/2014/main" id="{955E91A9-3E6E-2493-6941-ECBDE2BE40D6}"/>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Notch1</a:t>
            </a:r>
          </a:p>
        </p:txBody>
      </p:sp>
    </p:spTree>
    <p:extLst>
      <p:ext uri="{BB962C8B-B14F-4D97-AF65-F5344CB8AC3E}">
        <p14:creationId xmlns:p14="http://schemas.microsoft.com/office/powerpoint/2010/main" val="2409661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a bar graph&#10;&#10;Description automatically generated">
            <a:extLst>
              <a:ext uri="{FF2B5EF4-FFF2-40B4-BE49-F238E27FC236}">
                <a16:creationId xmlns:a16="http://schemas.microsoft.com/office/drawing/2014/main" id="{FAAD627D-E984-531A-8460-6E31D8DD42AA}"/>
              </a:ext>
            </a:extLst>
          </p:cNvPr>
          <p:cNvPicPr>
            <a:picLocks noChangeAspect="1"/>
          </p:cNvPicPr>
          <p:nvPr/>
        </p:nvPicPr>
        <p:blipFill>
          <a:blip r:embed="rId2"/>
          <a:stretch>
            <a:fillRect/>
          </a:stretch>
        </p:blipFill>
        <p:spPr>
          <a:xfrm>
            <a:off x="241774" y="3704893"/>
            <a:ext cx="3388530" cy="3037101"/>
          </a:xfrm>
          <a:prstGeom prst="rect">
            <a:avLst/>
          </a:prstGeom>
        </p:spPr>
      </p:pic>
      <p:pic>
        <p:nvPicPr>
          <p:cNvPr id="6" name="Picture 5" descr="A graph with a bar chart and a group of groups&#10;&#10;Description automatically generated with medium confidence">
            <a:extLst>
              <a:ext uri="{FF2B5EF4-FFF2-40B4-BE49-F238E27FC236}">
                <a16:creationId xmlns:a16="http://schemas.microsoft.com/office/drawing/2014/main" id="{55A261B8-E33B-E832-C9DB-E1B43B20C749}"/>
              </a:ext>
            </a:extLst>
          </p:cNvPr>
          <p:cNvPicPr>
            <a:picLocks noChangeAspect="1"/>
          </p:cNvPicPr>
          <p:nvPr/>
        </p:nvPicPr>
        <p:blipFill>
          <a:blip r:embed="rId3"/>
          <a:stretch>
            <a:fillRect/>
          </a:stretch>
        </p:blipFill>
        <p:spPr>
          <a:xfrm>
            <a:off x="4143375" y="3820899"/>
            <a:ext cx="3676792" cy="3037101"/>
          </a:xfrm>
          <a:prstGeom prst="rect">
            <a:avLst/>
          </a:prstGeom>
        </p:spPr>
      </p:pic>
      <p:pic>
        <p:nvPicPr>
          <p:cNvPr id="8" name="Picture 7" descr="A graph with a bar graph and a blue bar graph&#10;&#10;Description automatically generated">
            <a:extLst>
              <a:ext uri="{FF2B5EF4-FFF2-40B4-BE49-F238E27FC236}">
                <a16:creationId xmlns:a16="http://schemas.microsoft.com/office/drawing/2014/main" id="{14E03C27-22C6-31A8-2DB1-A43059672489}"/>
              </a:ext>
            </a:extLst>
          </p:cNvPr>
          <p:cNvPicPr>
            <a:picLocks noChangeAspect="1"/>
          </p:cNvPicPr>
          <p:nvPr/>
        </p:nvPicPr>
        <p:blipFill>
          <a:blip r:embed="rId4"/>
          <a:stretch>
            <a:fillRect/>
          </a:stretch>
        </p:blipFill>
        <p:spPr>
          <a:xfrm>
            <a:off x="7983940" y="3665396"/>
            <a:ext cx="3676792" cy="3116093"/>
          </a:xfrm>
          <a:prstGeom prst="rect">
            <a:avLst/>
          </a:prstGeom>
        </p:spPr>
      </p:pic>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DNMT1</a:t>
            </a:r>
          </a:p>
        </p:txBody>
      </p:sp>
    </p:spTree>
    <p:extLst>
      <p:ext uri="{BB962C8B-B14F-4D97-AF65-F5344CB8AC3E}">
        <p14:creationId xmlns:p14="http://schemas.microsoft.com/office/powerpoint/2010/main" val="1773200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MCM2</a:t>
            </a:r>
          </a:p>
        </p:txBody>
      </p:sp>
      <p:pic>
        <p:nvPicPr>
          <p:cNvPr id="3" name="Picture 2" descr="A graph with a bar graph and a red and blue bar graph&#10;&#10;Description automatically generated">
            <a:extLst>
              <a:ext uri="{FF2B5EF4-FFF2-40B4-BE49-F238E27FC236}">
                <a16:creationId xmlns:a16="http://schemas.microsoft.com/office/drawing/2014/main" id="{0B090D27-775E-9722-BC06-EBEC99EB65D6}"/>
              </a:ext>
            </a:extLst>
          </p:cNvPr>
          <p:cNvPicPr>
            <a:picLocks noChangeAspect="1"/>
          </p:cNvPicPr>
          <p:nvPr/>
        </p:nvPicPr>
        <p:blipFill>
          <a:blip r:embed="rId2"/>
          <a:stretch>
            <a:fillRect/>
          </a:stretch>
        </p:blipFill>
        <p:spPr>
          <a:xfrm>
            <a:off x="160740" y="3145450"/>
            <a:ext cx="4001827" cy="3712550"/>
          </a:xfrm>
          <a:prstGeom prst="rect">
            <a:avLst/>
          </a:prstGeom>
        </p:spPr>
      </p:pic>
      <p:pic>
        <p:nvPicPr>
          <p:cNvPr id="7" name="Picture 6" descr="A graph with red and blue bars&#10;&#10;Description automatically generated">
            <a:extLst>
              <a:ext uri="{FF2B5EF4-FFF2-40B4-BE49-F238E27FC236}">
                <a16:creationId xmlns:a16="http://schemas.microsoft.com/office/drawing/2014/main" id="{277C338F-6906-BBF9-C4EE-356A3408F6FB}"/>
              </a:ext>
            </a:extLst>
          </p:cNvPr>
          <p:cNvPicPr>
            <a:picLocks noChangeAspect="1"/>
          </p:cNvPicPr>
          <p:nvPr/>
        </p:nvPicPr>
        <p:blipFill>
          <a:blip r:embed="rId3"/>
          <a:stretch>
            <a:fillRect/>
          </a:stretch>
        </p:blipFill>
        <p:spPr>
          <a:xfrm>
            <a:off x="4516273" y="3145449"/>
            <a:ext cx="3990434" cy="3712551"/>
          </a:xfrm>
          <a:prstGeom prst="rect">
            <a:avLst/>
          </a:prstGeom>
        </p:spPr>
      </p:pic>
      <p:pic>
        <p:nvPicPr>
          <p:cNvPr id="11" name="Picture 10" descr="A graph with red and blue lines&#10;&#10;Description automatically generated">
            <a:extLst>
              <a:ext uri="{FF2B5EF4-FFF2-40B4-BE49-F238E27FC236}">
                <a16:creationId xmlns:a16="http://schemas.microsoft.com/office/drawing/2014/main" id="{B2774D32-40A7-02FE-C61E-9B4184876659}"/>
              </a:ext>
            </a:extLst>
          </p:cNvPr>
          <p:cNvPicPr>
            <a:picLocks noChangeAspect="1"/>
          </p:cNvPicPr>
          <p:nvPr/>
        </p:nvPicPr>
        <p:blipFill>
          <a:blip r:embed="rId4"/>
          <a:stretch>
            <a:fillRect/>
          </a:stretch>
        </p:blipFill>
        <p:spPr>
          <a:xfrm>
            <a:off x="8677341" y="3145449"/>
            <a:ext cx="3514659" cy="3712550"/>
          </a:xfrm>
          <a:prstGeom prst="rect">
            <a:avLst/>
          </a:prstGeom>
        </p:spPr>
      </p:pic>
    </p:spTree>
    <p:extLst>
      <p:ext uri="{BB962C8B-B14F-4D97-AF65-F5344CB8AC3E}">
        <p14:creationId xmlns:p14="http://schemas.microsoft.com/office/powerpoint/2010/main" val="3654579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MCM3</a:t>
            </a:r>
          </a:p>
        </p:txBody>
      </p:sp>
      <p:pic>
        <p:nvPicPr>
          <p:cNvPr id="4" name="Picture 3" descr="A graph with a bar graph&#10;&#10;Description automatically generated">
            <a:extLst>
              <a:ext uri="{FF2B5EF4-FFF2-40B4-BE49-F238E27FC236}">
                <a16:creationId xmlns:a16="http://schemas.microsoft.com/office/drawing/2014/main" id="{97F602C6-AD65-4CF5-C24F-AD7F33D95813}"/>
              </a:ext>
            </a:extLst>
          </p:cNvPr>
          <p:cNvPicPr>
            <a:picLocks noChangeAspect="1"/>
          </p:cNvPicPr>
          <p:nvPr/>
        </p:nvPicPr>
        <p:blipFill>
          <a:blip r:embed="rId2"/>
          <a:stretch>
            <a:fillRect/>
          </a:stretch>
        </p:blipFill>
        <p:spPr>
          <a:xfrm>
            <a:off x="147093" y="2944931"/>
            <a:ext cx="3860800" cy="3547944"/>
          </a:xfrm>
          <a:prstGeom prst="rect">
            <a:avLst/>
          </a:prstGeom>
        </p:spPr>
      </p:pic>
      <p:pic>
        <p:nvPicPr>
          <p:cNvPr id="6" name="Picture 5" descr="A graph with a bar graph and a bar chart&#10;&#10;Description automatically generated">
            <a:extLst>
              <a:ext uri="{FF2B5EF4-FFF2-40B4-BE49-F238E27FC236}">
                <a16:creationId xmlns:a16="http://schemas.microsoft.com/office/drawing/2014/main" id="{5680E686-C935-020F-1384-623D4E80C7EB}"/>
              </a:ext>
            </a:extLst>
          </p:cNvPr>
          <p:cNvPicPr>
            <a:picLocks noChangeAspect="1"/>
          </p:cNvPicPr>
          <p:nvPr/>
        </p:nvPicPr>
        <p:blipFill>
          <a:blip r:embed="rId3"/>
          <a:stretch>
            <a:fillRect/>
          </a:stretch>
        </p:blipFill>
        <p:spPr>
          <a:xfrm>
            <a:off x="4420667" y="3071647"/>
            <a:ext cx="3735341" cy="3342753"/>
          </a:xfrm>
          <a:prstGeom prst="rect">
            <a:avLst/>
          </a:prstGeom>
        </p:spPr>
      </p:pic>
      <p:pic>
        <p:nvPicPr>
          <p:cNvPr id="10" name="Picture 9" descr="A graph with black lines&#10;&#10;Description automatically generated">
            <a:extLst>
              <a:ext uri="{FF2B5EF4-FFF2-40B4-BE49-F238E27FC236}">
                <a16:creationId xmlns:a16="http://schemas.microsoft.com/office/drawing/2014/main" id="{D73C9EF4-FDD4-9278-8755-9D37F3174DC3}"/>
              </a:ext>
            </a:extLst>
          </p:cNvPr>
          <p:cNvPicPr>
            <a:picLocks noChangeAspect="1"/>
          </p:cNvPicPr>
          <p:nvPr/>
        </p:nvPicPr>
        <p:blipFill>
          <a:blip r:embed="rId4"/>
          <a:stretch>
            <a:fillRect/>
          </a:stretch>
        </p:blipFill>
        <p:spPr>
          <a:xfrm>
            <a:off x="8439624" y="3071647"/>
            <a:ext cx="3497610" cy="3346688"/>
          </a:xfrm>
          <a:prstGeom prst="rect">
            <a:avLst/>
          </a:prstGeom>
        </p:spPr>
      </p:pic>
    </p:spTree>
    <p:extLst>
      <p:ext uri="{BB962C8B-B14F-4D97-AF65-F5344CB8AC3E}">
        <p14:creationId xmlns:p14="http://schemas.microsoft.com/office/powerpoint/2010/main" val="664376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MCM4</a:t>
            </a:r>
          </a:p>
        </p:txBody>
      </p:sp>
      <p:pic>
        <p:nvPicPr>
          <p:cNvPr id="3" name="Picture 2" descr="A graph with a bar graph&#10;&#10;Description automatically generated">
            <a:extLst>
              <a:ext uri="{FF2B5EF4-FFF2-40B4-BE49-F238E27FC236}">
                <a16:creationId xmlns:a16="http://schemas.microsoft.com/office/drawing/2014/main" id="{F1179D37-F7D2-31F6-A363-B94D8558C918}"/>
              </a:ext>
            </a:extLst>
          </p:cNvPr>
          <p:cNvPicPr>
            <a:picLocks noChangeAspect="1"/>
          </p:cNvPicPr>
          <p:nvPr/>
        </p:nvPicPr>
        <p:blipFill>
          <a:blip r:embed="rId2"/>
          <a:stretch>
            <a:fillRect/>
          </a:stretch>
        </p:blipFill>
        <p:spPr>
          <a:xfrm>
            <a:off x="171829" y="2948865"/>
            <a:ext cx="3745078" cy="3697596"/>
          </a:xfrm>
          <a:prstGeom prst="rect">
            <a:avLst/>
          </a:prstGeom>
        </p:spPr>
      </p:pic>
      <p:pic>
        <p:nvPicPr>
          <p:cNvPr id="7" name="Picture 6" descr="A graph with a bar graph&#10;&#10;Description automatically generated">
            <a:extLst>
              <a:ext uri="{FF2B5EF4-FFF2-40B4-BE49-F238E27FC236}">
                <a16:creationId xmlns:a16="http://schemas.microsoft.com/office/drawing/2014/main" id="{AE82C143-8A8E-E164-1939-4BDC3C817836}"/>
              </a:ext>
            </a:extLst>
          </p:cNvPr>
          <p:cNvPicPr>
            <a:picLocks noChangeAspect="1"/>
          </p:cNvPicPr>
          <p:nvPr/>
        </p:nvPicPr>
        <p:blipFill>
          <a:blip r:embed="rId3"/>
          <a:stretch>
            <a:fillRect/>
          </a:stretch>
        </p:blipFill>
        <p:spPr>
          <a:xfrm>
            <a:off x="4185979" y="2948865"/>
            <a:ext cx="4089116" cy="3734411"/>
          </a:xfrm>
          <a:prstGeom prst="rect">
            <a:avLst/>
          </a:prstGeom>
        </p:spPr>
      </p:pic>
      <p:pic>
        <p:nvPicPr>
          <p:cNvPr id="11" name="Picture 10" descr="A graph with a bar graph&#10;&#10;Description automatically generated">
            <a:extLst>
              <a:ext uri="{FF2B5EF4-FFF2-40B4-BE49-F238E27FC236}">
                <a16:creationId xmlns:a16="http://schemas.microsoft.com/office/drawing/2014/main" id="{7A77099D-E358-B1E8-F4A2-5B2D9CB5141F}"/>
              </a:ext>
            </a:extLst>
          </p:cNvPr>
          <p:cNvPicPr>
            <a:picLocks noChangeAspect="1"/>
          </p:cNvPicPr>
          <p:nvPr/>
        </p:nvPicPr>
        <p:blipFill>
          <a:blip r:embed="rId4"/>
          <a:stretch>
            <a:fillRect/>
          </a:stretch>
        </p:blipFill>
        <p:spPr>
          <a:xfrm>
            <a:off x="8304020" y="2844326"/>
            <a:ext cx="3887980" cy="3943487"/>
          </a:xfrm>
          <a:prstGeom prst="rect">
            <a:avLst/>
          </a:prstGeom>
        </p:spPr>
      </p:pic>
    </p:spTree>
    <p:extLst>
      <p:ext uri="{BB962C8B-B14F-4D97-AF65-F5344CB8AC3E}">
        <p14:creationId xmlns:p14="http://schemas.microsoft.com/office/powerpoint/2010/main" val="1104604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MCM5</a:t>
            </a:r>
          </a:p>
        </p:txBody>
      </p:sp>
      <p:pic>
        <p:nvPicPr>
          <p:cNvPr id="4" name="Picture 3" descr="A graph with red and blue lines&#10;&#10;Description automatically generated">
            <a:extLst>
              <a:ext uri="{FF2B5EF4-FFF2-40B4-BE49-F238E27FC236}">
                <a16:creationId xmlns:a16="http://schemas.microsoft.com/office/drawing/2014/main" id="{46264699-775F-9BB0-1A53-62B087801F8C}"/>
              </a:ext>
            </a:extLst>
          </p:cNvPr>
          <p:cNvPicPr>
            <a:picLocks noChangeAspect="1"/>
          </p:cNvPicPr>
          <p:nvPr/>
        </p:nvPicPr>
        <p:blipFill>
          <a:blip r:embed="rId2"/>
          <a:stretch>
            <a:fillRect/>
          </a:stretch>
        </p:blipFill>
        <p:spPr>
          <a:xfrm>
            <a:off x="331811" y="2928135"/>
            <a:ext cx="3557801" cy="3564740"/>
          </a:xfrm>
          <a:prstGeom prst="rect">
            <a:avLst/>
          </a:prstGeom>
        </p:spPr>
      </p:pic>
      <p:pic>
        <p:nvPicPr>
          <p:cNvPr id="6" name="Picture 5" descr="A graph with red and blue bars&#10;&#10;Description automatically generated">
            <a:extLst>
              <a:ext uri="{FF2B5EF4-FFF2-40B4-BE49-F238E27FC236}">
                <a16:creationId xmlns:a16="http://schemas.microsoft.com/office/drawing/2014/main" id="{B8409BDF-6107-41F0-3401-75B27B5FCA71}"/>
              </a:ext>
            </a:extLst>
          </p:cNvPr>
          <p:cNvPicPr>
            <a:picLocks noChangeAspect="1"/>
          </p:cNvPicPr>
          <p:nvPr/>
        </p:nvPicPr>
        <p:blipFill>
          <a:blip r:embed="rId3"/>
          <a:stretch>
            <a:fillRect/>
          </a:stretch>
        </p:blipFill>
        <p:spPr>
          <a:xfrm>
            <a:off x="4161572" y="3004508"/>
            <a:ext cx="3868856" cy="3853492"/>
          </a:xfrm>
          <a:prstGeom prst="rect">
            <a:avLst/>
          </a:prstGeom>
        </p:spPr>
      </p:pic>
      <p:pic>
        <p:nvPicPr>
          <p:cNvPr id="10" name="Picture 9" descr="A graph with a bar graph&#10;&#10;Description automatically generated">
            <a:extLst>
              <a:ext uri="{FF2B5EF4-FFF2-40B4-BE49-F238E27FC236}">
                <a16:creationId xmlns:a16="http://schemas.microsoft.com/office/drawing/2014/main" id="{53BB5D36-1CDB-846A-C827-96BA0D214D20}"/>
              </a:ext>
            </a:extLst>
          </p:cNvPr>
          <p:cNvPicPr>
            <a:picLocks noChangeAspect="1"/>
          </p:cNvPicPr>
          <p:nvPr/>
        </p:nvPicPr>
        <p:blipFill>
          <a:blip r:embed="rId4"/>
          <a:stretch>
            <a:fillRect/>
          </a:stretch>
        </p:blipFill>
        <p:spPr>
          <a:xfrm>
            <a:off x="8664243" y="3109888"/>
            <a:ext cx="3414025" cy="3581590"/>
          </a:xfrm>
          <a:prstGeom prst="rect">
            <a:avLst/>
          </a:prstGeom>
        </p:spPr>
      </p:pic>
    </p:spTree>
    <p:extLst>
      <p:ext uri="{BB962C8B-B14F-4D97-AF65-F5344CB8AC3E}">
        <p14:creationId xmlns:p14="http://schemas.microsoft.com/office/powerpoint/2010/main" val="1266631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MCM6</a:t>
            </a:r>
          </a:p>
        </p:txBody>
      </p:sp>
      <p:pic>
        <p:nvPicPr>
          <p:cNvPr id="3" name="Picture 2" descr="A graph with a red and blue bar graph&#10;&#10;Description automatically generated">
            <a:extLst>
              <a:ext uri="{FF2B5EF4-FFF2-40B4-BE49-F238E27FC236}">
                <a16:creationId xmlns:a16="http://schemas.microsoft.com/office/drawing/2014/main" id="{A5284F84-A8A8-F7D6-405E-2AFAF9563B34}"/>
              </a:ext>
            </a:extLst>
          </p:cNvPr>
          <p:cNvPicPr>
            <a:picLocks noChangeAspect="1"/>
          </p:cNvPicPr>
          <p:nvPr/>
        </p:nvPicPr>
        <p:blipFill>
          <a:blip r:embed="rId2"/>
          <a:stretch>
            <a:fillRect/>
          </a:stretch>
        </p:blipFill>
        <p:spPr>
          <a:xfrm>
            <a:off x="189931" y="2647665"/>
            <a:ext cx="4054522" cy="3962779"/>
          </a:xfrm>
          <a:prstGeom prst="rect">
            <a:avLst/>
          </a:prstGeom>
        </p:spPr>
      </p:pic>
      <p:pic>
        <p:nvPicPr>
          <p:cNvPr id="7" name="Picture 6" descr="A graph with a red and blue line&#10;&#10;Description automatically generated">
            <a:extLst>
              <a:ext uri="{FF2B5EF4-FFF2-40B4-BE49-F238E27FC236}">
                <a16:creationId xmlns:a16="http://schemas.microsoft.com/office/drawing/2014/main" id="{D70304AE-85FF-CBDF-199C-3A344DFE1BBC}"/>
              </a:ext>
            </a:extLst>
          </p:cNvPr>
          <p:cNvPicPr>
            <a:picLocks noChangeAspect="1"/>
          </p:cNvPicPr>
          <p:nvPr/>
        </p:nvPicPr>
        <p:blipFill>
          <a:blip r:embed="rId3"/>
          <a:stretch>
            <a:fillRect/>
          </a:stretch>
        </p:blipFill>
        <p:spPr>
          <a:xfrm>
            <a:off x="4244453" y="2862379"/>
            <a:ext cx="3768870" cy="3533349"/>
          </a:xfrm>
          <a:prstGeom prst="rect">
            <a:avLst/>
          </a:prstGeom>
        </p:spPr>
      </p:pic>
      <p:pic>
        <p:nvPicPr>
          <p:cNvPr id="11" name="Picture 10" descr="A graph with a bar graph and a group of people&#10;&#10;Description automatically generated">
            <a:extLst>
              <a:ext uri="{FF2B5EF4-FFF2-40B4-BE49-F238E27FC236}">
                <a16:creationId xmlns:a16="http://schemas.microsoft.com/office/drawing/2014/main" id="{46A24935-9FA0-DE00-5C31-D1D9E0BC015B}"/>
              </a:ext>
            </a:extLst>
          </p:cNvPr>
          <p:cNvPicPr>
            <a:picLocks noChangeAspect="1"/>
          </p:cNvPicPr>
          <p:nvPr/>
        </p:nvPicPr>
        <p:blipFill>
          <a:blip r:embed="rId4"/>
          <a:stretch>
            <a:fillRect/>
          </a:stretch>
        </p:blipFill>
        <p:spPr>
          <a:xfrm>
            <a:off x="8154066" y="2801673"/>
            <a:ext cx="4037934" cy="4056327"/>
          </a:xfrm>
          <a:prstGeom prst="rect">
            <a:avLst/>
          </a:prstGeom>
        </p:spPr>
      </p:pic>
    </p:spTree>
    <p:extLst>
      <p:ext uri="{BB962C8B-B14F-4D97-AF65-F5344CB8AC3E}">
        <p14:creationId xmlns:p14="http://schemas.microsoft.com/office/powerpoint/2010/main" val="12427962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DA601E8-907C-DB33-04FA-45338E0A8C63}"/>
              </a:ext>
            </a:extLst>
          </p:cNvPr>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MCM7</a:t>
            </a:r>
          </a:p>
        </p:txBody>
      </p:sp>
      <p:pic>
        <p:nvPicPr>
          <p:cNvPr id="4" name="Picture 3" descr="A graph with a bar chart&#10;&#10;Description automatically generated">
            <a:extLst>
              <a:ext uri="{FF2B5EF4-FFF2-40B4-BE49-F238E27FC236}">
                <a16:creationId xmlns:a16="http://schemas.microsoft.com/office/drawing/2014/main" id="{369C9F4D-F436-0E0D-5129-B77EF479AC9A}"/>
              </a:ext>
            </a:extLst>
          </p:cNvPr>
          <p:cNvPicPr>
            <a:picLocks noChangeAspect="1"/>
          </p:cNvPicPr>
          <p:nvPr/>
        </p:nvPicPr>
        <p:blipFill rotWithShape="1">
          <a:blip r:embed="rId2"/>
          <a:srcRect b="967"/>
          <a:stretch/>
        </p:blipFill>
        <p:spPr>
          <a:xfrm>
            <a:off x="215331" y="3176422"/>
            <a:ext cx="3860800" cy="3497334"/>
          </a:xfrm>
          <a:prstGeom prst="rect">
            <a:avLst/>
          </a:prstGeom>
        </p:spPr>
      </p:pic>
      <p:pic>
        <p:nvPicPr>
          <p:cNvPr id="6" name="Picture 5" descr="A graph with red and blue bars&#10;&#10;Description automatically generated">
            <a:extLst>
              <a:ext uri="{FF2B5EF4-FFF2-40B4-BE49-F238E27FC236}">
                <a16:creationId xmlns:a16="http://schemas.microsoft.com/office/drawing/2014/main" id="{D3D076EE-2A77-0F0D-CA84-2B077D0A6C86}"/>
              </a:ext>
            </a:extLst>
          </p:cNvPr>
          <p:cNvPicPr>
            <a:picLocks noChangeAspect="1"/>
          </p:cNvPicPr>
          <p:nvPr/>
        </p:nvPicPr>
        <p:blipFill>
          <a:blip r:embed="rId3"/>
          <a:stretch>
            <a:fillRect/>
          </a:stretch>
        </p:blipFill>
        <p:spPr>
          <a:xfrm>
            <a:off x="4290752" y="3176421"/>
            <a:ext cx="3610496" cy="3681579"/>
          </a:xfrm>
          <a:prstGeom prst="rect">
            <a:avLst/>
          </a:prstGeom>
        </p:spPr>
      </p:pic>
      <p:pic>
        <p:nvPicPr>
          <p:cNvPr id="10" name="Picture 9" descr="A graph with a bar graph&#10;&#10;Description automatically generated">
            <a:extLst>
              <a:ext uri="{FF2B5EF4-FFF2-40B4-BE49-F238E27FC236}">
                <a16:creationId xmlns:a16="http://schemas.microsoft.com/office/drawing/2014/main" id="{0508A77E-FBA1-F831-026D-18A301C2A682}"/>
              </a:ext>
            </a:extLst>
          </p:cNvPr>
          <p:cNvPicPr>
            <a:picLocks noChangeAspect="1"/>
          </p:cNvPicPr>
          <p:nvPr/>
        </p:nvPicPr>
        <p:blipFill rotWithShape="1">
          <a:blip r:embed="rId4"/>
          <a:srcRect b="2705"/>
          <a:stretch/>
        </p:blipFill>
        <p:spPr>
          <a:xfrm>
            <a:off x="8255000" y="3176421"/>
            <a:ext cx="3937000" cy="3681579"/>
          </a:xfrm>
          <a:prstGeom prst="rect">
            <a:avLst/>
          </a:prstGeom>
        </p:spPr>
      </p:pic>
    </p:spTree>
    <p:extLst>
      <p:ext uri="{BB962C8B-B14F-4D97-AF65-F5344CB8AC3E}">
        <p14:creationId xmlns:p14="http://schemas.microsoft.com/office/powerpoint/2010/main" val="3608186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0352-BF4B-2650-5FCE-CE5062B366D1}"/>
              </a:ext>
            </a:extLst>
          </p:cNvPr>
          <p:cNvSpPr>
            <a:spLocks noGrp="1"/>
          </p:cNvSpPr>
          <p:nvPr>
            <p:ph type="title"/>
          </p:nvPr>
        </p:nvSpPr>
        <p:spPr/>
        <p:txBody>
          <a:bodyPr/>
          <a:lstStyle/>
          <a:p>
            <a:pPr algn="ctr"/>
            <a:r>
              <a:rPr lang="en-US" dirty="0"/>
              <a:t>ICAM-1</a:t>
            </a:r>
          </a:p>
        </p:txBody>
      </p:sp>
      <p:pic>
        <p:nvPicPr>
          <p:cNvPr id="5" name="Content Placeholder 4" descr="A graph with red and black lines&#10;&#10;Description automatically generated">
            <a:extLst>
              <a:ext uri="{FF2B5EF4-FFF2-40B4-BE49-F238E27FC236}">
                <a16:creationId xmlns:a16="http://schemas.microsoft.com/office/drawing/2014/main" id="{1CCAC7A9-42CC-C2DE-ED76-14C926F3A5A8}"/>
              </a:ext>
            </a:extLst>
          </p:cNvPr>
          <p:cNvPicPr>
            <a:picLocks noGrp="1" noChangeAspect="1"/>
          </p:cNvPicPr>
          <p:nvPr>
            <p:ph idx="1"/>
          </p:nvPr>
        </p:nvPicPr>
        <p:blipFill>
          <a:blip r:embed="rId3"/>
          <a:stretch>
            <a:fillRect/>
          </a:stretch>
        </p:blipFill>
        <p:spPr>
          <a:xfrm>
            <a:off x="431058" y="3049123"/>
            <a:ext cx="3439483" cy="3056996"/>
          </a:xfrm>
        </p:spPr>
      </p:pic>
      <p:pic>
        <p:nvPicPr>
          <p:cNvPr id="7" name="Picture 6" descr="A graph of a patient&#10;&#10;Description automatically generated">
            <a:extLst>
              <a:ext uri="{FF2B5EF4-FFF2-40B4-BE49-F238E27FC236}">
                <a16:creationId xmlns:a16="http://schemas.microsoft.com/office/drawing/2014/main" id="{3FA12FC9-94A0-A51D-3645-CC3E12FA9AD0}"/>
              </a:ext>
            </a:extLst>
          </p:cNvPr>
          <p:cNvPicPr>
            <a:picLocks noChangeAspect="1"/>
          </p:cNvPicPr>
          <p:nvPr/>
        </p:nvPicPr>
        <p:blipFill>
          <a:blip r:embed="rId4"/>
          <a:stretch>
            <a:fillRect/>
          </a:stretch>
        </p:blipFill>
        <p:spPr>
          <a:xfrm>
            <a:off x="4034497" y="2761748"/>
            <a:ext cx="3848100" cy="3344371"/>
          </a:xfrm>
          <a:prstGeom prst="rect">
            <a:avLst/>
          </a:prstGeom>
        </p:spPr>
      </p:pic>
      <p:pic>
        <p:nvPicPr>
          <p:cNvPr id="9" name="Picture 8" descr="A graph with a red line&#10;&#10;Description automatically generated">
            <a:extLst>
              <a:ext uri="{FF2B5EF4-FFF2-40B4-BE49-F238E27FC236}">
                <a16:creationId xmlns:a16="http://schemas.microsoft.com/office/drawing/2014/main" id="{672CE0D1-5DBB-4DE2-9A58-3A171CC3DDF4}"/>
              </a:ext>
            </a:extLst>
          </p:cNvPr>
          <p:cNvPicPr>
            <a:picLocks noChangeAspect="1"/>
          </p:cNvPicPr>
          <p:nvPr/>
        </p:nvPicPr>
        <p:blipFill>
          <a:blip r:embed="rId5"/>
          <a:stretch>
            <a:fillRect/>
          </a:stretch>
        </p:blipFill>
        <p:spPr>
          <a:xfrm>
            <a:off x="8165709" y="2556463"/>
            <a:ext cx="4026291" cy="3936412"/>
          </a:xfrm>
          <a:prstGeom prst="rect">
            <a:avLst/>
          </a:prstGeom>
        </p:spPr>
      </p:pic>
    </p:spTree>
    <p:extLst>
      <p:ext uri="{BB962C8B-B14F-4D97-AF65-F5344CB8AC3E}">
        <p14:creationId xmlns:p14="http://schemas.microsoft.com/office/powerpoint/2010/main" val="1642825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0352-BF4B-2650-5FCE-CE5062B366D1}"/>
              </a:ext>
            </a:extLst>
          </p:cNvPr>
          <p:cNvSpPr>
            <a:spLocks noGrp="1"/>
          </p:cNvSpPr>
          <p:nvPr>
            <p:ph type="title"/>
          </p:nvPr>
        </p:nvSpPr>
        <p:spPr/>
        <p:txBody>
          <a:bodyPr/>
          <a:lstStyle/>
          <a:p>
            <a:pPr algn="ctr"/>
            <a:r>
              <a:rPr lang="en-US" dirty="0"/>
              <a:t>BRAF</a:t>
            </a:r>
          </a:p>
        </p:txBody>
      </p:sp>
      <p:pic>
        <p:nvPicPr>
          <p:cNvPr id="8" name="Picture 7" descr="A graph with a blue and red bar chart&#10;&#10;Description automatically generated">
            <a:extLst>
              <a:ext uri="{FF2B5EF4-FFF2-40B4-BE49-F238E27FC236}">
                <a16:creationId xmlns:a16="http://schemas.microsoft.com/office/drawing/2014/main" id="{2F9CDA7D-F3F8-48CA-A4A6-BEF240B4CD6B}"/>
              </a:ext>
            </a:extLst>
          </p:cNvPr>
          <p:cNvPicPr>
            <a:picLocks noChangeAspect="1"/>
          </p:cNvPicPr>
          <p:nvPr/>
        </p:nvPicPr>
        <p:blipFill>
          <a:blip r:embed="rId3"/>
          <a:stretch>
            <a:fillRect/>
          </a:stretch>
        </p:blipFill>
        <p:spPr>
          <a:xfrm>
            <a:off x="8212833" y="3061699"/>
            <a:ext cx="3979167" cy="3225800"/>
          </a:xfrm>
          <a:prstGeom prst="rect">
            <a:avLst/>
          </a:prstGeom>
        </p:spPr>
      </p:pic>
      <p:pic>
        <p:nvPicPr>
          <p:cNvPr id="11" name="Picture 10" descr="A graph with a red line&#10;&#10;Description automatically generated">
            <a:extLst>
              <a:ext uri="{FF2B5EF4-FFF2-40B4-BE49-F238E27FC236}">
                <a16:creationId xmlns:a16="http://schemas.microsoft.com/office/drawing/2014/main" id="{B5849339-D6BA-A72A-7859-5790E03D5C31}"/>
              </a:ext>
            </a:extLst>
          </p:cNvPr>
          <p:cNvPicPr>
            <a:picLocks noChangeAspect="1"/>
          </p:cNvPicPr>
          <p:nvPr/>
        </p:nvPicPr>
        <p:blipFill>
          <a:blip r:embed="rId4"/>
          <a:stretch>
            <a:fillRect/>
          </a:stretch>
        </p:blipFill>
        <p:spPr>
          <a:xfrm>
            <a:off x="4639460" y="3429000"/>
            <a:ext cx="3358793" cy="2806812"/>
          </a:xfrm>
          <a:prstGeom prst="rect">
            <a:avLst/>
          </a:prstGeom>
        </p:spPr>
      </p:pic>
      <p:pic>
        <p:nvPicPr>
          <p:cNvPr id="13" name="Picture 12" descr="A graph with a bar graph&#10;&#10;Description automatically generated">
            <a:extLst>
              <a:ext uri="{FF2B5EF4-FFF2-40B4-BE49-F238E27FC236}">
                <a16:creationId xmlns:a16="http://schemas.microsoft.com/office/drawing/2014/main" id="{FF6E59B4-4CE3-52D0-7A2A-3EB37BBB4D87}"/>
              </a:ext>
            </a:extLst>
          </p:cNvPr>
          <p:cNvPicPr>
            <a:picLocks noChangeAspect="1"/>
          </p:cNvPicPr>
          <p:nvPr/>
        </p:nvPicPr>
        <p:blipFill>
          <a:blip r:embed="rId5"/>
          <a:stretch>
            <a:fillRect/>
          </a:stretch>
        </p:blipFill>
        <p:spPr>
          <a:xfrm>
            <a:off x="375935" y="2350413"/>
            <a:ext cx="4165386" cy="3937086"/>
          </a:xfrm>
          <a:prstGeom prst="rect">
            <a:avLst/>
          </a:prstGeom>
        </p:spPr>
      </p:pic>
    </p:spTree>
    <p:extLst>
      <p:ext uri="{BB962C8B-B14F-4D97-AF65-F5344CB8AC3E}">
        <p14:creationId xmlns:p14="http://schemas.microsoft.com/office/powerpoint/2010/main" val="403816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8CE4-76FB-6058-45A0-DD3B6264E328}"/>
              </a:ext>
            </a:extLst>
          </p:cNvPr>
          <p:cNvSpPr>
            <a:spLocks noGrp="1"/>
          </p:cNvSpPr>
          <p:nvPr>
            <p:ph type="title"/>
          </p:nvPr>
        </p:nvSpPr>
        <p:spPr/>
        <p:txBody>
          <a:bodyPr/>
          <a:lstStyle/>
          <a:p>
            <a:pPr algn="ctr"/>
            <a:r>
              <a:rPr lang="en-US" dirty="0"/>
              <a:t>MYBL2</a:t>
            </a:r>
          </a:p>
        </p:txBody>
      </p:sp>
      <p:pic>
        <p:nvPicPr>
          <p:cNvPr id="4" name="Picture 3">
            <a:extLst>
              <a:ext uri="{FF2B5EF4-FFF2-40B4-BE49-F238E27FC236}">
                <a16:creationId xmlns:a16="http://schemas.microsoft.com/office/drawing/2014/main" id="{BC816B7E-1858-E9FE-F56F-2CD36C94E84F}"/>
              </a:ext>
            </a:extLst>
          </p:cNvPr>
          <p:cNvPicPr>
            <a:picLocks noChangeAspect="1"/>
          </p:cNvPicPr>
          <p:nvPr/>
        </p:nvPicPr>
        <p:blipFill>
          <a:blip r:embed="rId2"/>
          <a:stretch>
            <a:fillRect/>
          </a:stretch>
        </p:blipFill>
        <p:spPr>
          <a:xfrm>
            <a:off x="8383926" y="2408545"/>
            <a:ext cx="3515332" cy="3934609"/>
          </a:xfrm>
          <a:prstGeom prst="rect">
            <a:avLst/>
          </a:prstGeom>
        </p:spPr>
      </p:pic>
      <p:pic>
        <p:nvPicPr>
          <p:cNvPr id="8" name="Picture 7" descr="A graph with a red bar&#10;&#10;Description automatically generated">
            <a:extLst>
              <a:ext uri="{FF2B5EF4-FFF2-40B4-BE49-F238E27FC236}">
                <a16:creationId xmlns:a16="http://schemas.microsoft.com/office/drawing/2014/main" id="{A1F7AFDB-9714-73B4-4AC2-A8395E2C6C82}"/>
              </a:ext>
            </a:extLst>
          </p:cNvPr>
          <p:cNvPicPr>
            <a:picLocks noChangeAspect="1"/>
          </p:cNvPicPr>
          <p:nvPr/>
        </p:nvPicPr>
        <p:blipFill>
          <a:blip r:embed="rId3"/>
          <a:stretch>
            <a:fillRect/>
          </a:stretch>
        </p:blipFill>
        <p:spPr>
          <a:xfrm>
            <a:off x="144694" y="2558266"/>
            <a:ext cx="3214955" cy="3784888"/>
          </a:xfrm>
          <a:prstGeom prst="rect">
            <a:avLst/>
          </a:prstGeom>
        </p:spPr>
      </p:pic>
      <p:pic>
        <p:nvPicPr>
          <p:cNvPr id="10" name="Picture 9" descr="A graph with a red and blue bar graph&#10;&#10;Description automatically generated">
            <a:extLst>
              <a:ext uri="{FF2B5EF4-FFF2-40B4-BE49-F238E27FC236}">
                <a16:creationId xmlns:a16="http://schemas.microsoft.com/office/drawing/2014/main" id="{4E48D033-641B-6447-E688-A5A305B9F013}"/>
              </a:ext>
            </a:extLst>
          </p:cNvPr>
          <p:cNvPicPr>
            <a:picLocks noChangeAspect="1"/>
          </p:cNvPicPr>
          <p:nvPr/>
        </p:nvPicPr>
        <p:blipFill>
          <a:blip r:embed="rId4"/>
          <a:stretch>
            <a:fillRect/>
          </a:stretch>
        </p:blipFill>
        <p:spPr>
          <a:xfrm>
            <a:off x="3822199" y="2743201"/>
            <a:ext cx="4099177" cy="3450232"/>
          </a:xfrm>
          <a:prstGeom prst="rect">
            <a:avLst/>
          </a:prstGeom>
        </p:spPr>
      </p:pic>
    </p:spTree>
    <p:extLst>
      <p:ext uri="{BB962C8B-B14F-4D97-AF65-F5344CB8AC3E}">
        <p14:creationId xmlns:p14="http://schemas.microsoft.com/office/powerpoint/2010/main" val="965219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2315</TotalTime>
  <Words>2104</Words>
  <Application>Microsoft Macintosh PowerPoint</Application>
  <PresentationFormat>Widescreen</PresentationFormat>
  <Paragraphs>242</Paragraphs>
  <Slides>46</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RNASeq plots</vt:lpstr>
      <vt:lpstr>PowerPoint Presentation</vt:lpstr>
      <vt:lpstr>PowerPoint Presentation</vt:lpstr>
      <vt:lpstr>PowerPoint Presentation</vt:lpstr>
      <vt:lpstr>PowerPoint Presentation</vt:lpstr>
      <vt:lpstr>PowerPoint Presentation</vt:lpstr>
      <vt:lpstr>PowerPoint Presentation</vt:lpstr>
      <vt:lpstr>RNA Seq</vt:lpstr>
      <vt:lpstr>PowerPoint Presentation</vt:lpstr>
      <vt:lpstr>PowerPoint Presentation</vt:lpstr>
      <vt:lpstr>RNA Seq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RNA Seq</vt:lpstr>
      <vt:lpstr>PowerPoint Presentation</vt:lpstr>
      <vt:lpstr>RNA Seq</vt:lpstr>
      <vt:lpstr>RNA Seq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ICAM-1</vt:lpstr>
      <vt:lpstr>BRAF</vt:lpstr>
      <vt:lpstr>MYBL2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RNASeq plots</dc:title>
  <dc:creator>Microsoft Office User</dc:creator>
  <cp:lastModifiedBy>Hassan, Ola</cp:lastModifiedBy>
  <cp:revision>9</cp:revision>
  <dcterms:created xsi:type="dcterms:W3CDTF">2023-08-23T22:11:14Z</dcterms:created>
  <dcterms:modified xsi:type="dcterms:W3CDTF">2024-03-11T14:18:09Z</dcterms:modified>
</cp:coreProperties>
</file>